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3_76AEBB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2B_449348F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1" r:id="rId1"/>
  </p:sldMasterIdLst>
  <p:notesMasterIdLst>
    <p:notesMasterId r:id="rId18"/>
  </p:notesMasterIdLst>
  <p:sldIdLst>
    <p:sldId id="273" r:id="rId2"/>
    <p:sldId id="275" r:id="rId3"/>
    <p:sldId id="276" r:id="rId4"/>
    <p:sldId id="285" r:id="rId5"/>
    <p:sldId id="280" r:id="rId6"/>
    <p:sldId id="291" r:id="rId7"/>
    <p:sldId id="298" r:id="rId8"/>
    <p:sldId id="300" r:id="rId9"/>
    <p:sldId id="299" r:id="rId10"/>
    <p:sldId id="297" r:id="rId11"/>
    <p:sldId id="277" r:id="rId12"/>
    <p:sldId id="296" r:id="rId13"/>
    <p:sldId id="281" r:id="rId14"/>
    <p:sldId id="292" r:id="rId15"/>
    <p:sldId id="293" r:id="rId16"/>
    <p:sldId id="28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pos="415" userDrawn="1">
          <p15:clr>
            <a:srgbClr val="A4A3A4"/>
          </p15:clr>
        </p15:guide>
        <p15:guide id="4" pos="7242" userDrawn="1">
          <p15:clr>
            <a:srgbClr val="A4A3A4"/>
          </p15:clr>
        </p15:guide>
        <p15:guide id="5" orient="horz" pos="300" userDrawn="1">
          <p15:clr>
            <a:srgbClr val="A4A3A4"/>
          </p15:clr>
        </p15:guide>
        <p15:guide id="6" orient="horz" pos="4020" userDrawn="1">
          <p15:clr>
            <a:srgbClr val="A4A3A4"/>
          </p15:clr>
        </p15:guide>
        <p15:guide id="7" pos="6040" userDrawn="1">
          <p15:clr>
            <a:srgbClr val="A4A3A4"/>
          </p15:clr>
        </p15:guide>
        <p15:guide id="8" pos="2139"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83F045-0949-AA52-7D5E-B25D10179B76}" name="来宾用户" initials="来宾" userId="来宾用户"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B29"/>
    <a:srgbClr val="DBAC46"/>
    <a:srgbClr val="FFB718"/>
    <a:srgbClr val="767171"/>
    <a:srgbClr val="1A75CF"/>
    <a:srgbClr val="1D80E3"/>
    <a:srgbClr val="DDB461"/>
    <a:srgbClr val="EAD09D"/>
    <a:srgbClr val="ECF5F5"/>
    <a:srgbClr val="FA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10DA2F-1B27-1DF1-76D1-EED9276BA257}" v="1092" dt="2024-12-04T23:48:03.141"/>
    <p1510:client id="{182124C7-2245-06D0-8FDE-18DB4926A70B}" v="621" dt="2024-12-04T21:05:02.212"/>
    <p1510:client id="{2C7092DA-948C-E85E-D7A2-498E44039575}" v="43" dt="2024-12-04T17:50:07.547"/>
    <p1510:client id="{3AEF0B4A-DDAE-5A54-F9B6-80EFEDA339F8}" v="560" dt="2024-12-04T05:02:49.938"/>
    <p1510:client id="{42D1FB09-77A1-3FB3-77E7-E277649D1A83}" v="127" dt="2024-12-04T00:56:32.267"/>
    <p1510:client id="{573A6395-65B2-5CE0-38A0-A27D53D74503}" v="190" dt="2024-12-04T02:42:54.907"/>
    <p1510:client id="{6928BC5C-F841-BE27-9594-DA29AFE2C0B9}" v="616" dt="2024-12-04T16:18:21.941"/>
    <p1510:client id="{90484AA2-514D-7C91-79C8-EF369AE3CD4F}" v="520" dt="2024-12-04T23:34:45.318"/>
    <p1510:client id="{932D44BF-D15F-4F68-C389-7D5AF29CEDAD}" v="10" dt="2024-12-05T00:23:00.421"/>
    <p1510:client id="{A76DC906-3F78-CCEA-A157-7A7D68F4A76D}" v="1188" dt="2024-12-04T23:19:17.080"/>
    <p1510:client id="{AAA1F820-FD37-8671-2A09-B0E39785E895}" v="1" dt="2024-12-04T16:13:35.067"/>
    <p1510:client id="{AC82DE68-C9FC-42C7-A2AA-292D5367B1FD}" v="147" dt="2024-12-04T02:58:38.400"/>
    <p1510:client id="{C6E06115-C681-424C-5900-80D92088CFE8}" v="26" dt="2024-12-04T17:39:01.553"/>
    <p1510:client id="{CF98AD8E-1E2B-E5DE-8440-635CA314F587}" v="884" dt="2024-12-03T22:21:59.635"/>
    <p1510:client id="{E82BC588-B1D7-A536-AED3-FE6043712584}" v="324" dt="2024-12-04T19:00:37.374"/>
    <p1510:client id="{FD9008C1-F18C-A589-9E2D-26E82A870798}" v="6" dt="2024-12-04T18:09:09.21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2"/>
      </p:cViewPr>
      <p:guideLst>
        <p:guide pos="3840"/>
        <p:guide pos="415"/>
        <p:guide pos="7242"/>
        <p:guide orient="horz" pos="300"/>
        <p:guide orient="horz" pos="4020"/>
        <p:guide pos="6040"/>
        <p:guide pos="21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microsoft.com/office/2015/10/relationships/revisionInfo" Target="revisionInfo.xml"/><Relationship Id="rId8" Type="http://schemas.openxmlformats.org/officeDocument/2006/relationships/slide" Target="slides/slide7.xml"/></Relationships>
</file>

<file path=ppt/comments/modernComment_12B_449348FB.xml><?xml version="1.0" encoding="utf-8"?>
<p188:cmLst xmlns:a="http://schemas.openxmlformats.org/drawingml/2006/main" xmlns:r="http://schemas.openxmlformats.org/officeDocument/2006/relationships" xmlns:p188="http://schemas.microsoft.com/office/powerpoint/2018/8/main">
  <p188:cm id="{BE277EC5-FE8A-4AFE-88CD-004C0C148F26}" authorId="{FD83F045-0949-AA52-7D5E-B25D10179B76}" created="2024-12-04T19:00:38.169">
    <pc:sldMkLst xmlns:pc="http://schemas.microsoft.com/office/powerpoint/2013/main/command">
      <pc:docMk/>
      <pc:sldMk cId="124447664" sldId="291"/>
    </pc:sldMkLst>
    <p188:txBody>
      <a:bodyPr/>
      <a:lstStyle/>
      <a:p>
        <a:r>
          <a:rPr lang="zh-CN" altLang="en-US"/>
          <a:t>Overview: 10,000 records of customer purchases, including products, customers, and transactions.​
Product Details: Fields: product_id, product_name, product_price, category.​
Customer Info: Fields: customer_id, customer_name, start_date.​
Purchase Behavior: Fields: product_count, total_amount, transaction_amount.​
Transaction Timing: Date range: Jan 1, 2023 – Dec 3, 2024.​
Randomness: Variability added to counts, amounts, and times for realism.</a:t>
        </a:r>
      </a:p>
    </p188:txBody>
  </p188:cm>
</p188:cmLst>
</file>

<file path=ppt/comments/modernComment_123_76AEBB0.xml><?xml version="1.0" encoding="utf-8"?>
<p188:cmLst xmlns:a="http://schemas.openxmlformats.org/drawingml/2006/main" xmlns:r="http://schemas.openxmlformats.org/officeDocument/2006/relationships" xmlns:p188="http://schemas.microsoft.com/office/powerpoint/2018/8/main">
  <p188:cm id="{6D9FDA35-A97A-45D3-9645-6A0D22DB0E64}" authorId="{FD83F045-0949-AA52-7D5E-B25D10179B76}" created="2024-12-04T19:00:38.169">
    <pc:sldMkLst xmlns:pc="http://schemas.microsoft.com/office/powerpoint/2013/main/command">
      <pc:docMk/>
      <pc:sldMk cId="124447664" sldId="291"/>
    </pc:sldMkLst>
    <p188:txBody>
      <a:bodyPr/>
      <a:lstStyle/>
      <a:p>
        <a:r>
          <a:rPr lang="zh-CN" altLang="en-US"/>
          <a:t>Overview: 10,000 records of customer purchases, including products, customers, and transactions.​
Product Details: Fields: product_id, product_name, product_price, category.​
Customer Info: Fields: customer_id, customer_name, start_date.​
Purchase Behavior: Fields: product_count, total_amount, transaction_amount.​
Transaction Timing: Date range: Jan 1, 2023 – Dec 3, 2024.​
Randomness: Variability added to counts, amounts, and times for realism.</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BFFBE4-D6B3-4B87-B1A9-F1DA53E08A46}"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8C9E3EDD-FAA2-4AD5-80D7-AA9278410E05}">
      <dgm:prSet/>
      <dgm:spPr/>
      <dgm:t>
        <a:bodyPr/>
        <a:lstStyle/>
        <a:p>
          <a:r>
            <a:rPr lang="en-US" b="1" dirty="0"/>
            <a:t>Real-Time Barcode Scanning </a:t>
          </a:r>
          <a:r>
            <a:rPr lang="en-US" dirty="0"/>
            <a:t>- Users can scan barcodes via the app to instantly update their virtual cart. </a:t>
          </a:r>
        </a:p>
      </dgm:t>
    </dgm:pt>
    <dgm:pt modelId="{7C2C7C25-0CEF-4708-9818-859364F2B7CA}" type="parTrans" cxnId="{1F532741-D1C7-47E4-B68D-DA7AE26FBD19}">
      <dgm:prSet/>
      <dgm:spPr/>
      <dgm:t>
        <a:bodyPr/>
        <a:lstStyle/>
        <a:p>
          <a:endParaRPr lang="en-US"/>
        </a:p>
      </dgm:t>
    </dgm:pt>
    <dgm:pt modelId="{663CEB9C-EAD8-4FBF-B3CF-9379D689A322}" type="sibTrans" cxnId="{1F532741-D1C7-47E4-B68D-DA7AE26FBD19}">
      <dgm:prSet/>
      <dgm:spPr/>
      <dgm:t>
        <a:bodyPr/>
        <a:lstStyle/>
        <a:p>
          <a:endParaRPr lang="en-US"/>
        </a:p>
      </dgm:t>
    </dgm:pt>
    <dgm:pt modelId="{FE873DC5-A0AF-4322-8383-21D9AD3E46FB}">
      <dgm:prSet/>
      <dgm:spPr/>
      <dgm:t>
        <a:bodyPr/>
        <a:lstStyle/>
        <a:p>
          <a:r>
            <a:rPr lang="en-US" b="1" dirty="0"/>
            <a:t>Running Total Functionality </a:t>
          </a:r>
          <a:r>
            <a:rPr lang="en-US" dirty="0"/>
            <a:t>- App provides real- time cost updates, helping customers monitor spending. </a:t>
          </a:r>
        </a:p>
      </dgm:t>
    </dgm:pt>
    <dgm:pt modelId="{90D4A648-1DCF-4F3E-97ED-D16F9CCC71A3}" type="parTrans" cxnId="{F7E63312-7938-4E7B-BB9A-78131794F147}">
      <dgm:prSet/>
      <dgm:spPr/>
      <dgm:t>
        <a:bodyPr/>
        <a:lstStyle/>
        <a:p>
          <a:endParaRPr lang="en-US"/>
        </a:p>
      </dgm:t>
    </dgm:pt>
    <dgm:pt modelId="{499FA53F-4074-4423-83F8-A6BA03FD127A}" type="sibTrans" cxnId="{F7E63312-7938-4E7B-BB9A-78131794F147}">
      <dgm:prSet/>
      <dgm:spPr/>
      <dgm:t>
        <a:bodyPr/>
        <a:lstStyle/>
        <a:p>
          <a:endParaRPr lang="en-US"/>
        </a:p>
      </dgm:t>
    </dgm:pt>
    <dgm:pt modelId="{E14150F5-F530-4A41-AB9C-F1B2BFA4AAF0}">
      <dgm:prSet/>
      <dgm:spPr/>
      <dgm:t>
        <a:bodyPr/>
        <a:lstStyle/>
        <a:p>
          <a:r>
            <a:rPr lang="en-US" b="1"/>
            <a:t>Seamless Checkout Process </a:t>
          </a:r>
          <a:r>
            <a:rPr lang="en-US"/>
            <a:t>- Secure in-app payments eliminate checkout queues and simplify transactions. </a:t>
          </a:r>
        </a:p>
      </dgm:t>
    </dgm:pt>
    <dgm:pt modelId="{F8FA6C26-0134-4033-A24E-F4177B2AF667}" type="parTrans" cxnId="{FB0D6C00-BAA7-4B7A-917F-590C5DED2506}">
      <dgm:prSet/>
      <dgm:spPr/>
      <dgm:t>
        <a:bodyPr/>
        <a:lstStyle/>
        <a:p>
          <a:endParaRPr lang="en-US"/>
        </a:p>
      </dgm:t>
    </dgm:pt>
    <dgm:pt modelId="{55744506-2D7C-4FBA-862E-F3A84B97C673}" type="sibTrans" cxnId="{FB0D6C00-BAA7-4B7A-917F-590C5DED2506}">
      <dgm:prSet/>
      <dgm:spPr/>
      <dgm:t>
        <a:bodyPr/>
        <a:lstStyle/>
        <a:p>
          <a:endParaRPr lang="en-US"/>
        </a:p>
      </dgm:t>
    </dgm:pt>
    <dgm:pt modelId="{421BD399-F217-4F7A-AD12-19931ABE6F2F}">
      <dgm:prSet/>
      <dgm:spPr/>
      <dgm:t>
        <a:bodyPr/>
        <a:lstStyle/>
        <a:p>
          <a:r>
            <a:rPr lang="en-US" b="1"/>
            <a:t>Operational Benefits </a:t>
          </a:r>
          <a:r>
            <a:rPr lang="en-US"/>
            <a:t>- Increased efficiency and reduced costs for retailers. </a:t>
          </a:r>
        </a:p>
      </dgm:t>
    </dgm:pt>
    <dgm:pt modelId="{ECC7FDE0-FE17-425D-B889-EDFE243C683E}" type="parTrans" cxnId="{8F5A5BEA-8D09-4A7C-B9C3-24BA747C0C19}">
      <dgm:prSet/>
      <dgm:spPr/>
      <dgm:t>
        <a:bodyPr/>
        <a:lstStyle/>
        <a:p>
          <a:endParaRPr lang="en-US"/>
        </a:p>
      </dgm:t>
    </dgm:pt>
    <dgm:pt modelId="{224C0E54-4D0B-4D9F-8B1A-840E7B7379A7}" type="sibTrans" cxnId="{8F5A5BEA-8D09-4A7C-B9C3-24BA747C0C19}">
      <dgm:prSet/>
      <dgm:spPr/>
      <dgm:t>
        <a:bodyPr/>
        <a:lstStyle/>
        <a:p>
          <a:endParaRPr lang="en-US"/>
        </a:p>
      </dgm:t>
    </dgm:pt>
    <dgm:pt modelId="{D6759ED7-2B12-4D3F-B618-F476681BC2CC}" type="pres">
      <dgm:prSet presAssocID="{CCBFFBE4-D6B3-4B87-B1A9-F1DA53E08A46}" presName="outerComposite" presStyleCnt="0">
        <dgm:presLayoutVars>
          <dgm:chMax val="5"/>
          <dgm:dir/>
          <dgm:resizeHandles val="exact"/>
        </dgm:presLayoutVars>
      </dgm:prSet>
      <dgm:spPr/>
    </dgm:pt>
    <dgm:pt modelId="{7776B85E-EC38-4B41-B3E3-C94367F16B49}" type="pres">
      <dgm:prSet presAssocID="{CCBFFBE4-D6B3-4B87-B1A9-F1DA53E08A46}" presName="dummyMaxCanvas" presStyleCnt="0">
        <dgm:presLayoutVars/>
      </dgm:prSet>
      <dgm:spPr/>
    </dgm:pt>
    <dgm:pt modelId="{CC51D6D8-C555-4384-A1C8-7A469DCEF444}" type="pres">
      <dgm:prSet presAssocID="{CCBFFBE4-D6B3-4B87-B1A9-F1DA53E08A46}" presName="FourNodes_1" presStyleLbl="node1" presStyleIdx="0" presStyleCnt="4">
        <dgm:presLayoutVars>
          <dgm:bulletEnabled val="1"/>
        </dgm:presLayoutVars>
      </dgm:prSet>
      <dgm:spPr/>
    </dgm:pt>
    <dgm:pt modelId="{9261AD15-AFE5-47A3-95E7-4B14C6E9FADE}" type="pres">
      <dgm:prSet presAssocID="{CCBFFBE4-D6B3-4B87-B1A9-F1DA53E08A46}" presName="FourNodes_2" presStyleLbl="node1" presStyleIdx="1" presStyleCnt="4">
        <dgm:presLayoutVars>
          <dgm:bulletEnabled val="1"/>
        </dgm:presLayoutVars>
      </dgm:prSet>
      <dgm:spPr/>
    </dgm:pt>
    <dgm:pt modelId="{A7C81CAA-CF91-4888-AD24-8DE567EEBC30}" type="pres">
      <dgm:prSet presAssocID="{CCBFFBE4-D6B3-4B87-B1A9-F1DA53E08A46}" presName="FourNodes_3" presStyleLbl="node1" presStyleIdx="2" presStyleCnt="4">
        <dgm:presLayoutVars>
          <dgm:bulletEnabled val="1"/>
        </dgm:presLayoutVars>
      </dgm:prSet>
      <dgm:spPr/>
    </dgm:pt>
    <dgm:pt modelId="{04843C8B-3C6A-4B1E-A187-2028B393F29A}" type="pres">
      <dgm:prSet presAssocID="{CCBFFBE4-D6B3-4B87-B1A9-F1DA53E08A46}" presName="FourNodes_4" presStyleLbl="node1" presStyleIdx="3" presStyleCnt="4">
        <dgm:presLayoutVars>
          <dgm:bulletEnabled val="1"/>
        </dgm:presLayoutVars>
      </dgm:prSet>
      <dgm:spPr/>
    </dgm:pt>
    <dgm:pt modelId="{D7711112-D9D5-4944-B8CB-EA00FD30B082}" type="pres">
      <dgm:prSet presAssocID="{CCBFFBE4-D6B3-4B87-B1A9-F1DA53E08A46}" presName="FourConn_1-2" presStyleLbl="fgAccFollowNode1" presStyleIdx="0" presStyleCnt="3">
        <dgm:presLayoutVars>
          <dgm:bulletEnabled val="1"/>
        </dgm:presLayoutVars>
      </dgm:prSet>
      <dgm:spPr/>
    </dgm:pt>
    <dgm:pt modelId="{FFFD99A3-E778-44E0-AA79-65DD2394A3E7}" type="pres">
      <dgm:prSet presAssocID="{CCBFFBE4-D6B3-4B87-B1A9-F1DA53E08A46}" presName="FourConn_2-3" presStyleLbl="fgAccFollowNode1" presStyleIdx="1" presStyleCnt="3">
        <dgm:presLayoutVars>
          <dgm:bulletEnabled val="1"/>
        </dgm:presLayoutVars>
      </dgm:prSet>
      <dgm:spPr/>
    </dgm:pt>
    <dgm:pt modelId="{B7C32C30-435B-4AEA-B43C-5A36A37CA730}" type="pres">
      <dgm:prSet presAssocID="{CCBFFBE4-D6B3-4B87-B1A9-F1DA53E08A46}" presName="FourConn_3-4" presStyleLbl="fgAccFollowNode1" presStyleIdx="2" presStyleCnt="3">
        <dgm:presLayoutVars>
          <dgm:bulletEnabled val="1"/>
        </dgm:presLayoutVars>
      </dgm:prSet>
      <dgm:spPr/>
    </dgm:pt>
    <dgm:pt modelId="{8246BD56-BB0E-4B05-9FB9-7B9C21094341}" type="pres">
      <dgm:prSet presAssocID="{CCBFFBE4-D6B3-4B87-B1A9-F1DA53E08A46}" presName="FourNodes_1_text" presStyleLbl="node1" presStyleIdx="3" presStyleCnt="4">
        <dgm:presLayoutVars>
          <dgm:bulletEnabled val="1"/>
        </dgm:presLayoutVars>
      </dgm:prSet>
      <dgm:spPr/>
    </dgm:pt>
    <dgm:pt modelId="{0A503870-080D-45A6-B56F-FC22BE18C8DE}" type="pres">
      <dgm:prSet presAssocID="{CCBFFBE4-D6B3-4B87-B1A9-F1DA53E08A46}" presName="FourNodes_2_text" presStyleLbl="node1" presStyleIdx="3" presStyleCnt="4">
        <dgm:presLayoutVars>
          <dgm:bulletEnabled val="1"/>
        </dgm:presLayoutVars>
      </dgm:prSet>
      <dgm:spPr/>
    </dgm:pt>
    <dgm:pt modelId="{AB44F2FF-A95B-4A51-A5E2-53D11683FB05}" type="pres">
      <dgm:prSet presAssocID="{CCBFFBE4-D6B3-4B87-B1A9-F1DA53E08A46}" presName="FourNodes_3_text" presStyleLbl="node1" presStyleIdx="3" presStyleCnt="4">
        <dgm:presLayoutVars>
          <dgm:bulletEnabled val="1"/>
        </dgm:presLayoutVars>
      </dgm:prSet>
      <dgm:spPr/>
    </dgm:pt>
    <dgm:pt modelId="{9EDF1233-F71A-49A9-824F-43C10EAC7D7E}" type="pres">
      <dgm:prSet presAssocID="{CCBFFBE4-D6B3-4B87-B1A9-F1DA53E08A46}" presName="FourNodes_4_text" presStyleLbl="node1" presStyleIdx="3" presStyleCnt="4">
        <dgm:presLayoutVars>
          <dgm:bulletEnabled val="1"/>
        </dgm:presLayoutVars>
      </dgm:prSet>
      <dgm:spPr/>
    </dgm:pt>
  </dgm:ptLst>
  <dgm:cxnLst>
    <dgm:cxn modelId="{FB0D6C00-BAA7-4B7A-917F-590C5DED2506}" srcId="{CCBFFBE4-D6B3-4B87-B1A9-F1DA53E08A46}" destId="{E14150F5-F530-4A41-AB9C-F1B2BFA4AAF0}" srcOrd="2" destOrd="0" parTransId="{F8FA6C26-0134-4033-A24E-F4177B2AF667}" sibTransId="{55744506-2D7C-4FBA-862E-F3A84B97C673}"/>
    <dgm:cxn modelId="{F7E63312-7938-4E7B-BB9A-78131794F147}" srcId="{CCBFFBE4-D6B3-4B87-B1A9-F1DA53E08A46}" destId="{FE873DC5-A0AF-4322-8383-21D9AD3E46FB}" srcOrd="1" destOrd="0" parTransId="{90D4A648-1DCF-4F3E-97ED-D16F9CCC71A3}" sibTransId="{499FA53F-4074-4423-83F8-A6BA03FD127A}"/>
    <dgm:cxn modelId="{A99A211E-C902-4F2B-B878-FBF9CAE79566}" type="presOf" srcId="{FE873DC5-A0AF-4322-8383-21D9AD3E46FB}" destId="{9261AD15-AFE5-47A3-95E7-4B14C6E9FADE}" srcOrd="0" destOrd="0" presId="urn:microsoft.com/office/officeart/2005/8/layout/vProcess5"/>
    <dgm:cxn modelId="{B4CDB038-2E3F-42B3-9B36-758C9AD49C81}" type="presOf" srcId="{E14150F5-F530-4A41-AB9C-F1B2BFA4AAF0}" destId="{AB44F2FF-A95B-4A51-A5E2-53D11683FB05}" srcOrd="1" destOrd="0" presId="urn:microsoft.com/office/officeart/2005/8/layout/vProcess5"/>
    <dgm:cxn modelId="{1F532741-D1C7-47E4-B68D-DA7AE26FBD19}" srcId="{CCBFFBE4-D6B3-4B87-B1A9-F1DA53E08A46}" destId="{8C9E3EDD-FAA2-4AD5-80D7-AA9278410E05}" srcOrd="0" destOrd="0" parTransId="{7C2C7C25-0CEF-4708-9818-859364F2B7CA}" sibTransId="{663CEB9C-EAD8-4FBF-B3CF-9379D689A322}"/>
    <dgm:cxn modelId="{4A0C4F42-1C55-4784-8BCE-779D5606F233}" type="presOf" srcId="{663CEB9C-EAD8-4FBF-B3CF-9379D689A322}" destId="{D7711112-D9D5-4944-B8CB-EA00FD30B082}" srcOrd="0" destOrd="0" presId="urn:microsoft.com/office/officeart/2005/8/layout/vProcess5"/>
    <dgm:cxn modelId="{0136094F-9B30-481E-855C-1D45F7F9FA0B}" type="presOf" srcId="{8C9E3EDD-FAA2-4AD5-80D7-AA9278410E05}" destId="{CC51D6D8-C555-4384-A1C8-7A469DCEF444}" srcOrd="0" destOrd="0" presId="urn:microsoft.com/office/officeart/2005/8/layout/vProcess5"/>
    <dgm:cxn modelId="{C39A5351-8794-4D2F-9979-8BEC7D34857B}" type="presOf" srcId="{421BD399-F217-4F7A-AD12-19931ABE6F2F}" destId="{9EDF1233-F71A-49A9-824F-43C10EAC7D7E}" srcOrd="1" destOrd="0" presId="urn:microsoft.com/office/officeart/2005/8/layout/vProcess5"/>
    <dgm:cxn modelId="{6E225F83-FB3A-4908-9E46-66634E3FE531}" type="presOf" srcId="{FE873DC5-A0AF-4322-8383-21D9AD3E46FB}" destId="{0A503870-080D-45A6-B56F-FC22BE18C8DE}" srcOrd="1" destOrd="0" presId="urn:microsoft.com/office/officeart/2005/8/layout/vProcess5"/>
    <dgm:cxn modelId="{41FE8695-5810-425F-AE20-795718432FEC}" type="presOf" srcId="{8C9E3EDD-FAA2-4AD5-80D7-AA9278410E05}" destId="{8246BD56-BB0E-4B05-9FB9-7B9C21094341}" srcOrd="1" destOrd="0" presId="urn:microsoft.com/office/officeart/2005/8/layout/vProcess5"/>
    <dgm:cxn modelId="{0E6B43A9-F861-46E3-A849-19333AC247EC}" type="presOf" srcId="{E14150F5-F530-4A41-AB9C-F1B2BFA4AAF0}" destId="{A7C81CAA-CF91-4888-AD24-8DE567EEBC30}" srcOrd="0" destOrd="0" presId="urn:microsoft.com/office/officeart/2005/8/layout/vProcess5"/>
    <dgm:cxn modelId="{F50031D3-66E1-4C21-813E-1EE00D2F547C}" type="presOf" srcId="{CCBFFBE4-D6B3-4B87-B1A9-F1DA53E08A46}" destId="{D6759ED7-2B12-4D3F-B618-F476681BC2CC}" srcOrd="0" destOrd="0" presId="urn:microsoft.com/office/officeart/2005/8/layout/vProcess5"/>
    <dgm:cxn modelId="{3E1665D4-5ED7-4D95-92B2-C210508E32B0}" type="presOf" srcId="{55744506-2D7C-4FBA-862E-F3A84B97C673}" destId="{B7C32C30-435B-4AEA-B43C-5A36A37CA730}" srcOrd="0" destOrd="0" presId="urn:microsoft.com/office/officeart/2005/8/layout/vProcess5"/>
    <dgm:cxn modelId="{8F5A5BEA-8D09-4A7C-B9C3-24BA747C0C19}" srcId="{CCBFFBE4-D6B3-4B87-B1A9-F1DA53E08A46}" destId="{421BD399-F217-4F7A-AD12-19931ABE6F2F}" srcOrd="3" destOrd="0" parTransId="{ECC7FDE0-FE17-425D-B889-EDFE243C683E}" sibTransId="{224C0E54-4D0B-4D9F-8B1A-840E7B7379A7}"/>
    <dgm:cxn modelId="{AE304EEC-D0AC-4F7E-87EA-BA218B13EFC3}" type="presOf" srcId="{499FA53F-4074-4423-83F8-A6BA03FD127A}" destId="{FFFD99A3-E778-44E0-AA79-65DD2394A3E7}" srcOrd="0" destOrd="0" presId="urn:microsoft.com/office/officeart/2005/8/layout/vProcess5"/>
    <dgm:cxn modelId="{3BBC82F4-D623-4DFD-AD07-954794BFE0F5}" type="presOf" srcId="{421BD399-F217-4F7A-AD12-19931ABE6F2F}" destId="{04843C8B-3C6A-4B1E-A187-2028B393F29A}" srcOrd="0" destOrd="0" presId="urn:microsoft.com/office/officeart/2005/8/layout/vProcess5"/>
    <dgm:cxn modelId="{EA831243-B856-433E-942C-E95C9A6CB8B8}" type="presParOf" srcId="{D6759ED7-2B12-4D3F-B618-F476681BC2CC}" destId="{7776B85E-EC38-4B41-B3E3-C94367F16B49}" srcOrd="0" destOrd="0" presId="urn:microsoft.com/office/officeart/2005/8/layout/vProcess5"/>
    <dgm:cxn modelId="{0ECDB340-5420-4B7B-9706-199E09369EAA}" type="presParOf" srcId="{D6759ED7-2B12-4D3F-B618-F476681BC2CC}" destId="{CC51D6D8-C555-4384-A1C8-7A469DCEF444}" srcOrd="1" destOrd="0" presId="urn:microsoft.com/office/officeart/2005/8/layout/vProcess5"/>
    <dgm:cxn modelId="{CDC6CD2F-6CDD-47F1-A7DA-B160E1918336}" type="presParOf" srcId="{D6759ED7-2B12-4D3F-B618-F476681BC2CC}" destId="{9261AD15-AFE5-47A3-95E7-4B14C6E9FADE}" srcOrd="2" destOrd="0" presId="urn:microsoft.com/office/officeart/2005/8/layout/vProcess5"/>
    <dgm:cxn modelId="{35C687A6-E4A9-46A5-9E8C-3B7E68B41D87}" type="presParOf" srcId="{D6759ED7-2B12-4D3F-B618-F476681BC2CC}" destId="{A7C81CAA-CF91-4888-AD24-8DE567EEBC30}" srcOrd="3" destOrd="0" presId="urn:microsoft.com/office/officeart/2005/8/layout/vProcess5"/>
    <dgm:cxn modelId="{2093711E-B451-4F2F-936F-BE9B24FB38EF}" type="presParOf" srcId="{D6759ED7-2B12-4D3F-B618-F476681BC2CC}" destId="{04843C8B-3C6A-4B1E-A187-2028B393F29A}" srcOrd="4" destOrd="0" presId="urn:microsoft.com/office/officeart/2005/8/layout/vProcess5"/>
    <dgm:cxn modelId="{6CE7C436-3414-42A7-8BF4-33BEC808785E}" type="presParOf" srcId="{D6759ED7-2B12-4D3F-B618-F476681BC2CC}" destId="{D7711112-D9D5-4944-B8CB-EA00FD30B082}" srcOrd="5" destOrd="0" presId="urn:microsoft.com/office/officeart/2005/8/layout/vProcess5"/>
    <dgm:cxn modelId="{3B536CBC-EB07-43AF-A2D7-6DE336BCEF42}" type="presParOf" srcId="{D6759ED7-2B12-4D3F-B618-F476681BC2CC}" destId="{FFFD99A3-E778-44E0-AA79-65DD2394A3E7}" srcOrd="6" destOrd="0" presId="urn:microsoft.com/office/officeart/2005/8/layout/vProcess5"/>
    <dgm:cxn modelId="{667B0AD3-F150-4E33-BE82-5336DEF87CB5}" type="presParOf" srcId="{D6759ED7-2B12-4D3F-B618-F476681BC2CC}" destId="{B7C32C30-435B-4AEA-B43C-5A36A37CA730}" srcOrd="7" destOrd="0" presId="urn:microsoft.com/office/officeart/2005/8/layout/vProcess5"/>
    <dgm:cxn modelId="{0713ABBC-3C1F-4DB7-9EB2-A0E372613778}" type="presParOf" srcId="{D6759ED7-2B12-4D3F-B618-F476681BC2CC}" destId="{8246BD56-BB0E-4B05-9FB9-7B9C21094341}" srcOrd="8" destOrd="0" presId="urn:microsoft.com/office/officeart/2005/8/layout/vProcess5"/>
    <dgm:cxn modelId="{24714DD9-0C85-4EA1-9B9B-F602BC1D7D95}" type="presParOf" srcId="{D6759ED7-2B12-4D3F-B618-F476681BC2CC}" destId="{0A503870-080D-45A6-B56F-FC22BE18C8DE}" srcOrd="9" destOrd="0" presId="urn:microsoft.com/office/officeart/2005/8/layout/vProcess5"/>
    <dgm:cxn modelId="{AFF5A3B5-3211-465B-A85E-BD55467147B1}" type="presParOf" srcId="{D6759ED7-2B12-4D3F-B618-F476681BC2CC}" destId="{AB44F2FF-A95B-4A51-A5E2-53D11683FB05}" srcOrd="10" destOrd="0" presId="urn:microsoft.com/office/officeart/2005/8/layout/vProcess5"/>
    <dgm:cxn modelId="{43BC942A-4BC7-46C2-A4EC-5937C802EDCC}" type="presParOf" srcId="{D6759ED7-2B12-4D3F-B618-F476681BC2CC}" destId="{9EDF1233-F71A-49A9-824F-43C10EAC7D7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1D6D8-C555-4384-A1C8-7A469DCEF444}">
      <dsp:nvSpPr>
        <dsp:cNvPr id="0" name=""/>
        <dsp:cNvSpPr/>
      </dsp:nvSpPr>
      <dsp:spPr>
        <a:xfrm>
          <a:off x="0" y="0"/>
          <a:ext cx="5478765" cy="9199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Real-Time Barcode Scanning </a:t>
          </a:r>
          <a:r>
            <a:rPr lang="en-US" sz="1700" kern="1200" dirty="0"/>
            <a:t>- Users can scan barcodes via the app to instantly update their virtual cart. </a:t>
          </a:r>
        </a:p>
      </dsp:txBody>
      <dsp:txXfrm>
        <a:off x="26946" y="26946"/>
        <a:ext cx="4408282" cy="866099"/>
      </dsp:txXfrm>
    </dsp:sp>
    <dsp:sp modelId="{9261AD15-AFE5-47A3-95E7-4B14C6E9FADE}">
      <dsp:nvSpPr>
        <dsp:cNvPr id="0" name=""/>
        <dsp:cNvSpPr/>
      </dsp:nvSpPr>
      <dsp:spPr>
        <a:xfrm>
          <a:off x="458846" y="1087262"/>
          <a:ext cx="5478765" cy="9199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Running Total Functionality </a:t>
          </a:r>
          <a:r>
            <a:rPr lang="en-US" sz="1700" kern="1200" dirty="0"/>
            <a:t>- App provides real- time cost updates, helping customers monitor spending. </a:t>
          </a:r>
        </a:p>
      </dsp:txBody>
      <dsp:txXfrm>
        <a:off x="485792" y="1114208"/>
        <a:ext cx="4368032" cy="866099"/>
      </dsp:txXfrm>
    </dsp:sp>
    <dsp:sp modelId="{A7C81CAA-CF91-4888-AD24-8DE567EEBC30}">
      <dsp:nvSpPr>
        <dsp:cNvPr id="0" name=""/>
        <dsp:cNvSpPr/>
      </dsp:nvSpPr>
      <dsp:spPr>
        <a:xfrm>
          <a:off x="910844" y="2174525"/>
          <a:ext cx="5478765" cy="9199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Seamless Checkout Process </a:t>
          </a:r>
          <a:r>
            <a:rPr lang="en-US" sz="1700" kern="1200"/>
            <a:t>- Secure in-app payments eliminate checkout queues and simplify transactions. </a:t>
          </a:r>
        </a:p>
      </dsp:txBody>
      <dsp:txXfrm>
        <a:off x="937790" y="2201471"/>
        <a:ext cx="4374880" cy="866099"/>
      </dsp:txXfrm>
    </dsp:sp>
    <dsp:sp modelId="{04843C8B-3C6A-4B1E-A187-2028B393F29A}">
      <dsp:nvSpPr>
        <dsp:cNvPr id="0" name=""/>
        <dsp:cNvSpPr/>
      </dsp:nvSpPr>
      <dsp:spPr>
        <a:xfrm>
          <a:off x="1369691" y="3261788"/>
          <a:ext cx="5478765" cy="9199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Operational Benefits </a:t>
          </a:r>
          <a:r>
            <a:rPr lang="en-US" sz="1700" kern="1200"/>
            <a:t>- Increased efficiency and reduced costs for retailers. </a:t>
          </a:r>
        </a:p>
      </dsp:txBody>
      <dsp:txXfrm>
        <a:off x="1396637" y="3288734"/>
        <a:ext cx="4368032" cy="866099"/>
      </dsp:txXfrm>
    </dsp:sp>
    <dsp:sp modelId="{D7711112-D9D5-4944-B8CB-EA00FD30B082}">
      <dsp:nvSpPr>
        <dsp:cNvPr id="0" name=""/>
        <dsp:cNvSpPr/>
      </dsp:nvSpPr>
      <dsp:spPr>
        <a:xfrm>
          <a:off x="4880771" y="704629"/>
          <a:ext cx="597994" cy="5979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015320" y="704629"/>
        <a:ext cx="328896" cy="449990"/>
      </dsp:txXfrm>
    </dsp:sp>
    <dsp:sp modelId="{FFFD99A3-E778-44E0-AA79-65DD2394A3E7}">
      <dsp:nvSpPr>
        <dsp:cNvPr id="0" name=""/>
        <dsp:cNvSpPr/>
      </dsp:nvSpPr>
      <dsp:spPr>
        <a:xfrm>
          <a:off x="5339617" y="1791892"/>
          <a:ext cx="597994" cy="5979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474166" y="1791892"/>
        <a:ext cx="328896" cy="449990"/>
      </dsp:txXfrm>
    </dsp:sp>
    <dsp:sp modelId="{B7C32C30-435B-4AEA-B43C-5A36A37CA730}">
      <dsp:nvSpPr>
        <dsp:cNvPr id="0" name=""/>
        <dsp:cNvSpPr/>
      </dsp:nvSpPr>
      <dsp:spPr>
        <a:xfrm>
          <a:off x="5791615" y="2879155"/>
          <a:ext cx="597994" cy="5979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926164" y="2879155"/>
        <a:ext cx="328896" cy="44999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58C300-867E-4428-9681-E8B1F956CF56}" type="datetimeFigureOut">
              <a:t>12/4/2024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D8FC6-6713-46F2-841D-012DE99AC2A6}" type="slidenum">
              <a:t>‹#›</a:t>
            </a:fld>
            <a:endParaRPr lang="zh-CN" altLang="en-US"/>
          </a:p>
        </p:txBody>
      </p:sp>
    </p:spTree>
    <p:extLst>
      <p:ext uri="{BB962C8B-B14F-4D97-AF65-F5344CB8AC3E}">
        <p14:creationId xmlns:p14="http://schemas.microsoft.com/office/powerpoint/2010/main" val="3596655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ea typeface="等线"/>
              </a:rPr>
              <a:t>Use customers' historical consumption pattern to predict their next purchase amount.</a:t>
            </a:r>
          </a:p>
          <a:p>
            <a:endParaRPr lang="en-US" altLang="zh-CN"/>
          </a:p>
          <a:p>
            <a:r>
              <a:rPr lang="en-US" altLang="zh-CN">
                <a:ea typeface="等线"/>
              </a:rPr>
              <a:t>Can help the store in many </a:t>
            </a:r>
            <a:r>
              <a:rPr lang="en-US" altLang="zh-CN" err="1">
                <a:ea typeface="等线"/>
              </a:rPr>
              <a:t>ways，like</a:t>
            </a:r>
            <a:r>
              <a:rPr lang="en-US" altLang="zh-CN">
                <a:ea typeface="等线"/>
              </a:rPr>
              <a:t> </a:t>
            </a:r>
            <a:r>
              <a:rPr lang="en-US" altLang="zh-CN" err="1">
                <a:ea typeface="等线"/>
              </a:rPr>
              <a:t>库存管理，个性化促销，客户满意度，等</a:t>
            </a:r>
          </a:p>
          <a:p>
            <a:endParaRPr lang="en-US" altLang="zh-CN"/>
          </a:p>
          <a:p>
            <a:endParaRPr lang="en-US" altLang="zh-CN"/>
          </a:p>
          <a:p>
            <a:r>
              <a:rPr lang="en-US"/>
              <a:t> </a:t>
            </a:r>
          </a:p>
        </p:txBody>
      </p:sp>
      <p:sp>
        <p:nvSpPr>
          <p:cNvPr id="4" name="灯片编号占位符 3"/>
          <p:cNvSpPr>
            <a:spLocks noGrp="1"/>
          </p:cNvSpPr>
          <p:nvPr>
            <p:ph type="sldNum" sz="quarter" idx="5"/>
          </p:nvPr>
        </p:nvSpPr>
        <p:spPr/>
        <p:txBody>
          <a:bodyPr/>
          <a:lstStyle/>
          <a:p>
            <a:fld id="{51CD8FC6-6713-46F2-841D-012DE99AC2A6}" type="slidenum">
              <a:rPr lang="en-US" altLang="zh-CN"/>
              <a:t>5</a:t>
            </a:fld>
            <a:endParaRPr lang="zh-CN" altLang="en-US"/>
          </a:p>
        </p:txBody>
      </p:sp>
    </p:spTree>
    <p:extLst>
      <p:ext uri="{BB962C8B-B14F-4D97-AF65-F5344CB8AC3E}">
        <p14:creationId xmlns:p14="http://schemas.microsoft.com/office/powerpoint/2010/main" val="1611651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ea typeface="等线"/>
              </a:rPr>
              <a:t>Our data is randomly generated based on products</a:t>
            </a:r>
            <a:r>
              <a:rPr lang="en-US" altLang="zh-CN">
                <a:ea typeface="等线"/>
              </a:rPr>
              <a:t>,  </a:t>
            </a:r>
            <a:r>
              <a:rPr lang="en-US" altLang="zh-CN" err="1">
                <a:ea typeface="等线"/>
              </a:rPr>
              <a:t>商品信息比如什么什么</a:t>
            </a:r>
            <a:r>
              <a:rPr lang="en-US" altLang="zh-CN">
                <a:ea typeface="等线"/>
              </a:rPr>
              <a:t>。。。 who bought the products and the amount was sold, and the total price. It also </a:t>
            </a:r>
            <a:r>
              <a:rPr lang="en-US" altLang="zh-CN" err="1">
                <a:ea typeface="等线"/>
              </a:rPr>
              <a:t>recored</a:t>
            </a:r>
            <a:r>
              <a:rPr lang="en-US" altLang="zh-CN">
                <a:ea typeface="等线"/>
              </a:rPr>
              <a:t> the transaction time. </a:t>
            </a:r>
            <a:endParaRPr lang="en-US" altLang="zh-CN">
              <a:ea typeface="等线" panose="02010600030101010101" pitchFamily="2" charset="-122"/>
            </a:endParaRPr>
          </a:p>
          <a:p>
            <a:endParaRPr lang="zh-CN" altLang="en-US">
              <a:ea typeface="等线"/>
            </a:endParaRPr>
          </a:p>
          <a:p>
            <a:r>
              <a:rPr lang="zh-CN">
                <a:ea typeface="等线"/>
              </a:rPr>
              <a:t>However, this is not very suitable for our prediction goal, which is the customer's next purchase amount. So we transformed the data.</a:t>
            </a:r>
          </a:p>
        </p:txBody>
      </p:sp>
      <p:sp>
        <p:nvSpPr>
          <p:cNvPr id="4" name="灯片编号占位符 3"/>
          <p:cNvSpPr>
            <a:spLocks noGrp="1"/>
          </p:cNvSpPr>
          <p:nvPr>
            <p:ph type="sldNum" sz="quarter" idx="5"/>
          </p:nvPr>
        </p:nvSpPr>
        <p:spPr/>
        <p:txBody>
          <a:bodyPr/>
          <a:lstStyle/>
          <a:p>
            <a:fld id="{51CD8FC6-6713-46F2-841D-012DE99AC2A6}" type="slidenum">
              <a:rPr lang="en-US" altLang="zh-CN"/>
              <a:t>6</a:t>
            </a:fld>
            <a:endParaRPr lang="zh-CN" altLang="en-US"/>
          </a:p>
        </p:txBody>
      </p:sp>
    </p:spTree>
    <p:extLst>
      <p:ext uri="{BB962C8B-B14F-4D97-AF65-F5344CB8AC3E}">
        <p14:creationId xmlns:p14="http://schemas.microsoft.com/office/powerpoint/2010/main" val="2030594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ea typeface="等线"/>
              </a:rPr>
              <a:t>We </a:t>
            </a:r>
            <a:r>
              <a:rPr lang="en-US" altLang="zh-CN">
                <a:ea typeface="等线"/>
              </a:rPr>
              <a:t>re</a:t>
            </a:r>
            <a:r>
              <a:rPr lang="zh-CN">
                <a:ea typeface="等线"/>
              </a:rPr>
              <a:t>organize the table </a:t>
            </a:r>
            <a:r>
              <a:rPr lang="en-US" altLang="zh-CN">
                <a:ea typeface="等线"/>
              </a:rPr>
              <a:t>product base </a:t>
            </a:r>
            <a:r>
              <a:rPr lang="zh-CN">
                <a:ea typeface="等线"/>
              </a:rPr>
              <a:t>into customers b</a:t>
            </a:r>
            <a:r>
              <a:rPr lang="en-US" altLang="zh-CN" err="1">
                <a:ea typeface="等线"/>
              </a:rPr>
              <a:t>ased</a:t>
            </a:r>
            <a:r>
              <a:rPr lang="en-US" altLang="zh-CN">
                <a:ea typeface="等线"/>
              </a:rPr>
              <a:t>. By checking</a:t>
            </a:r>
            <a:r>
              <a:rPr lang="zh-CN">
                <a:ea typeface="等线"/>
              </a:rPr>
              <a:t> the t</a:t>
            </a:r>
            <a:r>
              <a:rPr lang="en-US" altLang="zh-CN" err="1">
                <a:ea typeface="等线"/>
              </a:rPr>
              <a:t>ransaction</a:t>
            </a:r>
            <a:r>
              <a:rPr lang="zh-CN">
                <a:ea typeface="等线"/>
              </a:rPr>
              <a:t> date and time of each item, we can know how many times a customer has visited the store and how much he or she spent each time. </a:t>
            </a:r>
            <a:endParaRPr lang="zh-CN" altLang="en-US"/>
          </a:p>
          <a:p>
            <a:endParaRPr lang="zh-CN" altLang="en-US">
              <a:ea typeface="等线"/>
            </a:endParaRPr>
          </a:p>
          <a:p>
            <a:r>
              <a:rPr lang="zh-CN">
                <a:ea typeface="等线"/>
              </a:rPr>
              <a:t>This </a:t>
            </a:r>
            <a:r>
              <a:rPr lang="en-US" altLang="zh-CN">
                <a:ea typeface="等线"/>
              </a:rPr>
              <a:t>step </a:t>
            </a:r>
            <a:r>
              <a:rPr lang="zh-CN">
                <a:ea typeface="等线"/>
              </a:rPr>
              <a:t>helps</a:t>
            </a:r>
            <a:r>
              <a:rPr lang="zh-CN" altLang="en-US">
                <a:ea typeface="等线"/>
              </a:rPr>
              <a:t> </a:t>
            </a:r>
            <a:r>
              <a:rPr lang="zh-CN">
                <a:ea typeface="等线"/>
              </a:rPr>
              <a:t>the next modeling part.</a:t>
            </a:r>
          </a:p>
        </p:txBody>
      </p:sp>
      <p:sp>
        <p:nvSpPr>
          <p:cNvPr id="4" name="灯片编号占位符 3"/>
          <p:cNvSpPr>
            <a:spLocks noGrp="1"/>
          </p:cNvSpPr>
          <p:nvPr>
            <p:ph type="sldNum" sz="quarter" idx="5"/>
          </p:nvPr>
        </p:nvSpPr>
        <p:spPr/>
        <p:txBody>
          <a:bodyPr/>
          <a:lstStyle/>
          <a:p>
            <a:fld id="{51CD8FC6-6713-46F2-841D-012DE99AC2A6}" type="slidenum">
              <a:rPr lang="en-US" altLang="zh-CN"/>
              <a:t>7</a:t>
            </a:fld>
            <a:endParaRPr lang="zh-CN" altLang="en-US"/>
          </a:p>
        </p:txBody>
      </p:sp>
    </p:spTree>
    <p:extLst>
      <p:ext uri="{BB962C8B-B14F-4D97-AF65-F5344CB8AC3E}">
        <p14:creationId xmlns:p14="http://schemas.microsoft.com/office/powerpoint/2010/main" val="2039164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But this changes will reduce the number of variables, so we sorted out the customer's spending habits. </a:t>
            </a:r>
            <a:endParaRPr lang="zh-CN" altLang="en-US">
              <a:ea typeface="等线" panose="02010600030101010101" pitchFamily="2" charset="-122"/>
            </a:endParaRPr>
          </a:p>
          <a:p>
            <a:endParaRPr lang="en-US"/>
          </a:p>
          <a:p>
            <a:r>
              <a:rPr lang="en-US"/>
              <a:t>We used the Pivot Tables function to count how much of each item the customer bought each time and what </a:t>
            </a:r>
            <a:r>
              <a:rPr lang="en-US" err="1"/>
              <a:t>catagory</a:t>
            </a:r>
            <a:r>
              <a:rPr lang="en-US"/>
              <a:t> they liked to buy. </a:t>
            </a:r>
            <a:endParaRPr lang="zh-CN" altLang="en-US">
              <a:ea typeface="等线"/>
            </a:endParaRPr>
          </a:p>
          <a:p>
            <a:r>
              <a:rPr lang="en-US"/>
              <a:t> </a:t>
            </a:r>
            <a:endParaRPr lang="en-US">
              <a:ea typeface="等线"/>
            </a:endParaRPr>
          </a:p>
          <a:p>
            <a:r>
              <a:rPr lang="en-US"/>
              <a:t>Then we divided the data into 70% </a:t>
            </a:r>
            <a:r>
              <a:rPr lang="en-US" err="1"/>
              <a:t>traning</a:t>
            </a:r>
            <a:r>
              <a:rPr lang="en-US"/>
              <a:t> data and 30% testing data for running the model.</a:t>
            </a:r>
            <a:endParaRPr lang="en-US">
              <a:ea typeface="等线"/>
            </a:endParaRPr>
          </a:p>
        </p:txBody>
      </p:sp>
      <p:sp>
        <p:nvSpPr>
          <p:cNvPr id="4" name="灯片编号占位符 3"/>
          <p:cNvSpPr>
            <a:spLocks noGrp="1"/>
          </p:cNvSpPr>
          <p:nvPr>
            <p:ph type="sldNum" sz="quarter" idx="5"/>
          </p:nvPr>
        </p:nvSpPr>
        <p:spPr/>
        <p:txBody>
          <a:bodyPr/>
          <a:lstStyle/>
          <a:p>
            <a:fld id="{51CD8FC6-6713-46F2-841D-012DE99AC2A6}" type="slidenum">
              <a:rPr lang="en-US" altLang="zh-CN"/>
              <a:t>8</a:t>
            </a:fld>
            <a:endParaRPr lang="zh-CN" altLang="en-US"/>
          </a:p>
        </p:txBody>
      </p:sp>
    </p:spTree>
    <p:extLst>
      <p:ext uri="{BB962C8B-B14F-4D97-AF65-F5344CB8AC3E}">
        <p14:creationId xmlns:p14="http://schemas.microsoft.com/office/powerpoint/2010/main" val="4274898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We ran 3 models, random forest, ridge regression and </a:t>
            </a:r>
            <a:r>
              <a:rPr lang="en-US" err="1"/>
              <a:t>xgboost</a:t>
            </a:r>
            <a:r>
              <a:rPr lang="en-US"/>
              <a:t>. The result of </a:t>
            </a:r>
            <a:r>
              <a:rPr lang="en-US" err="1"/>
              <a:t>XGboost</a:t>
            </a:r>
            <a:r>
              <a:rPr lang="en-US"/>
              <a:t> was the best.</a:t>
            </a:r>
            <a:endParaRPr lang="zh-CN" altLang="en-US"/>
          </a:p>
          <a:p>
            <a:endParaRPr lang="en-US" altLang="zh-CN">
              <a:ea typeface="等线"/>
            </a:endParaRPr>
          </a:p>
          <a:p>
            <a:r>
              <a:rPr lang="en-US" altLang="zh-CN">
                <a:ea typeface="等线"/>
              </a:rPr>
              <a:t>We found that the average prediction error of the model was $22.19. (RMSE)</a:t>
            </a:r>
            <a:endParaRPr lang="en-US">
              <a:ea typeface="等线"/>
            </a:endParaRPr>
          </a:p>
          <a:p>
            <a:endParaRPr lang="en-US" altLang="zh-CN">
              <a:ea typeface="等线"/>
            </a:endParaRPr>
          </a:p>
          <a:p>
            <a:r>
              <a:rPr lang="en-US"/>
              <a:t>Our model can explain 94% of customer consumption behavior, which means that most consumption patterns are consistent with the rules learned by the model.</a:t>
            </a:r>
            <a:endParaRPr lang="en-US">
              <a:ea typeface="等线"/>
            </a:endParaRPr>
          </a:p>
        </p:txBody>
      </p:sp>
      <p:sp>
        <p:nvSpPr>
          <p:cNvPr id="4" name="灯片编号占位符 3"/>
          <p:cNvSpPr>
            <a:spLocks noGrp="1"/>
          </p:cNvSpPr>
          <p:nvPr>
            <p:ph type="sldNum" sz="quarter" idx="5"/>
          </p:nvPr>
        </p:nvSpPr>
        <p:spPr/>
        <p:txBody>
          <a:bodyPr/>
          <a:lstStyle/>
          <a:p>
            <a:fld id="{51CD8FC6-6713-46F2-841D-012DE99AC2A6}" type="slidenum">
              <a:t>9</a:t>
            </a:fld>
            <a:endParaRPr lang="zh-CN" altLang="en-US"/>
          </a:p>
        </p:txBody>
      </p:sp>
    </p:spTree>
    <p:extLst>
      <p:ext uri="{BB962C8B-B14F-4D97-AF65-F5344CB8AC3E}">
        <p14:creationId xmlns:p14="http://schemas.microsoft.com/office/powerpoint/2010/main" val="3276515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80340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77174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31593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01757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36710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92968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38827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95667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23905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7880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75814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03AA6C1-0D4C-EE82-03A3-81C79CB4C5B0}"/>
              </a:ext>
            </a:extLst>
          </p:cNvPr>
          <p:cNvSpPr>
            <a:spLocks noGrp="1"/>
          </p:cNvSpPr>
          <p:nvPr>
            <p:ph type="pic" sz="quarter" idx="10"/>
          </p:nvPr>
        </p:nvSpPr>
        <p:spPr>
          <a:xfrm>
            <a:off x="942975" y="1681163"/>
            <a:ext cx="3371849" cy="2614613"/>
          </a:xfrm>
          <a:custGeom>
            <a:avLst/>
            <a:gdLst>
              <a:gd name="connsiteX0" fmla="*/ 0 w 3371849"/>
              <a:gd name="connsiteY0" fmla="*/ 0 h 2614613"/>
              <a:gd name="connsiteX1" fmla="*/ 3371849 w 3371849"/>
              <a:gd name="connsiteY1" fmla="*/ 0 h 2614613"/>
              <a:gd name="connsiteX2" fmla="*/ 3371849 w 3371849"/>
              <a:gd name="connsiteY2" fmla="*/ 2614613 h 2614613"/>
              <a:gd name="connsiteX3" fmla="*/ 0 w 3371849"/>
              <a:gd name="connsiteY3" fmla="*/ 2614613 h 2614613"/>
            </a:gdLst>
            <a:ahLst/>
            <a:cxnLst>
              <a:cxn ang="0">
                <a:pos x="connsiteX0" y="connsiteY0"/>
              </a:cxn>
              <a:cxn ang="0">
                <a:pos x="connsiteX1" y="connsiteY1"/>
              </a:cxn>
              <a:cxn ang="0">
                <a:pos x="connsiteX2" y="connsiteY2"/>
              </a:cxn>
              <a:cxn ang="0">
                <a:pos x="connsiteX3" y="connsiteY3"/>
              </a:cxn>
            </a:cxnLst>
            <a:rect l="l" t="t" r="r" b="b"/>
            <a:pathLst>
              <a:path w="3371849" h="2614613">
                <a:moveTo>
                  <a:pt x="0" y="0"/>
                </a:moveTo>
                <a:lnTo>
                  <a:pt x="3371849" y="0"/>
                </a:lnTo>
                <a:lnTo>
                  <a:pt x="3371849" y="2614613"/>
                </a:lnTo>
                <a:lnTo>
                  <a:pt x="0" y="2614613"/>
                </a:lnTo>
                <a:close/>
              </a:path>
            </a:pathLst>
          </a:custGeom>
        </p:spPr>
        <p:txBody>
          <a:bodyPr wrap="square">
            <a:noAutofit/>
          </a:bodyPr>
          <a:lstStyle/>
          <a:p>
            <a:endParaRPr lang="en-IN"/>
          </a:p>
        </p:txBody>
      </p:sp>
      <p:sp>
        <p:nvSpPr>
          <p:cNvPr id="13" name="Picture Placeholder 12">
            <a:extLst>
              <a:ext uri="{FF2B5EF4-FFF2-40B4-BE49-F238E27FC236}">
                <a16:creationId xmlns:a16="http://schemas.microsoft.com/office/drawing/2014/main" id="{F57131F8-8923-A235-B865-F2BCDCFB58A8}"/>
              </a:ext>
            </a:extLst>
          </p:cNvPr>
          <p:cNvSpPr>
            <a:spLocks noGrp="1"/>
          </p:cNvSpPr>
          <p:nvPr>
            <p:ph type="pic" sz="quarter" idx="11"/>
          </p:nvPr>
        </p:nvSpPr>
        <p:spPr>
          <a:xfrm>
            <a:off x="4629150" y="1681163"/>
            <a:ext cx="3371849" cy="2614613"/>
          </a:xfrm>
          <a:custGeom>
            <a:avLst/>
            <a:gdLst>
              <a:gd name="connsiteX0" fmla="*/ 0 w 3371849"/>
              <a:gd name="connsiteY0" fmla="*/ 0 h 2614613"/>
              <a:gd name="connsiteX1" fmla="*/ 3371849 w 3371849"/>
              <a:gd name="connsiteY1" fmla="*/ 0 h 2614613"/>
              <a:gd name="connsiteX2" fmla="*/ 3371849 w 3371849"/>
              <a:gd name="connsiteY2" fmla="*/ 2614613 h 2614613"/>
              <a:gd name="connsiteX3" fmla="*/ 0 w 3371849"/>
              <a:gd name="connsiteY3" fmla="*/ 2614613 h 2614613"/>
            </a:gdLst>
            <a:ahLst/>
            <a:cxnLst>
              <a:cxn ang="0">
                <a:pos x="connsiteX0" y="connsiteY0"/>
              </a:cxn>
              <a:cxn ang="0">
                <a:pos x="connsiteX1" y="connsiteY1"/>
              </a:cxn>
              <a:cxn ang="0">
                <a:pos x="connsiteX2" y="connsiteY2"/>
              </a:cxn>
              <a:cxn ang="0">
                <a:pos x="connsiteX3" y="connsiteY3"/>
              </a:cxn>
            </a:cxnLst>
            <a:rect l="l" t="t" r="r" b="b"/>
            <a:pathLst>
              <a:path w="3371849" h="2614613">
                <a:moveTo>
                  <a:pt x="0" y="0"/>
                </a:moveTo>
                <a:lnTo>
                  <a:pt x="3371849" y="0"/>
                </a:lnTo>
                <a:lnTo>
                  <a:pt x="3371849" y="2614613"/>
                </a:lnTo>
                <a:lnTo>
                  <a:pt x="0" y="2614613"/>
                </a:lnTo>
                <a:close/>
              </a:path>
            </a:pathLst>
          </a:custGeom>
        </p:spPr>
        <p:txBody>
          <a:bodyPr wrap="square">
            <a:noAutofit/>
          </a:bodyPr>
          <a:lstStyle/>
          <a:p>
            <a:endParaRPr lang="en-IN"/>
          </a:p>
        </p:txBody>
      </p:sp>
    </p:spTree>
    <p:extLst>
      <p:ext uri="{BB962C8B-B14F-4D97-AF65-F5344CB8AC3E}">
        <p14:creationId xmlns:p14="http://schemas.microsoft.com/office/powerpoint/2010/main" val="35650032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6B90BDE-82F3-0264-4DD5-E468B81C8EC9}"/>
              </a:ext>
            </a:extLst>
          </p:cNvPr>
          <p:cNvSpPr>
            <a:spLocks noGrp="1"/>
          </p:cNvSpPr>
          <p:nvPr>
            <p:ph type="pic" sz="quarter" idx="10"/>
          </p:nvPr>
        </p:nvSpPr>
        <p:spPr>
          <a:xfrm>
            <a:off x="5605462" y="2576993"/>
            <a:ext cx="2765425" cy="3792538"/>
          </a:xfrm>
          <a:custGeom>
            <a:avLst/>
            <a:gdLst>
              <a:gd name="connsiteX0" fmla="*/ 0 w 2765425"/>
              <a:gd name="connsiteY0" fmla="*/ 0 h 3792538"/>
              <a:gd name="connsiteX1" fmla="*/ 2765425 w 2765425"/>
              <a:gd name="connsiteY1" fmla="*/ 0 h 3792538"/>
              <a:gd name="connsiteX2" fmla="*/ 2765425 w 2765425"/>
              <a:gd name="connsiteY2" fmla="*/ 3792538 h 3792538"/>
              <a:gd name="connsiteX3" fmla="*/ 0 w 2765425"/>
              <a:gd name="connsiteY3" fmla="*/ 3792538 h 3792538"/>
            </a:gdLst>
            <a:ahLst/>
            <a:cxnLst>
              <a:cxn ang="0">
                <a:pos x="connsiteX0" y="connsiteY0"/>
              </a:cxn>
              <a:cxn ang="0">
                <a:pos x="connsiteX1" y="connsiteY1"/>
              </a:cxn>
              <a:cxn ang="0">
                <a:pos x="connsiteX2" y="connsiteY2"/>
              </a:cxn>
              <a:cxn ang="0">
                <a:pos x="connsiteX3" y="connsiteY3"/>
              </a:cxn>
            </a:cxnLst>
            <a:rect l="l" t="t" r="r" b="b"/>
            <a:pathLst>
              <a:path w="2765425" h="3792538">
                <a:moveTo>
                  <a:pt x="0" y="0"/>
                </a:moveTo>
                <a:lnTo>
                  <a:pt x="2765425" y="0"/>
                </a:lnTo>
                <a:lnTo>
                  <a:pt x="2765425" y="3792538"/>
                </a:lnTo>
                <a:lnTo>
                  <a:pt x="0" y="3792538"/>
                </a:lnTo>
                <a:close/>
              </a:path>
            </a:pathLst>
          </a:custGeom>
        </p:spPr>
        <p:txBody>
          <a:bodyPr wrap="square">
            <a:noAutofit/>
          </a:bodyPr>
          <a:lstStyle/>
          <a:p>
            <a:endParaRPr lang="en-IN"/>
          </a:p>
        </p:txBody>
      </p:sp>
      <p:sp>
        <p:nvSpPr>
          <p:cNvPr id="18" name="Picture Placeholder 17">
            <a:extLst>
              <a:ext uri="{FF2B5EF4-FFF2-40B4-BE49-F238E27FC236}">
                <a16:creationId xmlns:a16="http://schemas.microsoft.com/office/drawing/2014/main" id="{AADD4239-2D17-2CE2-0E45-A739A6AE2833}"/>
              </a:ext>
            </a:extLst>
          </p:cNvPr>
          <p:cNvSpPr>
            <a:spLocks noGrp="1"/>
          </p:cNvSpPr>
          <p:nvPr>
            <p:ph type="pic" sz="quarter" idx="11"/>
          </p:nvPr>
        </p:nvSpPr>
        <p:spPr>
          <a:xfrm>
            <a:off x="8783637" y="2576993"/>
            <a:ext cx="2765425" cy="3792538"/>
          </a:xfrm>
          <a:custGeom>
            <a:avLst/>
            <a:gdLst>
              <a:gd name="connsiteX0" fmla="*/ 0 w 2765425"/>
              <a:gd name="connsiteY0" fmla="*/ 0 h 3792538"/>
              <a:gd name="connsiteX1" fmla="*/ 2765425 w 2765425"/>
              <a:gd name="connsiteY1" fmla="*/ 0 h 3792538"/>
              <a:gd name="connsiteX2" fmla="*/ 2765425 w 2765425"/>
              <a:gd name="connsiteY2" fmla="*/ 3792538 h 3792538"/>
              <a:gd name="connsiteX3" fmla="*/ 0 w 2765425"/>
              <a:gd name="connsiteY3" fmla="*/ 3792538 h 3792538"/>
            </a:gdLst>
            <a:ahLst/>
            <a:cxnLst>
              <a:cxn ang="0">
                <a:pos x="connsiteX0" y="connsiteY0"/>
              </a:cxn>
              <a:cxn ang="0">
                <a:pos x="connsiteX1" y="connsiteY1"/>
              </a:cxn>
              <a:cxn ang="0">
                <a:pos x="connsiteX2" y="connsiteY2"/>
              </a:cxn>
              <a:cxn ang="0">
                <a:pos x="connsiteX3" y="connsiteY3"/>
              </a:cxn>
            </a:cxnLst>
            <a:rect l="l" t="t" r="r" b="b"/>
            <a:pathLst>
              <a:path w="2765425" h="3792538">
                <a:moveTo>
                  <a:pt x="0" y="0"/>
                </a:moveTo>
                <a:lnTo>
                  <a:pt x="2765425" y="0"/>
                </a:lnTo>
                <a:lnTo>
                  <a:pt x="2765425" y="3792538"/>
                </a:lnTo>
                <a:lnTo>
                  <a:pt x="0" y="3792538"/>
                </a:lnTo>
                <a:close/>
              </a:path>
            </a:pathLst>
          </a:custGeom>
        </p:spPr>
        <p:txBody>
          <a:bodyPr wrap="square">
            <a:noAutofit/>
          </a:bodyPr>
          <a:lstStyle/>
          <a:p>
            <a:endParaRPr lang="en-IN"/>
          </a:p>
        </p:txBody>
      </p:sp>
      <p:sp>
        <p:nvSpPr>
          <p:cNvPr id="19" name="Picture Placeholder 18">
            <a:extLst>
              <a:ext uri="{FF2B5EF4-FFF2-40B4-BE49-F238E27FC236}">
                <a16:creationId xmlns:a16="http://schemas.microsoft.com/office/drawing/2014/main" id="{2EE444BF-0DA9-B077-248C-37D93D609602}"/>
              </a:ext>
            </a:extLst>
          </p:cNvPr>
          <p:cNvSpPr>
            <a:spLocks noGrp="1"/>
          </p:cNvSpPr>
          <p:nvPr>
            <p:ph type="pic" sz="quarter" idx="12"/>
          </p:nvPr>
        </p:nvSpPr>
        <p:spPr>
          <a:xfrm>
            <a:off x="8783637" y="476250"/>
            <a:ext cx="2765425" cy="1908488"/>
          </a:xfrm>
          <a:custGeom>
            <a:avLst/>
            <a:gdLst>
              <a:gd name="connsiteX0" fmla="*/ 0 w 2765425"/>
              <a:gd name="connsiteY0" fmla="*/ 0 h 1908488"/>
              <a:gd name="connsiteX1" fmla="*/ 2765425 w 2765425"/>
              <a:gd name="connsiteY1" fmla="*/ 0 h 1908488"/>
              <a:gd name="connsiteX2" fmla="*/ 2765425 w 2765425"/>
              <a:gd name="connsiteY2" fmla="*/ 1908488 h 1908488"/>
              <a:gd name="connsiteX3" fmla="*/ 0 w 2765425"/>
              <a:gd name="connsiteY3" fmla="*/ 1908488 h 1908488"/>
            </a:gdLst>
            <a:ahLst/>
            <a:cxnLst>
              <a:cxn ang="0">
                <a:pos x="connsiteX0" y="connsiteY0"/>
              </a:cxn>
              <a:cxn ang="0">
                <a:pos x="connsiteX1" y="connsiteY1"/>
              </a:cxn>
              <a:cxn ang="0">
                <a:pos x="connsiteX2" y="connsiteY2"/>
              </a:cxn>
              <a:cxn ang="0">
                <a:pos x="connsiteX3" y="connsiteY3"/>
              </a:cxn>
            </a:cxnLst>
            <a:rect l="l" t="t" r="r" b="b"/>
            <a:pathLst>
              <a:path w="2765425" h="1908488">
                <a:moveTo>
                  <a:pt x="0" y="0"/>
                </a:moveTo>
                <a:lnTo>
                  <a:pt x="2765425" y="0"/>
                </a:lnTo>
                <a:lnTo>
                  <a:pt x="2765425" y="1908488"/>
                </a:lnTo>
                <a:lnTo>
                  <a:pt x="0" y="1908488"/>
                </a:lnTo>
                <a:close/>
              </a:path>
            </a:pathLst>
          </a:custGeom>
        </p:spPr>
        <p:txBody>
          <a:bodyPr wrap="square">
            <a:noAutofit/>
          </a:bodyPr>
          <a:lstStyle/>
          <a:p>
            <a:endParaRPr lang="en-IN"/>
          </a:p>
        </p:txBody>
      </p:sp>
    </p:spTree>
    <p:extLst>
      <p:ext uri="{BB962C8B-B14F-4D97-AF65-F5344CB8AC3E}">
        <p14:creationId xmlns:p14="http://schemas.microsoft.com/office/powerpoint/2010/main" val="39549303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6DDA148-8E7C-CF56-07E4-A89A62101969}"/>
              </a:ext>
            </a:extLst>
          </p:cNvPr>
          <p:cNvSpPr>
            <a:spLocks noGrp="1"/>
          </p:cNvSpPr>
          <p:nvPr>
            <p:ph type="pic" sz="quarter" idx="10"/>
          </p:nvPr>
        </p:nvSpPr>
        <p:spPr>
          <a:xfrm>
            <a:off x="0" y="3429000"/>
            <a:ext cx="3543299" cy="3429000"/>
          </a:xfrm>
          <a:custGeom>
            <a:avLst/>
            <a:gdLst>
              <a:gd name="connsiteX0" fmla="*/ 0 w 3543299"/>
              <a:gd name="connsiteY0" fmla="*/ 0 h 3429000"/>
              <a:gd name="connsiteX1" fmla="*/ 3543299 w 3543299"/>
              <a:gd name="connsiteY1" fmla="*/ 0 h 3429000"/>
              <a:gd name="connsiteX2" fmla="*/ 3543299 w 3543299"/>
              <a:gd name="connsiteY2" fmla="*/ 3429000 h 3429000"/>
              <a:gd name="connsiteX3" fmla="*/ 0 w 3543299"/>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3543299" h="3429000">
                <a:moveTo>
                  <a:pt x="0" y="0"/>
                </a:moveTo>
                <a:lnTo>
                  <a:pt x="3543299" y="0"/>
                </a:lnTo>
                <a:lnTo>
                  <a:pt x="3543299" y="3429000"/>
                </a:lnTo>
                <a:lnTo>
                  <a:pt x="0" y="3429000"/>
                </a:ln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6520CF20-2428-F80D-5702-E0C842F3FE3F}"/>
              </a:ext>
            </a:extLst>
          </p:cNvPr>
          <p:cNvSpPr>
            <a:spLocks noGrp="1"/>
          </p:cNvSpPr>
          <p:nvPr>
            <p:ph type="pic" sz="quarter" idx="11"/>
          </p:nvPr>
        </p:nvSpPr>
        <p:spPr>
          <a:xfrm>
            <a:off x="8647956" y="0"/>
            <a:ext cx="3543299" cy="3429000"/>
          </a:xfrm>
          <a:custGeom>
            <a:avLst/>
            <a:gdLst>
              <a:gd name="connsiteX0" fmla="*/ 0 w 3543299"/>
              <a:gd name="connsiteY0" fmla="*/ 0 h 3429000"/>
              <a:gd name="connsiteX1" fmla="*/ 3543299 w 3543299"/>
              <a:gd name="connsiteY1" fmla="*/ 0 h 3429000"/>
              <a:gd name="connsiteX2" fmla="*/ 3543299 w 3543299"/>
              <a:gd name="connsiteY2" fmla="*/ 3429000 h 3429000"/>
              <a:gd name="connsiteX3" fmla="*/ 0 w 3543299"/>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3543299" h="3429000">
                <a:moveTo>
                  <a:pt x="0" y="0"/>
                </a:moveTo>
                <a:lnTo>
                  <a:pt x="3543299" y="0"/>
                </a:lnTo>
                <a:lnTo>
                  <a:pt x="3543299" y="3429000"/>
                </a:lnTo>
                <a:lnTo>
                  <a:pt x="0" y="3429000"/>
                </a:lnTo>
                <a:close/>
              </a:path>
            </a:pathLst>
          </a:custGeom>
        </p:spPr>
        <p:txBody>
          <a:bodyPr wrap="square">
            <a:noAutofit/>
          </a:bodyPr>
          <a:lstStyle/>
          <a:p>
            <a:endParaRPr lang="en-IN"/>
          </a:p>
        </p:txBody>
      </p:sp>
    </p:spTree>
    <p:extLst>
      <p:ext uri="{BB962C8B-B14F-4D97-AF65-F5344CB8AC3E}">
        <p14:creationId xmlns:p14="http://schemas.microsoft.com/office/powerpoint/2010/main" val="33893174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1DEA75E-6FCB-D0E5-32A9-6B84C14BCF90}"/>
              </a:ext>
            </a:extLst>
          </p:cNvPr>
          <p:cNvSpPr>
            <a:spLocks noGrp="1"/>
          </p:cNvSpPr>
          <p:nvPr>
            <p:ph type="pic" sz="quarter" idx="10"/>
          </p:nvPr>
        </p:nvSpPr>
        <p:spPr>
          <a:xfrm>
            <a:off x="1" y="0"/>
            <a:ext cx="2765425" cy="6858000"/>
          </a:xfrm>
          <a:custGeom>
            <a:avLst/>
            <a:gdLst>
              <a:gd name="connsiteX0" fmla="*/ 0 w 2765425"/>
              <a:gd name="connsiteY0" fmla="*/ 0 h 6858000"/>
              <a:gd name="connsiteX1" fmla="*/ 2765425 w 2765425"/>
              <a:gd name="connsiteY1" fmla="*/ 0 h 6858000"/>
              <a:gd name="connsiteX2" fmla="*/ 2765425 w 2765425"/>
              <a:gd name="connsiteY2" fmla="*/ 6858000 h 6858000"/>
              <a:gd name="connsiteX3" fmla="*/ 0 w 276542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765425" h="6858000">
                <a:moveTo>
                  <a:pt x="0" y="0"/>
                </a:moveTo>
                <a:lnTo>
                  <a:pt x="2765425" y="0"/>
                </a:lnTo>
                <a:lnTo>
                  <a:pt x="2765425" y="6858000"/>
                </a:lnTo>
                <a:lnTo>
                  <a:pt x="0" y="6858000"/>
                </a:lnTo>
                <a:close/>
              </a:path>
            </a:pathLst>
          </a:custGeom>
        </p:spPr>
        <p:txBody>
          <a:bodyPr wrap="square">
            <a:noAutofit/>
          </a:bodyPr>
          <a:lstStyle/>
          <a:p>
            <a:endParaRPr lang="en-IN"/>
          </a:p>
        </p:txBody>
      </p:sp>
    </p:spTree>
    <p:extLst>
      <p:ext uri="{BB962C8B-B14F-4D97-AF65-F5344CB8AC3E}">
        <p14:creationId xmlns:p14="http://schemas.microsoft.com/office/powerpoint/2010/main" val="35605174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2562482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8.jpeg"/><Relationship Id="rId4" Type="http://schemas.openxmlformats.org/officeDocument/2006/relationships/image" Target="../media/image7.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23_76AEBB0.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B_449348FB.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75CF"/>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2E9C32F-8D02-CFC7-549F-67530898E06B}"/>
              </a:ext>
            </a:extLst>
          </p:cNvPr>
          <p:cNvGrpSpPr/>
          <p:nvPr/>
        </p:nvGrpSpPr>
        <p:grpSpPr>
          <a:xfrm>
            <a:off x="742285" y="536745"/>
            <a:ext cx="2110202" cy="2359677"/>
            <a:chOff x="926333" y="909663"/>
            <a:chExt cx="4509235" cy="5042732"/>
          </a:xfrm>
          <a:solidFill>
            <a:srgbClr val="FFB718"/>
          </a:solidFill>
        </p:grpSpPr>
        <p:sp>
          <p:nvSpPr>
            <p:cNvPr id="5" name="Freeform: Shape 4">
              <a:extLst>
                <a:ext uri="{FF2B5EF4-FFF2-40B4-BE49-F238E27FC236}">
                  <a16:creationId xmlns:a16="http://schemas.microsoft.com/office/drawing/2014/main" id="{C9B68030-370F-8D67-AB67-74AA016E5FAF}"/>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9525"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6A2FAC93-0DDC-6DF8-06D4-627F4CE71E61}"/>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9525"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B1E64C6D-A572-2460-045F-2FD76B6119EE}"/>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9525"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04FF7DCD-6583-5ACC-156E-BB7989B8B225}"/>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9525"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CA6B601A-6800-350F-4785-7A00B1973780}"/>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9525"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5F284CF6-9138-44AC-E003-D99131C92252}"/>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9525" cap="flat">
              <a:noFill/>
              <a:prstDash val="solid"/>
              <a:miter/>
            </a:ln>
          </p:spPr>
          <p:txBody>
            <a:bodyPr rtlCol="0" anchor="ctr"/>
            <a:lstStyle/>
            <a:p>
              <a:endParaRPr lang="en-IN"/>
            </a:p>
          </p:txBody>
        </p:sp>
      </p:grpSp>
      <p:sp>
        <p:nvSpPr>
          <p:cNvPr id="12" name="TextBox 11">
            <a:extLst>
              <a:ext uri="{FF2B5EF4-FFF2-40B4-BE49-F238E27FC236}">
                <a16:creationId xmlns:a16="http://schemas.microsoft.com/office/drawing/2014/main" id="{42BBA9E4-675D-7B30-BDFD-3AACAE3A818F}"/>
              </a:ext>
            </a:extLst>
          </p:cNvPr>
          <p:cNvSpPr txBox="1"/>
          <p:nvPr/>
        </p:nvSpPr>
        <p:spPr>
          <a:xfrm>
            <a:off x="3378649" y="905841"/>
            <a:ext cx="8559164" cy="1200329"/>
          </a:xfrm>
          <a:prstGeom prst="rect">
            <a:avLst/>
          </a:prstGeom>
          <a:noFill/>
        </p:spPr>
        <p:txBody>
          <a:bodyPr wrap="square" lIns="91440" tIns="45720" rIns="91440" bIns="45720" rtlCol="0" anchor="t">
            <a:spAutoFit/>
          </a:bodyPr>
          <a:lstStyle/>
          <a:p>
            <a:r>
              <a:rPr lang="en-US" sz="3600" b="1" i="1" dirty="0">
                <a:solidFill>
                  <a:srgbClr val="FFB718"/>
                </a:solidFill>
              </a:rPr>
              <a:t>The Future of Seamless Grocery Shopping</a:t>
            </a:r>
            <a:endParaRPr lang="en-US" dirty="0"/>
          </a:p>
          <a:p>
            <a:endParaRPr lang="en-US" sz="1200" b="1" i="1" dirty="0">
              <a:solidFill>
                <a:srgbClr val="FFB718"/>
              </a:solidFill>
              <a:ea typeface="Calibri"/>
              <a:cs typeface="Calibri"/>
            </a:endParaRPr>
          </a:p>
          <a:p>
            <a:r>
              <a:rPr lang="en-US" sz="2400" b="1" i="1" dirty="0">
                <a:solidFill>
                  <a:srgbClr val="DBAC46"/>
                </a:solidFill>
                <a:ea typeface="Calibri"/>
                <a:cs typeface="Calibri"/>
              </a:rPr>
              <a:t>Revolutionizing Retail with Forecasting and Image Processing</a:t>
            </a:r>
          </a:p>
        </p:txBody>
      </p:sp>
      <p:sp>
        <p:nvSpPr>
          <p:cNvPr id="2" name="TextBox 1">
            <a:extLst>
              <a:ext uri="{FF2B5EF4-FFF2-40B4-BE49-F238E27FC236}">
                <a16:creationId xmlns:a16="http://schemas.microsoft.com/office/drawing/2014/main" id="{9823135E-B770-9572-1334-E47772208C2F}"/>
              </a:ext>
            </a:extLst>
          </p:cNvPr>
          <p:cNvSpPr txBox="1"/>
          <p:nvPr/>
        </p:nvSpPr>
        <p:spPr>
          <a:xfrm>
            <a:off x="8931601" y="5182811"/>
            <a:ext cx="3004951" cy="1477328"/>
          </a:xfrm>
          <a:prstGeom prst="rect">
            <a:avLst/>
          </a:prstGeom>
          <a:noFill/>
        </p:spPr>
        <p:txBody>
          <a:bodyPr wrap="square" lIns="91440" tIns="45720" rIns="91440" bIns="45720" rtlCol="0" anchor="t">
            <a:spAutoFit/>
          </a:bodyPr>
          <a:lstStyle/>
          <a:p>
            <a:r>
              <a:rPr lang="en-US" b="1" i="1">
                <a:solidFill>
                  <a:schemeClr val="bg1"/>
                </a:solidFill>
                <a:ea typeface="Calibri"/>
                <a:cs typeface="Calibri"/>
              </a:rPr>
              <a:t>Selvin Furtado - 220990115</a:t>
            </a:r>
          </a:p>
          <a:p>
            <a:r>
              <a:rPr lang="en-US" b="1" i="1">
                <a:solidFill>
                  <a:schemeClr val="bg1"/>
                </a:solidFill>
                <a:ea typeface="Calibri"/>
                <a:cs typeface="Calibri"/>
              </a:rPr>
              <a:t>Muskan Sekhri - 221195466</a:t>
            </a:r>
          </a:p>
          <a:p>
            <a:r>
              <a:rPr lang="en-US" b="1" i="1">
                <a:solidFill>
                  <a:schemeClr val="bg1"/>
                </a:solidFill>
                <a:ea typeface="Calibri"/>
                <a:cs typeface="Calibri"/>
              </a:rPr>
              <a:t>Eva Wang - 221303458</a:t>
            </a:r>
          </a:p>
          <a:p>
            <a:r>
              <a:rPr lang="en-US" b="1" i="1">
                <a:solidFill>
                  <a:schemeClr val="bg1"/>
                </a:solidFill>
                <a:ea typeface="Calibri"/>
                <a:cs typeface="Calibri"/>
              </a:rPr>
              <a:t>Abhinav Vig - 221189428</a:t>
            </a:r>
          </a:p>
          <a:p>
            <a:r>
              <a:rPr lang="en-US" b="1" i="1">
                <a:solidFill>
                  <a:schemeClr val="bg1"/>
                </a:solidFill>
                <a:ea typeface="Calibri"/>
                <a:cs typeface="Calibri"/>
              </a:rPr>
              <a:t>Neeraj Nagula - 221743265</a:t>
            </a:r>
          </a:p>
        </p:txBody>
      </p:sp>
      <p:pic>
        <p:nvPicPr>
          <p:cNvPr id="3" name="Picture 2" descr="Shopping cart PNG transparent image download, size: 2000x2046px">
            <a:extLst>
              <a:ext uri="{FF2B5EF4-FFF2-40B4-BE49-F238E27FC236}">
                <a16:creationId xmlns:a16="http://schemas.microsoft.com/office/drawing/2014/main" id="{09FB89F1-F40B-3EA8-DA99-50CE569F75A2}"/>
              </a:ext>
            </a:extLst>
          </p:cNvPr>
          <p:cNvPicPr>
            <a:picLocks noChangeAspect="1"/>
          </p:cNvPicPr>
          <p:nvPr/>
        </p:nvPicPr>
        <p:blipFill>
          <a:blip r:embed="rId2"/>
          <a:stretch>
            <a:fillRect/>
          </a:stretch>
        </p:blipFill>
        <p:spPr>
          <a:xfrm>
            <a:off x="2533650" y="3246784"/>
            <a:ext cx="3158835" cy="3234918"/>
          </a:xfrm>
          <a:prstGeom prst="rect">
            <a:avLst/>
          </a:prstGeom>
        </p:spPr>
      </p:pic>
    </p:spTree>
    <p:extLst>
      <p:ext uri="{BB962C8B-B14F-4D97-AF65-F5344CB8AC3E}">
        <p14:creationId xmlns:p14="http://schemas.microsoft.com/office/powerpoint/2010/main" val="110454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029E28E-4214-EA4E-BD65-443769882C63}"/>
              </a:ext>
            </a:extLst>
          </p:cNvPr>
          <p:cNvSpPr/>
          <p:nvPr/>
        </p:nvSpPr>
        <p:spPr>
          <a:xfrm>
            <a:off x="3545" y="0"/>
            <a:ext cx="3878001" cy="6870247"/>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A5B5D1A-A600-38B9-169C-BD439C1F700C}"/>
              </a:ext>
            </a:extLst>
          </p:cNvPr>
          <p:cNvSpPr/>
          <p:nvPr/>
        </p:nvSpPr>
        <p:spPr>
          <a:xfrm>
            <a:off x="4351722" y="1139830"/>
            <a:ext cx="3662346" cy="4252682"/>
          </a:xfrm>
          <a:prstGeom prst="rect">
            <a:avLst/>
          </a:prstGeom>
          <a:solidFill>
            <a:srgbClr val="FFBB29"/>
          </a:solidFill>
          <a:ln>
            <a:solidFill>
              <a:srgbClr val="FFBB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7DD2436-78CF-574E-FC9F-0245BADD8F5B}"/>
              </a:ext>
            </a:extLst>
          </p:cNvPr>
          <p:cNvSpPr/>
          <p:nvPr/>
        </p:nvSpPr>
        <p:spPr>
          <a:xfrm>
            <a:off x="8223335" y="1158184"/>
            <a:ext cx="3662133" cy="4234329"/>
          </a:xfrm>
          <a:prstGeom prst="rect">
            <a:avLst/>
          </a:prstGeom>
          <a:solidFill>
            <a:srgbClr val="FFB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B5D0646D-77FF-A5C9-1D58-3C3DD5DDFF93}"/>
              </a:ext>
            </a:extLst>
          </p:cNvPr>
          <p:cNvSpPr txBox="1"/>
          <p:nvPr/>
        </p:nvSpPr>
        <p:spPr>
          <a:xfrm>
            <a:off x="5500837" y="4098721"/>
            <a:ext cx="1654620" cy="400110"/>
          </a:xfrm>
          <a:prstGeom prst="rect">
            <a:avLst/>
          </a:prstGeom>
          <a:noFill/>
        </p:spPr>
        <p:txBody>
          <a:bodyPr wrap="none" lIns="91440" tIns="45720" rIns="91440" bIns="45720" rtlCol="0" anchor="t">
            <a:spAutoFit/>
          </a:bodyPr>
          <a:lstStyle/>
          <a:p>
            <a:pPr algn="ctr"/>
            <a:r>
              <a:rPr lang="en-IN" sz="2000" dirty="0">
                <a:solidFill>
                  <a:schemeClr val="bg2">
                    <a:lumMod val="10000"/>
                  </a:schemeClr>
                </a:solidFill>
                <a:latin typeface="Noto Sans SemiBold" panose="020B0604020202020204" charset="0"/>
                <a:ea typeface="Noto Sans SemiBold" panose="020B0604020202020204" charset="0"/>
                <a:cs typeface="Noto Sans SemiBold" panose="020B0604020202020204" charset="0"/>
              </a:rPr>
              <a:t>Amazon GO</a:t>
            </a:r>
          </a:p>
        </p:txBody>
      </p:sp>
      <p:sp>
        <p:nvSpPr>
          <p:cNvPr id="19" name="TextBox 18">
            <a:extLst>
              <a:ext uri="{FF2B5EF4-FFF2-40B4-BE49-F238E27FC236}">
                <a16:creationId xmlns:a16="http://schemas.microsoft.com/office/drawing/2014/main" id="{8F7A1BF9-189D-3F0C-6A6D-FA3FFE3512A6}"/>
              </a:ext>
            </a:extLst>
          </p:cNvPr>
          <p:cNvSpPr txBox="1"/>
          <p:nvPr/>
        </p:nvSpPr>
        <p:spPr>
          <a:xfrm>
            <a:off x="9068144" y="4152517"/>
            <a:ext cx="1954381" cy="400110"/>
          </a:xfrm>
          <a:prstGeom prst="rect">
            <a:avLst/>
          </a:prstGeom>
          <a:noFill/>
        </p:spPr>
        <p:txBody>
          <a:bodyPr wrap="none" lIns="91440" tIns="45720" rIns="91440" bIns="45720" rtlCol="0" anchor="t">
            <a:spAutoFit/>
          </a:bodyPr>
          <a:lstStyle/>
          <a:p>
            <a:pPr algn="ctr"/>
            <a:r>
              <a:rPr lang="en-IN" sz="2000" b="1">
                <a:solidFill>
                  <a:schemeClr val="bg2">
                    <a:lumMod val="10000"/>
                  </a:schemeClr>
                </a:solidFill>
                <a:latin typeface="Noto Sans SemiBold"/>
                <a:ea typeface="Noto Sans SemiBold"/>
                <a:cs typeface="Noto Sans SemiBold"/>
              </a:rPr>
              <a:t>Sobeys AI cart</a:t>
            </a:r>
            <a:endParaRPr lang="en-IN" sz="2000" b="1">
              <a:solidFill>
                <a:schemeClr val="bg2">
                  <a:lumMod val="10000"/>
                </a:schemeClr>
              </a:solidFill>
              <a:latin typeface="Noto Sans SemiBold" panose="020B0702040504020204" pitchFamily="34" charset="0"/>
              <a:ea typeface="Noto Sans SemiBold" panose="020B0702040504020204" pitchFamily="34" charset="0"/>
              <a:cs typeface="Noto Sans SemiBold" panose="020B0702040504020204" pitchFamily="34" charset="0"/>
            </a:endParaRPr>
          </a:p>
        </p:txBody>
      </p:sp>
      <p:sp>
        <p:nvSpPr>
          <p:cNvPr id="37" name="TextBox 36">
            <a:extLst>
              <a:ext uri="{FF2B5EF4-FFF2-40B4-BE49-F238E27FC236}">
                <a16:creationId xmlns:a16="http://schemas.microsoft.com/office/drawing/2014/main" id="{D22EF77B-7061-A3B8-303D-3C2A3D8BB90C}"/>
              </a:ext>
            </a:extLst>
          </p:cNvPr>
          <p:cNvSpPr txBox="1"/>
          <p:nvPr/>
        </p:nvSpPr>
        <p:spPr>
          <a:xfrm>
            <a:off x="3906220" y="190143"/>
            <a:ext cx="4106078" cy="584775"/>
          </a:xfrm>
          <a:prstGeom prst="rect">
            <a:avLst/>
          </a:prstGeom>
          <a:noFill/>
        </p:spPr>
        <p:txBody>
          <a:bodyPr wrap="square" lIns="91440" tIns="45720" rIns="91440" bIns="45720" rtlCol="0" anchor="t">
            <a:spAutoFit/>
          </a:bodyPr>
          <a:lstStyle/>
          <a:p>
            <a:r>
              <a:rPr lang="en-US" sz="3200" b="1" i="1" dirty="0">
                <a:solidFill>
                  <a:srgbClr val="FFBB29"/>
                </a:solidFill>
                <a:ea typeface="Calibri"/>
                <a:cs typeface="Calibri"/>
              </a:rPr>
              <a:t>Competitive Landscape</a:t>
            </a:r>
          </a:p>
        </p:txBody>
      </p:sp>
      <p:grpSp>
        <p:nvGrpSpPr>
          <p:cNvPr id="30" name="Group 29">
            <a:extLst>
              <a:ext uri="{FF2B5EF4-FFF2-40B4-BE49-F238E27FC236}">
                <a16:creationId xmlns:a16="http://schemas.microsoft.com/office/drawing/2014/main" id="{41736AF9-7F8F-1A0E-644E-61A4567F2386}"/>
              </a:ext>
            </a:extLst>
          </p:cNvPr>
          <p:cNvGrpSpPr/>
          <p:nvPr/>
        </p:nvGrpSpPr>
        <p:grpSpPr>
          <a:xfrm>
            <a:off x="-666755" y="-830829"/>
            <a:ext cx="2787648" cy="2949891"/>
            <a:chOff x="926333" y="909663"/>
            <a:chExt cx="4509235" cy="5042732"/>
          </a:xfrm>
          <a:noFill/>
        </p:grpSpPr>
        <p:sp>
          <p:nvSpPr>
            <p:cNvPr id="24" name="Freeform: Shape 23">
              <a:extLst>
                <a:ext uri="{FF2B5EF4-FFF2-40B4-BE49-F238E27FC236}">
                  <a16:creationId xmlns:a16="http://schemas.microsoft.com/office/drawing/2014/main" id="{1812247D-3C77-DC67-0DDC-FF2666D5D468}"/>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1"/>
              </a:solid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F9078B9E-5825-AC81-E443-8E20758E08E4}"/>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1"/>
              </a:solid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F1DE8DC2-6641-AF03-3EF7-1F4612C7908F}"/>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1"/>
              </a:solid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D8B08C3F-F7D3-AF57-DD83-1003FF640F4E}"/>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1"/>
              </a:solid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B4960A08-03F2-827B-678A-13DFB96A9CC9}"/>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1"/>
              </a:solid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4545CC7E-69AD-FFEE-FE02-2DDBBF100EF1}"/>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1"/>
              </a:solidFill>
              <a:prstDash val="solid"/>
              <a:miter/>
            </a:ln>
          </p:spPr>
          <p:txBody>
            <a:bodyPr rtlCol="0" anchor="ctr"/>
            <a:lstStyle/>
            <a:p>
              <a:endParaRPr lang="en-IN"/>
            </a:p>
          </p:txBody>
        </p:sp>
      </p:grpSp>
      <p:pic>
        <p:nvPicPr>
          <p:cNvPr id="2" name="Picture 1">
            <a:extLst>
              <a:ext uri="{FF2B5EF4-FFF2-40B4-BE49-F238E27FC236}">
                <a16:creationId xmlns:a16="http://schemas.microsoft.com/office/drawing/2014/main" id="{EB9A4F91-65FD-DB1F-5707-CE4163B8C5A7}"/>
              </a:ext>
            </a:extLst>
          </p:cNvPr>
          <p:cNvPicPr>
            <a:picLocks noChangeAspect="1"/>
          </p:cNvPicPr>
          <p:nvPr/>
        </p:nvPicPr>
        <p:blipFill>
          <a:blip r:embed="rId2"/>
          <a:stretch>
            <a:fillRect/>
          </a:stretch>
        </p:blipFill>
        <p:spPr>
          <a:xfrm>
            <a:off x="4359023" y="1146575"/>
            <a:ext cx="3653275" cy="2711747"/>
          </a:xfrm>
          <a:prstGeom prst="rect">
            <a:avLst/>
          </a:prstGeom>
        </p:spPr>
      </p:pic>
      <p:pic>
        <p:nvPicPr>
          <p:cNvPr id="7" name="Picture Placeholder 6" descr="A person holding a green apple in front of a fruit display&#10;&#10;Description automatically generated">
            <a:extLst>
              <a:ext uri="{FF2B5EF4-FFF2-40B4-BE49-F238E27FC236}">
                <a16:creationId xmlns:a16="http://schemas.microsoft.com/office/drawing/2014/main" id="{B23837F3-BC99-CE3F-6E94-D94ED9C34EB8}"/>
              </a:ext>
            </a:extLst>
          </p:cNvPr>
          <p:cNvPicPr>
            <a:picLocks noGrp="1" noChangeAspect="1"/>
          </p:cNvPicPr>
          <p:nvPr>
            <p:ph type="pic" sz="quarter" idx="10"/>
          </p:nvPr>
        </p:nvPicPr>
        <p:blipFill>
          <a:blip r:embed="rId3"/>
          <a:srcRect l="7040" r="7040"/>
          <a:stretch/>
        </p:blipFill>
        <p:spPr>
          <a:xfrm>
            <a:off x="8223114" y="1149114"/>
            <a:ext cx="3643991" cy="2711867"/>
          </a:xfrm>
        </p:spPr>
      </p:pic>
    </p:spTree>
    <p:extLst>
      <p:ext uri="{BB962C8B-B14F-4D97-AF65-F5344CB8AC3E}">
        <p14:creationId xmlns:p14="http://schemas.microsoft.com/office/powerpoint/2010/main" val="2964318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06FA55-0B78-4DDF-395D-5293F51B6037}"/>
              </a:ext>
            </a:extLst>
          </p:cNvPr>
          <p:cNvSpPr/>
          <p:nvPr/>
        </p:nvSpPr>
        <p:spPr>
          <a:xfrm>
            <a:off x="-76199" y="0"/>
            <a:ext cx="4748857" cy="6924675"/>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3" name="Group 22">
            <a:extLst>
              <a:ext uri="{FF2B5EF4-FFF2-40B4-BE49-F238E27FC236}">
                <a16:creationId xmlns:a16="http://schemas.microsoft.com/office/drawing/2014/main" id="{F9EB4649-BBF2-D8FB-9A8A-5C0482FD51F8}"/>
              </a:ext>
            </a:extLst>
          </p:cNvPr>
          <p:cNvGrpSpPr/>
          <p:nvPr/>
        </p:nvGrpSpPr>
        <p:grpSpPr>
          <a:xfrm>
            <a:off x="-333408" y="-307271"/>
            <a:ext cx="2237873" cy="2161796"/>
            <a:chOff x="926333" y="909663"/>
            <a:chExt cx="4509235" cy="5042732"/>
          </a:xfrm>
          <a:solidFill>
            <a:srgbClr val="FFB718"/>
          </a:solidFill>
        </p:grpSpPr>
        <p:sp>
          <p:nvSpPr>
            <p:cNvPr id="16" name="Freeform: Shape 15">
              <a:extLst>
                <a:ext uri="{FF2B5EF4-FFF2-40B4-BE49-F238E27FC236}">
                  <a16:creationId xmlns:a16="http://schemas.microsoft.com/office/drawing/2014/main" id="{10D1CBE5-4DC1-F255-0833-F35034E62DED}"/>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9525"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60F462A5-32C9-D4E1-9751-C5FC11080582}"/>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9525"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7666F73E-6626-CCF2-FB3E-1AB886635FA7}"/>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9525"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B399DB4-6CB8-5161-E528-96EA9DE11921}"/>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9525"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B5D14A0E-AB44-A54E-46F6-1C387A99B7B4}"/>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B30F53CC-ACC1-A47D-E23F-6EB4EB1D6429}"/>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9525" cap="flat">
              <a:noFill/>
              <a:prstDash val="solid"/>
              <a:miter/>
            </a:ln>
          </p:spPr>
          <p:txBody>
            <a:bodyPr rtlCol="0" anchor="ctr"/>
            <a:lstStyle/>
            <a:p>
              <a:endParaRPr lang="en-IN"/>
            </a:p>
          </p:txBody>
        </p:sp>
      </p:grpSp>
      <p:sp>
        <p:nvSpPr>
          <p:cNvPr id="26" name="TextBox 25">
            <a:extLst>
              <a:ext uri="{FF2B5EF4-FFF2-40B4-BE49-F238E27FC236}">
                <a16:creationId xmlns:a16="http://schemas.microsoft.com/office/drawing/2014/main" id="{592F8F9A-2BAE-FAE9-DFEF-4159E6A532B9}"/>
              </a:ext>
            </a:extLst>
          </p:cNvPr>
          <p:cNvSpPr txBox="1"/>
          <p:nvPr/>
        </p:nvSpPr>
        <p:spPr>
          <a:xfrm>
            <a:off x="4672418" y="445522"/>
            <a:ext cx="334130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i="1" dirty="0">
                <a:solidFill>
                  <a:srgbClr val="FFBB29"/>
                </a:solidFill>
                <a:ea typeface="Calibri"/>
                <a:cs typeface="Calibri"/>
              </a:rPr>
              <a:t>Business Model </a:t>
            </a:r>
            <a:endParaRPr lang="en-US" sz="3600" i="1" dirty="0">
              <a:solidFill>
                <a:srgbClr val="FFBB29"/>
              </a:solidFill>
              <a:ea typeface="Calibri" panose="020F0502020204030204"/>
              <a:cs typeface="Calibri" panose="020F0502020204030204"/>
            </a:endParaRPr>
          </a:p>
        </p:txBody>
      </p:sp>
      <p:graphicFrame>
        <p:nvGraphicFramePr>
          <p:cNvPr id="28" name="TextBox 12">
            <a:extLst>
              <a:ext uri="{FF2B5EF4-FFF2-40B4-BE49-F238E27FC236}">
                <a16:creationId xmlns:a16="http://schemas.microsoft.com/office/drawing/2014/main" id="{68BC2E96-AA37-9F36-9F62-692D4BDDECE8}"/>
              </a:ext>
            </a:extLst>
          </p:cNvPr>
          <p:cNvGraphicFramePr/>
          <p:nvPr>
            <p:extLst>
              <p:ext uri="{D42A27DB-BD31-4B8C-83A1-F6EECF244321}">
                <p14:modId xmlns:p14="http://schemas.microsoft.com/office/powerpoint/2010/main" val="4194365556"/>
              </p:ext>
            </p:extLst>
          </p:nvPr>
        </p:nvGraphicFramePr>
        <p:xfrm>
          <a:off x="4799801" y="1710643"/>
          <a:ext cx="6848457" cy="41817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8" name="Picture 37" descr="A person holding a phone in a store&#10;&#10;Description automatically generated">
            <a:extLst>
              <a:ext uri="{FF2B5EF4-FFF2-40B4-BE49-F238E27FC236}">
                <a16:creationId xmlns:a16="http://schemas.microsoft.com/office/drawing/2014/main" id="{3E30FEB5-811E-EA35-9837-70CAE0CAF7B0}"/>
              </a:ext>
            </a:extLst>
          </p:cNvPr>
          <p:cNvPicPr>
            <a:picLocks noChangeAspect="1"/>
          </p:cNvPicPr>
          <p:nvPr/>
        </p:nvPicPr>
        <p:blipFill>
          <a:blip r:embed="rId7"/>
          <a:srcRect l="1144" t="22300" r="2288" b="-235"/>
          <a:stretch/>
        </p:blipFill>
        <p:spPr>
          <a:xfrm>
            <a:off x="-69997" y="2074985"/>
            <a:ext cx="4743287" cy="3713836"/>
          </a:xfrm>
          <a:prstGeom prst="rect">
            <a:avLst/>
          </a:prstGeom>
        </p:spPr>
      </p:pic>
    </p:spTree>
    <p:extLst>
      <p:ext uri="{BB962C8B-B14F-4D97-AF65-F5344CB8AC3E}">
        <p14:creationId xmlns:p14="http://schemas.microsoft.com/office/powerpoint/2010/main" val="948899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93F505-8C51-9058-C7FA-52CA7C681E8A}"/>
              </a:ext>
            </a:extLst>
          </p:cNvPr>
          <p:cNvSpPr/>
          <p:nvPr/>
        </p:nvSpPr>
        <p:spPr>
          <a:xfrm>
            <a:off x="-7076" y="1"/>
            <a:ext cx="12199076" cy="6859489"/>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85628C6E-719F-4A30-8CDE-CE273F07037C}"/>
              </a:ext>
            </a:extLst>
          </p:cNvPr>
          <p:cNvGrpSpPr/>
          <p:nvPr/>
        </p:nvGrpSpPr>
        <p:grpSpPr>
          <a:xfrm>
            <a:off x="9780992" y="5012489"/>
            <a:ext cx="2690190" cy="2595474"/>
            <a:chOff x="926333" y="909663"/>
            <a:chExt cx="4509235" cy="5042732"/>
          </a:xfrm>
          <a:noFill/>
        </p:grpSpPr>
        <p:sp>
          <p:nvSpPr>
            <p:cNvPr id="11" name="Freeform: Shape 10">
              <a:extLst>
                <a:ext uri="{FF2B5EF4-FFF2-40B4-BE49-F238E27FC236}">
                  <a16:creationId xmlns:a16="http://schemas.microsoft.com/office/drawing/2014/main" id="{41E2C45F-C4A8-150E-718B-309B8482E397}"/>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0A3717AF-E311-9983-B996-2DD04522D962}"/>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5977909F-7240-2D73-AC9B-C2082ADD8A44}"/>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C09D2996-843A-B87E-8303-6AE7BEED06DD}"/>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794C299-8827-164F-5FCB-68DC4A6DC3B6}"/>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0CBF2216-D4E5-AB65-AE11-799D299FEC3F}"/>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2">
                  <a:lumMod val="10000"/>
                </a:schemeClr>
              </a:solidFill>
              <a:prstDash val="solid"/>
              <a:miter/>
            </a:ln>
          </p:spPr>
          <p:txBody>
            <a:bodyPr rtlCol="0" anchor="ctr"/>
            <a:lstStyle/>
            <a:p>
              <a:endParaRPr lang="en-IN"/>
            </a:p>
          </p:txBody>
        </p:sp>
      </p:grpSp>
      <p:sp>
        <p:nvSpPr>
          <p:cNvPr id="8" name="TextBox 7">
            <a:extLst>
              <a:ext uri="{FF2B5EF4-FFF2-40B4-BE49-F238E27FC236}">
                <a16:creationId xmlns:a16="http://schemas.microsoft.com/office/drawing/2014/main" id="{D6E59520-7467-A5FA-0F0B-F9731CF01972}"/>
              </a:ext>
            </a:extLst>
          </p:cNvPr>
          <p:cNvSpPr txBox="1"/>
          <p:nvPr/>
        </p:nvSpPr>
        <p:spPr>
          <a:xfrm>
            <a:off x="4767270" y="160517"/>
            <a:ext cx="2750881" cy="584775"/>
          </a:xfrm>
          <a:prstGeom prst="rect">
            <a:avLst/>
          </a:prstGeom>
          <a:noFill/>
        </p:spPr>
        <p:txBody>
          <a:bodyPr wrap="none" lIns="91440" tIns="45720" rIns="91440" bIns="45720" rtlCol="0" anchor="t">
            <a:spAutoFit/>
          </a:bodyPr>
          <a:lstStyle/>
          <a:p>
            <a:r>
              <a:rPr lang="en-US" sz="3200" b="1" i="1"/>
              <a:t>Why Walmart?</a:t>
            </a:r>
            <a:endParaRPr lang="en-IN" sz="3200" b="1" i="1">
              <a:latin typeface="Noto Sans SemiBold" panose="020B0702040504020204" pitchFamily="34" charset="0"/>
              <a:ea typeface="Noto Sans SemiBold" panose="020B0702040504020204" pitchFamily="34" charset="0"/>
              <a:cs typeface="Noto Sans SemiBold" panose="020B0702040504020204" pitchFamily="34" charset="0"/>
            </a:endParaRPr>
          </a:p>
        </p:txBody>
      </p:sp>
      <p:sp>
        <p:nvSpPr>
          <p:cNvPr id="7" name="Rectangle 1">
            <a:extLst>
              <a:ext uri="{FF2B5EF4-FFF2-40B4-BE49-F238E27FC236}">
                <a16:creationId xmlns:a16="http://schemas.microsoft.com/office/drawing/2014/main" id="{8C568548-EA5C-A275-3B5E-1A3EFBD841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7" name="Rectangle 2">
            <a:extLst>
              <a:ext uri="{FF2B5EF4-FFF2-40B4-BE49-F238E27FC236}">
                <a16:creationId xmlns:a16="http://schemas.microsoft.com/office/drawing/2014/main" id="{5DC885E5-5BCD-C39C-BE6E-69BD3FFF0179}"/>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6" name="Rectangle 25">
            <a:extLst>
              <a:ext uri="{FF2B5EF4-FFF2-40B4-BE49-F238E27FC236}">
                <a16:creationId xmlns:a16="http://schemas.microsoft.com/office/drawing/2014/main" id="{D23BD8EE-AC0A-57DC-CA90-19A9A675240E}"/>
              </a:ext>
            </a:extLst>
          </p:cNvPr>
          <p:cNvSpPr/>
          <p:nvPr/>
        </p:nvSpPr>
        <p:spPr>
          <a:xfrm>
            <a:off x="7847609" y="1423576"/>
            <a:ext cx="3377755" cy="37740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CA458748-8826-AED0-6665-9D7C7226C3EF}"/>
              </a:ext>
            </a:extLst>
          </p:cNvPr>
          <p:cNvSpPr txBox="1"/>
          <p:nvPr/>
        </p:nvSpPr>
        <p:spPr>
          <a:xfrm>
            <a:off x="8053902" y="4377740"/>
            <a:ext cx="2965166" cy="422039"/>
          </a:xfrm>
          <a:prstGeom prst="rect">
            <a:avLst/>
          </a:prstGeom>
          <a:noFill/>
        </p:spPr>
        <p:txBody>
          <a:bodyPr wrap="square" lIns="91440" tIns="45720" rIns="91440" bIns="45720" rtlCol="0" anchor="t">
            <a:spAutoFit/>
          </a:bodyPr>
          <a:lstStyle/>
          <a:p>
            <a:pPr algn="ctr">
              <a:lnSpc>
                <a:spcPct val="130000"/>
              </a:lnSpc>
            </a:pPr>
            <a:r>
              <a:rPr lang="en-US" b="1">
                <a:solidFill>
                  <a:schemeClr val="bg2">
                    <a:lumMod val="10000"/>
                  </a:schemeClr>
                </a:solidFill>
                <a:latin typeface="Noto Sans"/>
                <a:ea typeface="Noto Sans"/>
                <a:cs typeface="Noto Sans"/>
              </a:rPr>
              <a:t>Long Checkout Lines </a:t>
            </a:r>
            <a:endParaRPr lang="en-US" b="1">
              <a:solidFill>
                <a:schemeClr val="bg2">
                  <a:lumMod val="10000"/>
                </a:schemeClr>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33" name="Picture Placeholder 35" descr="People in a grocery store&#10;&#10;Description automatically generated">
            <a:extLst>
              <a:ext uri="{FF2B5EF4-FFF2-40B4-BE49-F238E27FC236}">
                <a16:creationId xmlns:a16="http://schemas.microsoft.com/office/drawing/2014/main" id="{84DEB8C0-76DD-3AEF-8483-8DF126B18FB4}"/>
              </a:ext>
            </a:extLst>
          </p:cNvPr>
          <p:cNvPicPr>
            <a:picLocks noChangeAspect="1"/>
          </p:cNvPicPr>
          <p:nvPr/>
        </p:nvPicPr>
        <p:blipFill>
          <a:blip r:embed="rId2">
            <a:extLst>
              <a:ext uri="{28A0092B-C50C-407E-A947-70E740481C1C}">
                <a14:useLocalDpi xmlns:a14="http://schemas.microsoft.com/office/drawing/2010/main" val="0"/>
              </a:ext>
            </a:extLst>
          </a:blip>
          <a:srcRect l="13320" t="671" r="13127" b="-725"/>
          <a:stretch/>
        </p:blipFill>
        <p:spPr>
          <a:xfrm>
            <a:off x="7853514" y="1423403"/>
            <a:ext cx="3368141" cy="2660310"/>
          </a:xfrm>
          <a:custGeom>
            <a:avLst/>
            <a:gdLst>
              <a:gd name="connsiteX0" fmla="*/ 0 w 2765425"/>
              <a:gd name="connsiteY0" fmla="*/ 0 h 3792538"/>
              <a:gd name="connsiteX1" fmla="*/ 2765425 w 2765425"/>
              <a:gd name="connsiteY1" fmla="*/ 0 h 3792538"/>
              <a:gd name="connsiteX2" fmla="*/ 2765425 w 2765425"/>
              <a:gd name="connsiteY2" fmla="*/ 3792538 h 3792538"/>
              <a:gd name="connsiteX3" fmla="*/ 0 w 2765425"/>
              <a:gd name="connsiteY3" fmla="*/ 3792538 h 3792538"/>
            </a:gdLst>
            <a:ahLst/>
            <a:cxnLst>
              <a:cxn ang="0">
                <a:pos x="connsiteX0" y="connsiteY0"/>
              </a:cxn>
              <a:cxn ang="0">
                <a:pos x="connsiteX1" y="connsiteY1"/>
              </a:cxn>
              <a:cxn ang="0">
                <a:pos x="connsiteX2" y="connsiteY2"/>
              </a:cxn>
              <a:cxn ang="0">
                <a:pos x="connsiteX3" y="connsiteY3"/>
              </a:cxn>
            </a:cxnLst>
            <a:rect l="l" t="t" r="r" b="b"/>
            <a:pathLst>
              <a:path w="2765425" h="3792538">
                <a:moveTo>
                  <a:pt x="0" y="0"/>
                </a:moveTo>
                <a:lnTo>
                  <a:pt x="2765425" y="0"/>
                </a:lnTo>
                <a:lnTo>
                  <a:pt x="2765425" y="3792538"/>
                </a:lnTo>
                <a:lnTo>
                  <a:pt x="0" y="3792538"/>
                </a:lnTo>
                <a:close/>
              </a:path>
            </a:pathLst>
          </a:custGeom>
        </p:spPr>
      </p:pic>
      <p:sp>
        <p:nvSpPr>
          <p:cNvPr id="36" name="Rectangle 35">
            <a:extLst>
              <a:ext uri="{FF2B5EF4-FFF2-40B4-BE49-F238E27FC236}">
                <a16:creationId xmlns:a16="http://schemas.microsoft.com/office/drawing/2014/main" id="{FDAB1573-B112-A7FC-DA19-F687AC941DCE}"/>
              </a:ext>
            </a:extLst>
          </p:cNvPr>
          <p:cNvSpPr/>
          <p:nvPr/>
        </p:nvSpPr>
        <p:spPr>
          <a:xfrm>
            <a:off x="4149840" y="1420625"/>
            <a:ext cx="3371849" cy="37769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9CFE7FD5-9599-E202-86B9-E3AEB04FCE4F}"/>
              </a:ext>
            </a:extLst>
          </p:cNvPr>
          <p:cNvSpPr txBox="1"/>
          <p:nvPr/>
        </p:nvSpPr>
        <p:spPr>
          <a:xfrm>
            <a:off x="4220273" y="4377740"/>
            <a:ext cx="2965166" cy="422039"/>
          </a:xfrm>
          <a:prstGeom prst="rect">
            <a:avLst/>
          </a:prstGeom>
          <a:noFill/>
        </p:spPr>
        <p:txBody>
          <a:bodyPr wrap="square" lIns="91440" tIns="45720" rIns="91440" bIns="45720" rtlCol="0" anchor="t">
            <a:spAutoFit/>
          </a:bodyPr>
          <a:lstStyle/>
          <a:p>
            <a:pPr algn="ctr">
              <a:lnSpc>
                <a:spcPct val="130000"/>
              </a:lnSpc>
            </a:pPr>
            <a:r>
              <a:rPr lang="en-US" b="1" dirty="0">
                <a:solidFill>
                  <a:schemeClr val="bg2">
                    <a:lumMod val="10000"/>
                  </a:schemeClr>
                </a:solidFill>
                <a:latin typeface="Noto Sans"/>
                <a:ea typeface="Noto Sans"/>
                <a:cs typeface="Noto Sans"/>
              </a:rPr>
              <a:t> Misallocated Product </a:t>
            </a:r>
            <a:endParaRPr lang="en-US" b="1" dirty="0">
              <a:solidFill>
                <a:schemeClr val="bg2">
                  <a:lumMod val="10000"/>
                </a:schemeClr>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24" name="Picture 23" descr="A shelf with notebooks and a watermelon&#10;&#10;Description automatically generated">
            <a:extLst>
              <a:ext uri="{FF2B5EF4-FFF2-40B4-BE49-F238E27FC236}">
                <a16:creationId xmlns:a16="http://schemas.microsoft.com/office/drawing/2014/main" id="{B14CCFAA-A7A1-8F05-CE7C-92AAD5EAC5C0}"/>
              </a:ext>
            </a:extLst>
          </p:cNvPr>
          <p:cNvPicPr>
            <a:picLocks noChangeAspect="1"/>
          </p:cNvPicPr>
          <p:nvPr/>
        </p:nvPicPr>
        <p:blipFill>
          <a:blip r:embed="rId3"/>
          <a:stretch>
            <a:fillRect/>
          </a:stretch>
        </p:blipFill>
        <p:spPr>
          <a:xfrm>
            <a:off x="4152351" y="1415271"/>
            <a:ext cx="3365798" cy="2638055"/>
          </a:xfrm>
          <a:prstGeom prst="rect">
            <a:avLst/>
          </a:prstGeom>
        </p:spPr>
      </p:pic>
      <p:sp>
        <p:nvSpPr>
          <p:cNvPr id="30" name="TextBox 29">
            <a:extLst>
              <a:ext uri="{FF2B5EF4-FFF2-40B4-BE49-F238E27FC236}">
                <a16:creationId xmlns:a16="http://schemas.microsoft.com/office/drawing/2014/main" id="{BDEFEF38-8F73-5CC5-C2B0-BF909055AB50}"/>
              </a:ext>
            </a:extLst>
          </p:cNvPr>
          <p:cNvSpPr txBox="1"/>
          <p:nvPr/>
        </p:nvSpPr>
        <p:spPr>
          <a:xfrm>
            <a:off x="741064" y="4377739"/>
            <a:ext cx="2965166" cy="422039"/>
          </a:xfrm>
          <a:prstGeom prst="rect">
            <a:avLst/>
          </a:prstGeom>
          <a:noFill/>
        </p:spPr>
        <p:txBody>
          <a:bodyPr wrap="square" lIns="91440" tIns="45720" rIns="91440" bIns="45720" rtlCol="0" anchor="t">
            <a:spAutoFit/>
          </a:bodyPr>
          <a:lstStyle/>
          <a:p>
            <a:pPr algn="ctr">
              <a:lnSpc>
                <a:spcPct val="130000"/>
              </a:lnSpc>
            </a:pPr>
            <a:r>
              <a:rPr lang="en-US">
                <a:solidFill>
                  <a:schemeClr val="bg2">
                    <a:lumMod val="10000"/>
                  </a:schemeClr>
                </a:solidFill>
                <a:latin typeface="Noto Sans"/>
                <a:ea typeface="Noto Sans"/>
                <a:cs typeface="Noto Sans"/>
              </a:rPr>
              <a:t>In App Scanner</a:t>
            </a:r>
            <a:endParaRPr lang="en-US">
              <a:solidFill>
                <a:schemeClr val="bg2">
                  <a:lumMod val="10000"/>
                </a:schemeClr>
              </a:solidFill>
              <a:latin typeface="Noto Sans" panose="020B0502040504020204" pitchFamily="34" charset="0"/>
              <a:ea typeface="Noto Sans" panose="020B0502040504020204" pitchFamily="34" charset="0"/>
              <a:cs typeface="Noto Sans" panose="020B0502040504020204" pitchFamily="34" charset="0"/>
            </a:endParaRPr>
          </a:p>
        </p:txBody>
      </p:sp>
      <p:pic>
        <p:nvPicPr>
          <p:cNvPr id="32" name="Picture 31" descr="A person standing in front of many question marks&#10;&#10;Description automatically generated">
            <a:extLst>
              <a:ext uri="{FF2B5EF4-FFF2-40B4-BE49-F238E27FC236}">
                <a16:creationId xmlns:a16="http://schemas.microsoft.com/office/drawing/2014/main" id="{7A6123E4-E9DC-DC69-79DF-85A9BFD2E6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36224" y="9623"/>
            <a:ext cx="1207119" cy="1197240"/>
          </a:xfrm>
          <a:prstGeom prst="rect">
            <a:avLst/>
          </a:prstGeom>
        </p:spPr>
      </p:pic>
      <p:sp>
        <p:nvSpPr>
          <p:cNvPr id="34" name="Rectangle 33">
            <a:extLst>
              <a:ext uri="{FF2B5EF4-FFF2-40B4-BE49-F238E27FC236}">
                <a16:creationId xmlns:a16="http://schemas.microsoft.com/office/drawing/2014/main" id="{F7F048D7-4D72-22BE-5641-4FD123A82824}"/>
              </a:ext>
            </a:extLst>
          </p:cNvPr>
          <p:cNvSpPr/>
          <p:nvPr/>
        </p:nvSpPr>
        <p:spPr>
          <a:xfrm>
            <a:off x="534770" y="1414718"/>
            <a:ext cx="3371849" cy="37769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5" name="Picture 34" descr="Barcode Scanner for Walmart - - Apps on Google Play">
            <a:extLst>
              <a:ext uri="{FF2B5EF4-FFF2-40B4-BE49-F238E27FC236}">
                <a16:creationId xmlns:a16="http://schemas.microsoft.com/office/drawing/2014/main" id="{3ED5087C-F3CC-B0DD-E820-B36C9B39878F}"/>
              </a:ext>
            </a:extLst>
          </p:cNvPr>
          <p:cNvPicPr>
            <a:picLocks noChangeAspect="1"/>
          </p:cNvPicPr>
          <p:nvPr/>
        </p:nvPicPr>
        <p:blipFill>
          <a:blip r:embed="rId5"/>
          <a:stretch>
            <a:fillRect/>
          </a:stretch>
        </p:blipFill>
        <p:spPr>
          <a:xfrm>
            <a:off x="532888" y="1416711"/>
            <a:ext cx="3380488" cy="2658804"/>
          </a:xfrm>
          <a:prstGeom prst="rect">
            <a:avLst/>
          </a:prstGeom>
        </p:spPr>
      </p:pic>
      <p:sp>
        <p:nvSpPr>
          <p:cNvPr id="40" name="TextBox 39">
            <a:extLst>
              <a:ext uri="{FF2B5EF4-FFF2-40B4-BE49-F238E27FC236}">
                <a16:creationId xmlns:a16="http://schemas.microsoft.com/office/drawing/2014/main" id="{8F968312-5448-1141-C4D5-FA36546F58D1}"/>
              </a:ext>
            </a:extLst>
          </p:cNvPr>
          <p:cNvSpPr txBox="1"/>
          <p:nvPr/>
        </p:nvSpPr>
        <p:spPr>
          <a:xfrm>
            <a:off x="735156" y="4377740"/>
            <a:ext cx="2965166" cy="422039"/>
          </a:xfrm>
          <a:prstGeom prst="rect">
            <a:avLst/>
          </a:prstGeom>
          <a:noFill/>
        </p:spPr>
        <p:txBody>
          <a:bodyPr wrap="square" lIns="91440" tIns="45720" rIns="91440" bIns="45720" rtlCol="0" anchor="t">
            <a:spAutoFit/>
          </a:bodyPr>
          <a:lstStyle/>
          <a:p>
            <a:pPr algn="ctr">
              <a:lnSpc>
                <a:spcPct val="130000"/>
              </a:lnSpc>
            </a:pPr>
            <a:r>
              <a:rPr lang="en-US" b="1" dirty="0">
                <a:solidFill>
                  <a:schemeClr val="bg2">
                    <a:lumMod val="10000"/>
                  </a:schemeClr>
                </a:solidFill>
                <a:latin typeface="Noto Sans"/>
                <a:ea typeface="Noto Sans"/>
                <a:cs typeface="Noto Sans"/>
              </a:rPr>
              <a:t>In App Scanners</a:t>
            </a:r>
            <a:endParaRPr lang="en-US" b="1" dirty="0">
              <a:solidFill>
                <a:schemeClr val="bg2">
                  <a:lumMod val="10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269053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0780B4F-476C-B4E9-D609-739FF3982368}"/>
              </a:ext>
            </a:extLst>
          </p:cNvPr>
          <p:cNvSpPr/>
          <p:nvPr/>
        </p:nvSpPr>
        <p:spPr>
          <a:xfrm>
            <a:off x="-1699" y="-1180"/>
            <a:ext cx="2225750" cy="6860881"/>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32EB01C-3459-6CC4-7CD6-6B6EA0160CE3}"/>
              </a:ext>
            </a:extLst>
          </p:cNvPr>
          <p:cNvSpPr txBox="1"/>
          <p:nvPr/>
        </p:nvSpPr>
        <p:spPr>
          <a:xfrm>
            <a:off x="2401371" y="428306"/>
            <a:ext cx="10686618" cy="646331"/>
          </a:xfrm>
          <a:prstGeom prst="rect">
            <a:avLst/>
          </a:prstGeom>
          <a:noFill/>
        </p:spPr>
        <p:txBody>
          <a:bodyPr wrap="square" lIns="91440" tIns="45720" rIns="91440" bIns="45720" rtlCol="0" anchor="t">
            <a:spAutoFit/>
          </a:bodyPr>
          <a:lstStyle/>
          <a:p>
            <a:r>
              <a:rPr lang="en-US" sz="3600" b="1" i="1" dirty="0">
                <a:solidFill>
                  <a:srgbClr val="FFBB29"/>
                </a:solidFill>
                <a:ea typeface="+mn-lt"/>
                <a:cs typeface="+mn-lt"/>
              </a:rPr>
              <a:t>Data Target</a:t>
            </a:r>
            <a:endParaRPr lang="en-US" b="1" i="1" dirty="0">
              <a:solidFill>
                <a:srgbClr val="FFBB29"/>
              </a:solidFill>
              <a:ea typeface="Calibri"/>
              <a:cs typeface="Calibri"/>
            </a:endParaRPr>
          </a:p>
        </p:txBody>
      </p:sp>
      <p:grpSp>
        <p:nvGrpSpPr>
          <p:cNvPr id="10" name="Group 9">
            <a:extLst>
              <a:ext uri="{FF2B5EF4-FFF2-40B4-BE49-F238E27FC236}">
                <a16:creationId xmlns:a16="http://schemas.microsoft.com/office/drawing/2014/main" id="{0C348879-D638-DC96-D766-4C5E6C785AEF}"/>
              </a:ext>
            </a:extLst>
          </p:cNvPr>
          <p:cNvGrpSpPr/>
          <p:nvPr/>
        </p:nvGrpSpPr>
        <p:grpSpPr>
          <a:xfrm>
            <a:off x="-925513" y="4249171"/>
            <a:ext cx="3168652" cy="3543542"/>
            <a:chOff x="926333" y="909663"/>
            <a:chExt cx="4509235" cy="5042732"/>
          </a:xfrm>
          <a:noFill/>
        </p:grpSpPr>
        <p:sp>
          <p:nvSpPr>
            <p:cNvPr id="11" name="Freeform: Shape 10">
              <a:extLst>
                <a:ext uri="{FF2B5EF4-FFF2-40B4-BE49-F238E27FC236}">
                  <a16:creationId xmlns:a16="http://schemas.microsoft.com/office/drawing/2014/main" id="{D098F7D5-FF39-07A0-84F8-474FDC701B52}"/>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E66FB8F-09B5-BB11-39BF-AD6C28C2390F}"/>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F01B35B7-6DC0-E491-5510-27C774BF63DE}"/>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79DEE669-3FF2-B4D2-ABAD-583092E7388E}"/>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D04F211C-5FF6-983C-0A32-C8087EEAD7EA}"/>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474F3E11-B8D2-8FFE-55D0-05D26DE5B3F3}"/>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2">
                  <a:lumMod val="25000"/>
                </a:schemeClr>
              </a:solidFill>
              <a:prstDash val="solid"/>
              <a:miter/>
            </a:ln>
          </p:spPr>
          <p:txBody>
            <a:bodyPr rtlCol="0" anchor="ctr"/>
            <a:lstStyle/>
            <a:p>
              <a:endParaRPr lang="en-IN"/>
            </a:p>
          </p:txBody>
        </p:sp>
      </p:grpSp>
      <p:sp>
        <p:nvSpPr>
          <p:cNvPr id="2" name="文本框 1">
            <a:extLst>
              <a:ext uri="{FF2B5EF4-FFF2-40B4-BE49-F238E27FC236}">
                <a16:creationId xmlns:a16="http://schemas.microsoft.com/office/drawing/2014/main" id="{DCA43FAB-2792-4A5F-1D12-5C9973EF28E6}"/>
              </a:ext>
            </a:extLst>
          </p:cNvPr>
          <p:cNvSpPr txBox="1"/>
          <p:nvPr/>
        </p:nvSpPr>
        <p:spPr>
          <a:xfrm>
            <a:off x="2563037" y="1417084"/>
            <a:ext cx="929905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b="1" dirty="0">
                <a:ea typeface="+mn-lt"/>
                <a:cs typeface="+mn-lt"/>
              </a:rPr>
              <a:t>Objective:</a:t>
            </a:r>
            <a:endParaRPr lang="zh-CN" b="1" dirty="0"/>
          </a:p>
          <a:p>
            <a:pPr marL="285750" indent="-285750">
              <a:buFont typeface="Arial"/>
              <a:buChar char="•"/>
            </a:pPr>
            <a:r>
              <a:rPr lang="zh-CN" dirty="0">
                <a:ea typeface="+mn-lt"/>
                <a:cs typeface="+mn-lt"/>
              </a:rPr>
              <a:t>Use historical consumption data to predict the next consumption amount of each customer.</a:t>
            </a:r>
            <a:endParaRPr lang="zh-CN" altLang="en-US" dirty="0">
              <a:ea typeface="等线" panose="02010600030101010101" pitchFamily="2" charset="-122"/>
              <a:cs typeface="+mn-lt"/>
            </a:endParaRPr>
          </a:p>
          <a:p>
            <a:pPr marL="285750" indent="-285750">
              <a:buFont typeface="Arial"/>
              <a:buChar char="•"/>
            </a:pPr>
            <a:r>
              <a:rPr lang="zh-CN" dirty="0">
                <a:ea typeface="+mn-lt"/>
                <a:cs typeface="+mn-lt"/>
              </a:rPr>
              <a:t>Help optimize inventory management, personalized promotions, and improve customer satisfaction.</a:t>
            </a:r>
            <a:endParaRPr lang="zh-CN" dirty="0">
              <a:ea typeface="等线" panose="02010600030101010101" pitchFamily="2" charset="-122"/>
              <a:cs typeface="+mn-lt"/>
            </a:endParaRPr>
          </a:p>
          <a:p>
            <a:pPr marL="285750" indent="-285750">
              <a:buFont typeface="Arial"/>
              <a:buChar char="•"/>
            </a:pPr>
            <a:endParaRPr lang="zh-CN" altLang="en-US" dirty="0">
              <a:ea typeface="+mn-lt"/>
              <a:cs typeface="+mn-lt"/>
            </a:endParaRPr>
          </a:p>
          <a:p>
            <a:r>
              <a:rPr lang="en-US" altLang="zh-CN" b="1" dirty="0">
                <a:ea typeface="+mn-lt"/>
                <a:cs typeface="+mn-lt"/>
              </a:rPr>
              <a:t>Data</a:t>
            </a:r>
            <a:r>
              <a:rPr lang="zh-CN" altLang="en-US" b="1" dirty="0">
                <a:ea typeface="+mn-lt"/>
                <a:cs typeface="+mn-lt"/>
              </a:rPr>
              <a:t> </a:t>
            </a:r>
            <a:r>
              <a:rPr lang="en-US" altLang="zh-CN" b="1" dirty="0">
                <a:ea typeface="+mn-lt"/>
                <a:cs typeface="+mn-lt"/>
              </a:rPr>
              <a:t>Description:</a:t>
            </a:r>
            <a:endParaRPr lang="zh-CN" altLang="en-US" b="1" dirty="0"/>
          </a:p>
          <a:p>
            <a:pPr marL="285750" indent="-285750">
              <a:buFont typeface="Arial"/>
              <a:buChar char="•"/>
            </a:pPr>
            <a:r>
              <a:rPr lang="en-US" dirty="0">
                <a:ea typeface="+mn-lt"/>
                <a:cs typeface="+mn-lt"/>
              </a:rPr>
              <a:t>The</a:t>
            </a:r>
            <a:r>
              <a:rPr lang="en-US" altLang="zh-CN" dirty="0">
                <a:ea typeface="+mn-lt"/>
                <a:cs typeface="+mn-lt"/>
              </a:rPr>
              <a:t> </a:t>
            </a:r>
            <a:r>
              <a:rPr lang="en-US" dirty="0">
                <a:ea typeface="+mn-lt"/>
                <a:cs typeface="+mn-lt"/>
              </a:rPr>
              <a:t>data</a:t>
            </a:r>
            <a:r>
              <a:rPr lang="en-US" altLang="zh-CN" dirty="0">
                <a:ea typeface="+mn-lt"/>
                <a:cs typeface="+mn-lt"/>
              </a:rPr>
              <a:t> </a:t>
            </a:r>
            <a:r>
              <a:rPr lang="en-US" dirty="0">
                <a:ea typeface="+mn-lt"/>
                <a:cs typeface="+mn-lt"/>
              </a:rPr>
              <a:t>is randomly</a:t>
            </a:r>
            <a:r>
              <a:rPr lang="en-US" altLang="zh-CN" dirty="0">
                <a:ea typeface="+mn-lt"/>
                <a:cs typeface="+mn-lt"/>
              </a:rPr>
              <a:t> </a:t>
            </a:r>
            <a:r>
              <a:rPr lang="en-US" dirty="0">
                <a:ea typeface="+mn-lt"/>
                <a:cs typeface="+mn-lt"/>
              </a:rPr>
              <a:t>generated by us</a:t>
            </a:r>
            <a:r>
              <a:rPr lang="en-US" altLang="zh-CN" dirty="0">
                <a:ea typeface="+mn-lt"/>
                <a:cs typeface="+mn-lt"/>
              </a:rPr>
              <a:t> </a:t>
            </a:r>
            <a:r>
              <a:rPr lang="en-US" dirty="0">
                <a:ea typeface="+mn-lt"/>
                <a:cs typeface="+mn-lt"/>
              </a:rPr>
              <a:t>and</a:t>
            </a:r>
            <a:r>
              <a:rPr lang="en-US" altLang="zh-CN" dirty="0">
                <a:ea typeface="+mn-lt"/>
                <a:cs typeface="+mn-lt"/>
              </a:rPr>
              <a:t> </a:t>
            </a:r>
            <a:r>
              <a:rPr lang="en-US" dirty="0">
                <a:ea typeface="+mn-lt"/>
                <a:cs typeface="+mn-lt"/>
              </a:rPr>
              <a:t>contains</a:t>
            </a:r>
            <a:r>
              <a:rPr lang="en-US" altLang="zh-CN" dirty="0">
                <a:ea typeface="+mn-lt"/>
                <a:cs typeface="+mn-lt"/>
              </a:rPr>
              <a:t> </a:t>
            </a:r>
            <a:r>
              <a:rPr lang="en-US" dirty="0">
                <a:ea typeface="+mn-lt"/>
                <a:cs typeface="+mn-lt"/>
              </a:rPr>
              <a:t>the</a:t>
            </a:r>
            <a:r>
              <a:rPr lang="en-US" altLang="zh-CN" dirty="0">
                <a:ea typeface="+mn-lt"/>
                <a:cs typeface="+mn-lt"/>
              </a:rPr>
              <a:t> </a:t>
            </a:r>
            <a:r>
              <a:rPr lang="en-US" dirty="0">
                <a:ea typeface="+mn-lt"/>
                <a:cs typeface="+mn-lt"/>
              </a:rPr>
              <a:t>following</a:t>
            </a:r>
            <a:r>
              <a:rPr lang="en-US" altLang="zh-CN" dirty="0">
                <a:ea typeface="+mn-lt"/>
                <a:cs typeface="+mn-lt"/>
              </a:rPr>
              <a:t> </a:t>
            </a:r>
            <a:r>
              <a:rPr lang="en-US" dirty="0">
                <a:ea typeface="+mn-lt"/>
                <a:cs typeface="+mn-lt"/>
              </a:rPr>
              <a:t>main</a:t>
            </a:r>
            <a:r>
              <a:rPr lang="en-US" altLang="zh-CN" dirty="0">
                <a:ea typeface="+mn-lt"/>
                <a:cs typeface="+mn-lt"/>
              </a:rPr>
              <a:t> </a:t>
            </a:r>
            <a:r>
              <a:rPr lang="en-US" dirty="0">
                <a:ea typeface="+mn-lt"/>
                <a:cs typeface="+mn-lt"/>
              </a:rPr>
              <a:t>information:</a:t>
            </a:r>
            <a:endParaRPr lang="zh-CN" dirty="0">
              <a:ea typeface="+mn-lt"/>
              <a:cs typeface="+mn-lt"/>
            </a:endParaRPr>
          </a:p>
          <a:p>
            <a:pPr marL="742950" lvl="1" indent="-285750">
              <a:buFont typeface="Courier New"/>
              <a:buChar char="o"/>
            </a:pPr>
            <a:r>
              <a:rPr lang="en-US" altLang="zh-CN" dirty="0">
                <a:ea typeface="+mn-lt"/>
                <a:cs typeface="+mn-lt"/>
              </a:rPr>
              <a:t>Customer</a:t>
            </a:r>
            <a:r>
              <a:rPr lang="zh-CN" altLang="en-US" dirty="0">
                <a:ea typeface="+mn-lt"/>
                <a:cs typeface="+mn-lt"/>
              </a:rPr>
              <a:t> </a:t>
            </a:r>
            <a:r>
              <a:rPr lang="en-US" altLang="zh-CN" dirty="0">
                <a:ea typeface="+mn-lt"/>
                <a:cs typeface="+mn-lt"/>
              </a:rPr>
              <a:t>information:</a:t>
            </a:r>
            <a:r>
              <a:rPr lang="zh-CN" altLang="en-US" dirty="0">
                <a:ea typeface="+mn-lt"/>
                <a:cs typeface="+mn-lt"/>
              </a:rPr>
              <a:t> </a:t>
            </a:r>
            <a:r>
              <a:rPr lang="en-US" altLang="zh-CN" dirty="0">
                <a:ea typeface="+mn-lt"/>
                <a:cs typeface="+mn-lt"/>
              </a:rPr>
              <a:t>customer</a:t>
            </a:r>
            <a:r>
              <a:rPr lang="zh-CN" altLang="en-US" dirty="0">
                <a:ea typeface="+mn-lt"/>
                <a:cs typeface="+mn-lt"/>
              </a:rPr>
              <a:t> </a:t>
            </a:r>
            <a:r>
              <a:rPr lang="en-US" altLang="zh-CN" dirty="0">
                <a:ea typeface="+mn-lt"/>
                <a:cs typeface="+mn-lt"/>
              </a:rPr>
              <a:t>ID</a:t>
            </a:r>
            <a:r>
              <a:rPr lang="zh-CN" altLang="en-US" dirty="0">
                <a:ea typeface="+mn-lt"/>
                <a:cs typeface="+mn-lt"/>
              </a:rPr>
              <a:t> </a:t>
            </a:r>
            <a:r>
              <a:rPr lang="en-US" altLang="zh-CN" dirty="0">
                <a:ea typeface="+mn-lt"/>
                <a:cs typeface="+mn-lt"/>
              </a:rPr>
              <a:t>and</a:t>
            </a:r>
            <a:r>
              <a:rPr lang="zh-CN" altLang="en-US" dirty="0">
                <a:ea typeface="+mn-lt"/>
                <a:cs typeface="+mn-lt"/>
              </a:rPr>
              <a:t> </a:t>
            </a:r>
            <a:r>
              <a:rPr lang="en-US" altLang="zh-CN" dirty="0">
                <a:ea typeface="+mn-lt"/>
                <a:cs typeface="+mn-lt"/>
              </a:rPr>
              <a:t>transaction</a:t>
            </a:r>
            <a:r>
              <a:rPr lang="zh-CN" altLang="en-US" dirty="0">
                <a:ea typeface="+mn-lt"/>
                <a:cs typeface="+mn-lt"/>
              </a:rPr>
              <a:t> </a:t>
            </a:r>
            <a:r>
              <a:rPr lang="en-US" altLang="zh-CN" dirty="0">
                <a:ea typeface="+mn-lt"/>
                <a:cs typeface="+mn-lt"/>
              </a:rPr>
              <a:t>record.</a:t>
            </a:r>
            <a:endParaRPr lang="zh-CN" altLang="en-US" dirty="0">
              <a:ea typeface="等线"/>
              <a:cs typeface="+mn-lt"/>
            </a:endParaRPr>
          </a:p>
          <a:p>
            <a:pPr marL="742950" lvl="1" indent="-285750">
              <a:buFont typeface="Courier New"/>
              <a:buChar char="o"/>
            </a:pPr>
            <a:r>
              <a:rPr lang="en-US" altLang="zh-CN" dirty="0">
                <a:ea typeface="+mn-lt"/>
                <a:cs typeface="+mn-lt"/>
              </a:rPr>
              <a:t>Time</a:t>
            </a:r>
            <a:r>
              <a:rPr lang="zh-CN" altLang="en-US" dirty="0">
                <a:ea typeface="+mn-lt"/>
                <a:cs typeface="+mn-lt"/>
              </a:rPr>
              <a:t> </a:t>
            </a:r>
            <a:r>
              <a:rPr lang="en-US" altLang="zh-CN" dirty="0">
                <a:ea typeface="+mn-lt"/>
                <a:cs typeface="+mn-lt"/>
              </a:rPr>
              <a:t>information:</a:t>
            </a:r>
            <a:r>
              <a:rPr lang="zh-CN" altLang="en-US" dirty="0">
                <a:ea typeface="+mn-lt"/>
                <a:cs typeface="+mn-lt"/>
              </a:rPr>
              <a:t> </a:t>
            </a:r>
            <a:r>
              <a:rPr lang="en-US" altLang="zh-CN" dirty="0">
                <a:ea typeface="+mn-lt"/>
                <a:cs typeface="+mn-lt"/>
              </a:rPr>
              <a:t>transaction</a:t>
            </a:r>
            <a:r>
              <a:rPr lang="zh-CN" altLang="en-US" dirty="0">
                <a:ea typeface="+mn-lt"/>
                <a:cs typeface="+mn-lt"/>
              </a:rPr>
              <a:t> </a:t>
            </a:r>
            <a:r>
              <a:rPr lang="en-US" altLang="zh-CN" dirty="0">
                <a:ea typeface="+mn-lt"/>
                <a:cs typeface="+mn-lt"/>
              </a:rPr>
              <a:t>date.</a:t>
            </a:r>
            <a:endParaRPr lang="zh-CN" altLang="en-US" dirty="0">
              <a:ea typeface="等线"/>
              <a:cs typeface="+mn-lt"/>
            </a:endParaRPr>
          </a:p>
          <a:p>
            <a:pPr marL="742950" lvl="1" indent="-285750">
              <a:buFont typeface="Courier New"/>
              <a:buChar char="o"/>
            </a:pPr>
            <a:r>
              <a:rPr lang="en-US" altLang="zh-CN" dirty="0">
                <a:ea typeface="+mn-lt"/>
                <a:cs typeface="+mn-lt"/>
              </a:rPr>
              <a:t>Consumption</a:t>
            </a:r>
            <a:r>
              <a:rPr lang="zh-CN" altLang="en-US" dirty="0">
                <a:ea typeface="+mn-lt"/>
                <a:cs typeface="+mn-lt"/>
              </a:rPr>
              <a:t> </a:t>
            </a:r>
            <a:r>
              <a:rPr lang="en-US" altLang="zh-CN" dirty="0">
                <a:ea typeface="+mn-lt"/>
                <a:cs typeface="+mn-lt"/>
              </a:rPr>
              <a:t>information:</a:t>
            </a:r>
            <a:r>
              <a:rPr lang="zh-CN" altLang="en-US" dirty="0">
                <a:ea typeface="+mn-lt"/>
                <a:cs typeface="+mn-lt"/>
              </a:rPr>
              <a:t> </a:t>
            </a:r>
            <a:r>
              <a:rPr lang="en-US" altLang="zh-CN" dirty="0">
                <a:ea typeface="+mn-lt"/>
                <a:cs typeface="+mn-lt"/>
              </a:rPr>
              <a:t>consumption</a:t>
            </a:r>
            <a:r>
              <a:rPr lang="zh-CN" altLang="en-US" dirty="0">
                <a:ea typeface="+mn-lt"/>
                <a:cs typeface="+mn-lt"/>
              </a:rPr>
              <a:t> </a:t>
            </a:r>
            <a:r>
              <a:rPr lang="en-US" altLang="zh-CN" dirty="0">
                <a:ea typeface="+mn-lt"/>
                <a:cs typeface="+mn-lt"/>
              </a:rPr>
              <a:t>amount,</a:t>
            </a:r>
            <a:r>
              <a:rPr lang="zh-CN" altLang="en-US" dirty="0">
                <a:ea typeface="+mn-lt"/>
                <a:cs typeface="+mn-lt"/>
              </a:rPr>
              <a:t> </a:t>
            </a:r>
            <a:r>
              <a:rPr lang="en-US" altLang="zh-CN" dirty="0">
                <a:ea typeface="+mn-lt"/>
                <a:cs typeface="+mn-lt"/>
              </a:rPr>
              <a:t>purchased</a:t>
            </a:r>
            <a:r>
              <a:rPr lang="zh-CN" altLang="en-US" dirty="0">
                <a:ea typeface="+mn-lt"/>
                <a:cs typeface="+mn-lt"/>
              </a:rPr>
              <a:t> </a:t>
            </a:r>
            <a:r>
              <a:rPr lang="en-US" altLang="zh-CN" dirty="0">
                <a:ea typeface="+mn-lt"/>
                <a:cs typeface="+mn-lt"/>
              </a:rPr>
              <a:t>goods,</a:t>
            </a:r>
            <a:r>
              <a:rPr lang="zh-CN" altLang="en-US" dirty="0">
                <a:ea typeface="+mn-lt"/>
                <a:cs typeface="+mn-lt"/>
              </a:rPr>
              <a:t> </a:t>
            </a:r>
            <a:r>
              <a:rPr lang="en-US" altLang="zh-CN" dirty="0">
                <a:ea typeface="+mn-lt"/>
                <a:cs typeface="+mn-lt"/>
              </a:rPr>
              <a:t>and</a:t>
            </a:r>
            <a:r>
              <a:rPr lang="zh-CN" altLang="en-US" dirty="0">
                <a:ea typeface="+mn-lt"/>
                <a:cs typeface="+mn-lt"/>
              </a:rPr>
              <a:t> </a:t>
            </a:r>
            <a:r>
              <a:rPr lang="en-US" altLang="zh-CN" dirty="0">
                <a:ea typeface="+mn-lt"/>
                <a:cs typeface="+mn-lt"/>
              </a:rPr>
              <a:t>commodity</a:t>
            </a:r>
            <a:r>
              <a:rPr lang="zh-CN" altLang="en-US" dirty="0">
                <a:ea typeface="+mn-lt"/>
                <a:cs typeface="+mn-lt"/>
              </a:rPr>
              <a:t> </a:t>
            </a:r>
            <a:r>
              <a:rPr lang="en-US" altLang="zh-CN" dirty="0">
                <a:ea typeface="+mn-lt"/>
                <a:cs typeface="+mn-lt"/>
              </a:rPr>
              <a:t>categories.</a:t>
            </a:r>
            <a:endParaRPr lang="zh-CN" altLang="en-US" dirty="0">
              <a:ea typeface="等线"/>
              <a:cs typeface="Calibri"/>
            </a:endParaRPr>
          </a:p>
          <a:p>
            <a:pPr marL="742950" lvl="1" indent="-285750">
              <a:buFont typeface="Courier New"/>
              <a:buChar char="o"/>
            </a:pPr>
            <a:endParaRPr lang="en-US" altLang="zh-CN" dirty="0">
              <a:ea typeface="+mn-lt"/>
              <a:cs typeface="+mn-lt"/>
            </a:endParaRPr>
          </a:p>
          <a:p>
            <a:r>
              <a:rPr lang="en-US" altLang="zh-CN" b="1" dirty="0">
                <a:ea typeface="+mn-lt"/>
                <a:cs typeface="+mn-lt"/>
              </a:rPr>
              <a:t>Data</a:t>
            </a:r>
            <a:r>
              <a:rPr lang="zh-CN" altLang="en-US" b="1" dirty="0">
                <a:ea typeface="+mn-lt"/>
                <a:cs typeface="+mn-lt"/>
              </a:rPr>
              <a:t> </a:t>
            </a:r>
            <a:r>
              <a:rPr lang="en-US" altLang="zh-CN" b="1" dirty="0">
                <a:ea typeface="+mn-lt"/>
                <a:cs typeface="+mn-lt"/>
              </a:rPr>
              <a:t>volume:</a:t>
            </a:r>
            <a:endParaRPr lang="zh-CN" altLang="en-US" b="1" dirty="0"/>
          </a:p>
          <a:p>
            <a:pPr marL="285750" indent="-285750">
              <a:buFont typeface="Arial"/>
              <a:buChar char="•"/>
            </a:pPr>
            <a:r>
              <a:rPr lang="en-US" altLang="zh-CN" dirty="0">
                <a:ea typeface="+mn-lt"/>
                <a:cs typeface="+mn-lt"/>
              </a:rPr>
              <a:t>Contains</a:t>
            </a:r>
            <a:r>
              <a:rPr lang="zh-CN" altLang="en-US" dirty="0">
                <a:ea typeface="+mn-lt"/>
                <a:cs typeface="+mn-lt"/>
              </a:rPr>
              <a:t> </a:t>
            </a:r>
            <a:r>
              <a:rPr lang="en-US" altLang="zh-CN" dirty="0">
                <a:ea typeface="+mn-lt"/>
                <a:cs typeface="+mn-lt"/>
              </a:rPr>
              <a:t>a</a:t>
            </a:r>
            <a:r>
              <a:rPr lang="zh-CN" altLang="en-US" dirty="0">
                <a:ea typeface="+mn-lt"/>
                <a:cs typeface="+mn-lt"/>
              </a:rPr>
              <a:t> </a:t>
            </a:r>
            <a:r>
              <a:rPr lang="en-US" altLang="zh-CN" dirty="0">
                <a:ea typeface="+mn-lt"/>
                <a:cs typeface="+mn-lt"/>
              </a:rPr>
              <a:t>total</a:t>
            </a:r>
            <a:r>
              <a:rPr lang="zh-CN" altLang="en-US" dirty="0">
                <a:ea typeface="+mn-lt"/>
                <a:cs typeface="+mn-lt"/>
              </a:rPr>
              <a:t> </a:t>
            </a:r>
            <a:r>
              <a:rPr lang="en-US" altLang="zh-CN" dirty="0">
                <a:ea typeface="+mn-lt"/>
                <a:cs typeface="+mn-lt"/>
              </a:rPr>
              <a:t>of</a:t>
            </a:r>
            <a:r>
              <a:rPr lang="zh-CN" altLang="en-US" dirty="0">
                <a:ea typeface="+mn-lt"/>
                <a:cs typeface="+mn-lt"/>
              </a:rPr>
              <a:t> </a:t>
            </a:r>
            <a:r>
              <a:rPr lang="en-US" altLang="zh-CN" dirty="0">
                <a:ea typeface="+mn-lt"/>
                <a:cs typeface="+mn-lt"/>
              </a:rPr>
              <a:t>about</a:t>
            </a:r>
            <a:r>
              <a:rPr lang="zh-CN" altLang="en-US" dirty="0">
                <a:ea typeface="+mn-lt"/>
                <a:cs typeface="+mn-lt"/>
              </a:rPr>
              <a:t> </a:t>
            </a:r>
            <a:r>
              <a:rPr lang="en-US" altLang="zh-CN" dirty="0">
                <a:ea typeface="+mn-lt"/>
                <a:cs typeface="+mn-lt"/>
              </a:rPr>
              <a:t>10,000</a:t>
            </a:r>
            <a:r>
              <a:rPr lang="zh-CN" altLang="en-US" dirty="0">
                <a:ea typeface="+mn-lt"/>
                <a:cs typeface="+mn-lt"/>
              </a:rPr>
              <a:t> </a:t>
            </a:r>
            <a:r>
              <a:rPr lang="en-US" altLang="zh-CN" dirty="0">
                <a:ea typeface="+mn-lt"/>
                <a:cs typeface="+mn-lt"/>
              </a:rPr>
              <a:t>transaction</a:t>
            </a:r>
            <a:r>
              <a:rPr lang="zh-CN" altLang="en-US" dirty="0">
                <a:ea typeface="+mn-lt"/>
                <a:cs typeface="+mn-lt"/>
              </a:rPr>
              <a:t> </a:t>
            </a:r>
            <a:r>
              <a:rPr lang="en-US" altLang="zh-CN" dirty="0">
                <a:ea typeface="+mn-lt"/>
                <a:cs typeface="+mn-lt"/>
              </a:rPr>
              <a:t>records,</a:t>
            </a:r>
            <a:r>
              <a:rPr lang="zh-CN" altLang="en-US" dirty="0">
                <a:ea typeface="+mn-lt"/>
                <a:cs typeface="+mn-lt"/>
              </a:rPr>
              <a:t> </a:t>
            </a:r>
            <a:r>
              <a:rPr lang="en-US" altLang="zh-CN" dirty="0">
                <a:ea typeface="+mn-lt"/>
                <a:cs typeface="+mn-lt"/>
              </a:rPr>
              <a:t>covering</a:t>
            </a:r>
            <a:r>
              <a:rPr lang="zh-CN" altLang="en-US" dirty="0">
                <a:ea typeface="+mn-lt"/>
                <a:cs typeface="+mn-lt"/>
              </a:rPr>
              <a:t> </a:t>
            </a:r>
            <a:r>
              <a:rPr lang="en-US" altLang="zh-CN" dirty="0">
                <a:ea typeface="+mn-lt"/>
                <a:cs typeface="+mn-lt"/>
              </a:rPr>
              <a:t>the</a:t>
            </a:r>
            <a:r>
              <a:rPr lang="zh-CN" altLang="en-US" dirty="0">
                <a:ea typeface="+mn-lt"/>
                <a:cs typeface="+mn-lt"/>
              </a:rPr>
              <a:t> </a:t>
            </a:r>
            <a:r>
              <a:rPr lang="en-US" altLang="zh-CN" dirty="0">
                <a:ea typeface="+mn-lt"/>
                <a:cs typeface="+mn-lt"/>
              </a:rPr>
              <a:t>historical</a:t>
            </a:r>
            <a:r>
              <a:rPr lang="zh-CN" altLang="en-US" dirty="0">
                <a:ea typeface="+mn-lt"/>
                <a:cs typeface="+mn-lt"/>
              </a:rPr>
              <a:t> </a:t>
            </a:r>
            <a:r>
              <a:rPr lang="en-US" altLang="zh-CN" dirty="0">
                <a:ea typeface="+mn-lt"/>
                <a:cs typeface="+mn-lt"/>
              </a:rPr>
              <a:t>consumption</a:t>
            </a:r>
            <a:r>
              <a:rPr lang="zh-CN" altLang="en-US" dirty="0">
                <a:ea typeface="+mn-lt"/>
                <a:cs typeface="+mn-lt"/>
              </a:rPr>
              <a:t> </a:t>
            </a:r>
            <a:r>
              <a:rPr lang="en-US" altLang="zh-CN" dirty="0">
                <a:ea typeface="+mn-lt"/>
                <a:cs typeface="+mn-lt"/>
              </a:rPr>
              <a:t>of</a:t>
            </a:r>
            <a:r>
              <a:rPr lang="zh-CN" altLang="en-US" dirty="0">
                <a:ea typeface="+mn-lt"/>
                <a:cs typeface="+mn-lt"/>
              </a:rPr>
              <a:t> </a:t>
            </a:r>
            <a:r>
              <a:rPr lang="en-US" altLang="zh-CN" dirty="0">
                <a:ea typeface="+mn-lt"/>
                <a:cs typeface="+mn-lt"/>
              </a:rPr>
              <a:t>all</a:t>
            </a:r>
            <a:r>
              <a:rPr lang="zh-CN" altLang="en-US" dirty="0">
                <a:ea typeface="+mn-lt"/>
                <a:cs typeface="+mn-lt"/>
              </a:rPr>
              <a:t> </a:t>
            </a:r>
            <a:r>
              <a:rPr lang="en-US" altLang="zh-CN" dirty="0">
                <a:ea typeface="+mn-lt"/>
                <a:cs typeface="+mn-lt"/>
              </a:rPr>
              <a:t>customers.</a:t>
            </a:r>
            <a:endParaRPr lang="zh-CN" dirty="0">
              <a:cs typeface="Calibri" panose="020F0502020204030204"/>
            </a:endParaRPr>
          </a:p>
          <a:p>
            <a:endParaRPr lang="zh-CN" altLang="en-US" dirty="0">
              <a:cs typeface="Calibri"/>
            </a:endParaRPr>
          </a:p>
        </p:txBody>
      </p:sp>
    </p:spTree>
    <p:extLst>
      <p:ext uri="{BB962C8B-B14F-4D97-AF65-F5344CB8AC3E}">
        <p14:creationId xmlns:p14="http://schemas.microsoft.com/office/powerpoint/2010/main" val="3722986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06FA55-0B78-4DDF-395D-5293F51B6037}"/>
              </a:ext>
            </a:extLst>
          </p:cNvPr>
          <p:cNvSpPr/>
          <p:nvPr/>
        </p:nvSpPr>
        <p:spPr>
          <a:xfrm>
            <a:off x="-76199" y="0"/>
            <a:ext cx="4748857" cy="6924675"/>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39123607-DD38-B547-3C74-CB18A5B8879A}"/>
              </a:ext>
            </a:extLst>
          </p:cNvPr>
          <p:cNvSpPr txBox="1"/>
          <p:nvPr/>
        </p:nvSpPr>
        <p:spPr>
          <a:xfrm>
            <a:off x="1879164" y="539899"/>
            <a:ext cx="6314337" cy="584775"/>
          </a:xfrm>
          <a:prstGeom prst="rect">
            <a:avLst/>
          </a:prstGeom>
          <a:noFill/>
        </p:spPr>
        <p:txBody>
          <a:bodyPr wrap="square" lIns="91440" tIns="45720" rIns="91440" bIns="45720" rtlCol="0" anchor="t">
            <a:spAutoFit/>
          </a:bodyPr>
          <a:lstStyle/>
          <a:p>
            <a:r>
              <a:rPr lang="en-US" sz="3200" b="1" i="1">
                <a:solidFill>
                  <a:srgbClr val="FFBB29"/>
                </a:solidFill>
                <a:ea typeface="Calibri"/>
                <a:cs typeface="Calibri"/>
              </a:rPr>
              <a:t>Data Overview</a:t>
            </a:r>
          </a:p>
        </p:txBody>
      </p:sp>
      <p:grpSp>
        <p:nvGrpSpPr>
          <p:cNvPr id="5" name="Group 4">
            <a:extLst>
              <a:ext uri="{FF2B5EF4-FFF2-40B4-BE49-F238E27FC236}">
                <a16:creationId xmlns:a16="http://schemas.microsoft.com/office/drawing/2014/main" id="{051037DC-71BB-AEE9-DE64-FF07C65AC6B5}"/>
              </a:ext>
            </a:extLst>
          </p:cNvPr>
          <p:cNvGrpSpPr/>
          <p:nvPr/>
        </p:nvGrpSpPr>
        <p:grpSpPr>
          <a:xfrm>
            <a:off x="-666753" y="-830829"/>
            <a:ext cx="3168650" cy="3543541"/>
            <a:chOff x="926333" y="909663"/>
            <a:chExt cx="4509235" cy="5042732"/>
          </a:xfrm>
          <a:noFill/>
        </p:grpSpPr>
        <p:sp>
          <p:nvSpPr>
            <p:cNvPr id="6" name="Freeform: Shape 5">
              <a:extLst>
                <a:ext uri="{FF2B5EF4-FFF2-40B4-BE49-F238E27FC236}">
                  <a16:creationId xmlns:a16="http://schemas.microsoft.com/office/drawing/2014/main" id="{D86F565C-FE78-FADD-7AA3-E0EA60B08828}"/>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1"/>
              </a:solid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B6ECA9BB-1A57-F365-8A2A-6464FE9EAA87}"/>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1"/>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ECB2A714-5BC5-499F-97F8-1CDD67108F50}"/>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1"/>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E81D759-770B-7BDC-A377-2C251A79E8D6}"/>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1"/>
              </a:solid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28EB63C0-8AB4-BDEC-90EF-51C0EDB982AC}"/>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1"/>
              </a:solid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4402D744-09A0-C01F-E541-E334439CA6D7}"/>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1"/>
              </a:solidFill>
              <a:prstDash val="solid"/>
              <a:miter/>
            </a:ln>
          </p:spPr>
          <p:txBody>
            <a:bodyPr rtlCol="0" anchor="ctr"/>
            <a:lstStyle/>
            <a:p>
              <a:endParaRPr lang="en-IN"/>
            </a:p>
          </p:txBody>
        </p:sp>
      </p:grpSp>
      <p:graphicFrame>
        <p:nvGraphicFramePr>
          <p:cNvPr id="12" name="表格 11">
            <a:extLst>
              <a:ext uri="{FF2B5EF4-FFF2-40B4-BE49-F238E27FC236}">
                <a16:creationId xmlns:a16="http://schemas.microsoft.com/office/drawing/2014/main" id="{3CD2BF06-7921-A066-45D5-8B844B8F2AED}"/>
              </a:ext>
            </a:extLst>
          </p:cNvPr>
          <p:cNvGraphicFramePr>
            <a:graphicFrameLocks noGrp="1"/>
          </p:cNvGraphicFramePr>
          <p:nvPr>
            <p:extLst>
              <p:ext uri="{D42A27DB-BD31-4B8C-83A1-F6EECF244321}">
                <p14:modId xmlns:p14="http://schemas.microsoft.com/office/powerpoint/2010/main" val="3596986552"/>
              </p:ext>
            </p:extLst>
          </p:nvPr>
        </p:nvGraphicFramePr>
        <p:xfrm>
          <a:off x="1218536" y="1133950"/>
          <a:ext cx="10419360" cy="5526266"/>
        </p:xfrm>
        <a:graphic>
          <a:graphicData uri="http://schemas.openxmlformats.org/drawingml/2006/table">
            <a:tbl>
              <a:tblPr bandRow="1">
                <a:tableStyleId>{5C22544A-7EE6-4342-B048-85BDC9FD1C3A}</a:tableStyleId>
              </a:tblPr>
              <a:tblGrid>
                <a:gridCol w="776824">
                  <a:extLst>
                    <a:ext uri="{9D8B030D-6E8A-4147-A177-3AD203B41FA5}">
                      <a16:colId xmlns:a16="http://schemas.microsoft.com/office/drawing/2014/main" val="2828142065"/>
                    </a:ext>
                  </a:extLst>
                </a:gridCol>
                <a:gridCol w="822521">
                  <a:extLst>
                    <a:ext uri="{9D8B030D-6E8A-4147-A177-3AD203B41FA5}">
                      <a16:colId xmlns:a16="http://schemas.microsoft.com/office/drawing/2014/main" val="1750582288"/>
                    </a:ext>
                  </a:extLst>
                </a:gridCol>
                <a:gridCol w="785239">
                  <a:extLst>
                    <a:ext uri="{9D8B030D-6E8A-4147-A177-3AD203B41FA5}">
                      <a16:colId xmlns:a16="http://schemas.microsoft.com/office/drawing/2014/main" val="3472223601"/>
                    </a:ext>
                  </a:extLst>
                </a:gridCol>
                <a:gridCol w="975034">
                  <a:extLst>
                    <a:ext uri="{9D8B030D-6E8A-4147-A177-3AD203B41FA5}">
                      <a16:colId xmlns:a16="http://schemas.microsoft.com/office/drawing/2014/main" val="3525595291"/>
                    </a:ext>
                  </a:extLst>
                </a:gridCol>
                <a:gridCol w="890244">
                  <a:extLst>
                    <a:ext uri="{9D8B030D-6E8A-4147-A177-3AD203B41FA5}">
                      <a16:colId xmlns:a16="http://schemas.microsoft.com/office/drawing/2014/main" val="653864722"/>
                    </a:ext>
                  </a:extLst>
                </a:gridCol>
                <a:gridCol w="625291">
                  <a:extLst>
                    <a:ext uri="{9D8B030D-6E8A-4147-A177-3AD203B41FA5}">
                      <a16:colId xmlns:a16="http://schemas.microsoft.com/office/drawing/2014/main" val="1361853397"/>
                    </a:ext>
                  </a:extLst>
                </a:gridCol>
                <a:gridCol w="816060">
                  <a:extLst>
                    <a:ext uri="{9D8B030D-6E8A-4147-A177-3AD203B41FA5}">
                      <a16:colId xmlns:a16="http://schemas.microsoft.com/office/drawing/2014/main" val="833033582"/>
                    </a:ext>
                  </a:extLst>
                </a:gridCol>
                <a:gridCol w="731272">
                  <a:extLst>
                    <a:ext uri="{9D8B030D-6E8A-4147-A177-3AD203B41FA5}">
                      <a16:colId xmlns:a16="http://schemas.microsoft.com/office/drawing/2014/main" val="3263805374"/>
                    </a:ext>
                  </a:extLst>
                </a:gridCol>
                <a:gridCol w="667684">
                  <a:extLst>
                    <a:ext uri="{9D8B030D-6E8A-4147-A177-3AD203B41FA5}">
                      <a16:colId xmlns:a16="http://schemas.microsoft.com/office/drawing/2014/main" val="904754839"/>
                    </a:ext>
                  </a:extLst>
                </a:gridCol>
                <a:gridCol w="1038621">
                  <a:extLst>
                    <a:ext uri="{9D8B030D-6E8A-4147-A177-3AD203B41FA5}">
                      <a16:colId xmlns:a16="http://schemas.microsoft.com/office/drawing/2014/main" val="3657997666"/>
                    </a:ext>
                  </a:extLst>
                </a:gridCol>
                <a:gridCol w="1081015">
                  <a:extLst>
                    <a:ext uri="{9D8B030D-6E8A-4147-A177-3AD203B41FA5}">
                      <a16:colId xmlns:a16="http://schemas.microsoft.com/office/drawing/2014/main" val="1826169644"/>
                    </a:ext>
                  </a:extLst>
                </a:gridCol>
                <a:gridCol w="1209555">
                  <a:extLst>
                    <a:ext uri="{9D8B030D-6E8A-4147-A177-3AD203B41FA5}">
                      <a16:colId xmlns:a16="http://schemas.microsoft.com/office/drawing/2014/main" val="619490611"/>
                    </a:ext>
                  </a:extLst>
                </a:gridCol>
              </a:tblGrid>
              <a:tr h="557175">
                <a:tc>
                  <a:txBody>
                    <a:bodyPr/>
                    <a:lstStyle/>
                    <a:p>
                      <a:r>
                        <a:rPr lang="af-ZA" sz="1050" b="1" err="1">
                          <a:solidFill>
                            <a:srgbClr val="000000"/>
                          </a:solidFill>
                          <a:effectLst/>
                          <a:latin typeface="+mn-lt"/>
                        </a:rPr>
                        <a:t>product_id</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product_name</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product_price</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average_weight_kg</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product_category</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customer_id</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customer_name</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product_count</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total_amount</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customer_start_date</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last_transaction_date</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tc>
                  <a:txBody>
                    <a:bodyPr/>
                    <a:lstStyle/>
                    <a:p>
                      <a:r>
                        <a:rPr lang="af-ZA" sz="1050" b="1" err="1">
                          <a:solidFill>
                            <a:srgbClr val="000000"/>
                          </a:solidFill>
                          <a:effectLst/>
                          <a:latin typeface="+mn-lt"/>
                        </a:rPr>
                        <a:t>transaction_time</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4921804"/>
                  </a:ext>
                </a:extLst>
              </a:tr>
              <a:tr h="557175">
                <a:tc>
                  <a:txBody>
                    <a:bodyPr/>
                    <a:lstStyle/>
                    <a:p>
                      <a:r>
                        <a:rPr lang="en-US" altLang="zh-CN" sz="1050" b="1">
                          <a:solidFill>
                            <a:srgbClr val="000000"/>
                          </a:solidFill>
                          <a:effectLst/>
                          <a:latin typeface="+mn-lt"/>
                        </a:rPr>
                        <a:t>48443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a:solidFill>
                            <a:srgbClr val="000000"/>
                          </a:solidFill>
                          <a:effectLst/>
                          <a:latin typeface="+mn-lt"/>
                        </a:rPr>
                        <a:t>Tortilla(6pck)</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Bakery</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359816</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a:solidFill>
                            <a:srgbClr val="000000"/>
                          </a:solidFill>
                          <a:effectLst/>
                          <a:latin typeface="+mn-lt"/>
                        </a:rPr>
                        <a:t>Kylie Davis</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20</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5/28/2023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5/6/2024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5/6/2024 10:53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58241990"/>
                  </a:ext>
                </a:extLst>
              </a:tr>
              <a:tr h="557175">
                <a:tc>
                  <a:txBody>
                    <a:bodyPr/>
                    <a:lstStyle/>
                    <a:p>
                      <a:r>
                        <a:rPr lang="en-US" altLang="zh-CN" sz="1050" b="1">
                          <a:solidFill>
                            <a:srgbClr val="000000"/>
                          </a:solidFill>
                          <a:effectLst/>
                          <a:latin typeface="+mn-lt"/>
                        </a:rPr>
                        <a:t>44817</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dirty="0">
                          <a:solidFill>
                            <a:srgbClr val="000000"/>
                          </a:solidFill>
                          <a:effectLst/>
                          <a:latin typeface="+mn-lt"/>
                        </a:rPr>
                        <a:t>White Bread</a:t>
                      </a:r>
                      <a:endParaRPr lang="af-ZA" sz="1050" dirty="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Bakery</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972886</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Delina</a:t>
                      </a:r>
                      <a:r>
                        <a:rPr lang="af-ZA" sz="1050">
                          <a:solidFill>
                            <a:srgbClr val="000000"/>
                          </a:solidFill>
                          <a:effectLst/>
                          <a:latin typeface="+mn-lt"/>
                        </a:rPr>
                        <a:t> </a:t>
                      </a:r>
                      <a:r>
                        <a:rPr lang="af-ZA" sz="1050" err="1">
                          <a:solidFill>
                            <a:srgbClr val="000000"/>
                          </a:solidFill>
                          <a:effectLst/>
                          <a:latin typeface="+mn-lt"/>
                        </a:rPr>
                        <a:t>Ivanova</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12</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10/11/2021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8/15/2024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8/15/2024 6:56</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49628278"/>
                  </a:ext>
                </a:extLst>
              </a:tr>
              <a:tr h="557175">
                <a:tc>
                  <a:txBody>
                    <a:bodyPr/>
                    <a:lstStyle/>
                    <a:p>
                      <a:r>
                        <a:rPr lang="en-US" altLang="zh-CN" sz="1050" b="1">
                          <a:solidFill>
                            <a:srgbClr val="000000"/>
                          </a:solidFill>
                          <a:effectLst/>
                          <a:latin typeface="+mn-lt"/>
                        </a:rPr>
                        <a:t>60571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err="1">
                          <a:solidFill>
                            <a:srgbClr val="000000"/>
                          </a:solidFill>
                          <a:effectLst/>
                          <a:latin typeface="+mn-lt"/>
                        </a:rPr>
                        <a:t>Tomato</a:t>
                      </a:r>
                      <a:r>
                        <a:rPr lang="af-ZA" sz="1050">
                          <a:solidFill>
                            <a:srgbClr val="000000"/>
                          </a:solidFill>
                          <a:effectLst/>
                          <a:latin typeface="+mn-lt"/>
                        </a:rPr>
                        <a:t> </a:t>
                      </a:r>
                      <a:r>
                        <a:rPr lang="af-ZA" sz="1050" err="1">
                          <a:solidFill>
                            <a:srgbClr val="000000"/>
                          </a:solidFill>
                          <a:effectLst/>
                          <a:latin typeface="+mn-lt"/>
                        </a:rPr>
                        <a:t>Ketchup</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5.5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0.75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Sauce</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121533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dirty="0">
                          <a:solidFill>
                            <a:srgbClr val="000000"/>
                          </a:solidFill>
                          <a:effectLst/>
                          <a:latin typeface="+mn-lt"/>
                        </a:rPr>
                        <a:t>John Castillo</a:t>
                      </a:r>
                      <a:endParaRPr lang="af-ZA" sz="1050" dirty="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16.5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2/15/2023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11/3/2024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11/3/2024 3:40</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90879817"/>
                  </a:ext>
                </a:extLst>
              </a:tr>
              <a:tr h="557175">
                <a:tc>
                  <a:txBody>
                    <a:bodyPr/>
                    <a:lstStyle/>
                    <a:p>
                      <a:r>
                        <a:rPr lang="en-US" altLang="zh-CN" sz="1050" b="1">
                          <a:solidFill>
                            <a:srgbClr val="000000"/>
                          </a:solidFill>
                          <a:effectLst/>
                          <a:latin typeface="+mn-lt"/>
                        </a:rPr>
                        <a:t>55644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a:solidFill>
                            <a:srgbClr val="000000"/>
                          </a:solidFill>
                          <a:effectLst/>
                          <a:latin typeface="+mn-lt"/>
                        </a:rPr>
                        <a:t>Beef</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18</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Meat</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121533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a:solidFill>
                            <a:srgbClr val="000000"/>
                          </a:solidFill>
                          <a:effectLst/>
                          <a:latin typeface="+mn-lt"/>
                        </a:rPr>
                        <a:t>John Castillo</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2</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36</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2/15/2023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11/3/2024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8/21/2024 17:59</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45156108"/>
                  </a:ext>
                </a:extLst>
              </a:tr>
              <a:tr h="625400">
                <a:tc>
                  <a:txBody>
                    <a:bodyPr/>
                    <a:lstStyle/>
                    <a:p>
                      <a:r>
                        <a:rPr lang="en-US" altLang="zh-CN" sz="1050" b="1">
                          <a:solidFill>
                            <a:srgbClr val="000000"/>
                          </a:solidFill>
                          <a:effectLst/>
                          <a:latin typeface="+mn-lt"/>
                        </a:rPr>
                        <a:t>67243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err="1">
                          <a:solidFill>
                            <a:srgbClr val="000000"/>
                          </a:solidFill>
                          <a:effectLst/>
                          <a:latin typeface="+mn-lt"/>
                        </a:rPr>
                        <a:t>Shredded</a:t>
                      </a:r>
                      <a:r>
                        <a:rPr lang="af-ZA" sz="1050">
                          <a:solidFill>
                            <a:srgbClr val="000000"/>
                          </a:solidFill>
                          <a:effectLst/>
                          <a:latin typeface="+mn-lt"/>
                        </a:rPr>
                        <a:t> </a:t>
                      </a:r>
                      <a:r>
                        <a:rPr lang="af-ZA" sz="1050" err="1">
                          <a:solidFill>
                            <a:srgbClr val="000000"/>
                          </a:solidFill>
                          <a:effectLst/>
                          <a:latin typeface="+mn-lt"/>
                        </a:rPr>
                        <a:t>Cheese</a:t>
                      </a:r>
                      <a:r>
                        <a:rPr lang="af-ZA" sz="1050">
                          <a:solidFill>
                            <a:srgbClr val="000000"/>
                          </a:solidFill>
                          <a:effectLst/>
                          <a:latin typeface="+mn-lt"/>
                        </a:rPr>
                        <a:t>(350g)</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7</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0.35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Dairy</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703094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a:solidFill>
                            <a:srgbClr val="000000"/>
                          </a:solidFill>
                          <a:effectLst/>
                          <a:latin typeface="+mn-lt"/>
                        </a:rPr>
                        <a:t>Leslie </a:t>
                      </a:r>
                      <a:r>
                        <a:rPr lang="af-ZA" sz="1050" err="1">
                          <a:solidFill>
                            <a:srgbClr val="000000"/>
                          </a:solidFill>
                          <a:effectLst/>
                          <a:latin typeface="+mn-lt"/>
                        </a:rPr>
                        <a:t>Pitts</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21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3/15/2021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9/20/2024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9/20/2024 10:29</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29883235"/>
                  </a:ext>
                </a:extLst>
              </a:tr>
              <a:tr h="557175">
                <a:tc>
                  <a:txBody>
                    <a:bodyPr/>
                    <a:lstStyle/>
                    <a:p>
                      <a:r>
                        <a:rPr lang="en-US" altLang="zh-CN" sz="1050" b="1">
                          <a:solidFill>
                            <a:srgbClr val="000000"/>
                          </a:solidFill>
                          <a:effectLst/>
                          <a:latin typeface="+mn-lt"/>
                        </a:rPr>
                        <a:t>32815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err="1">
                          <a:solidFill>
                            <a:srgbClr val="000000"/>
                          </a:solidFill>
                          <a:effectLst/>
                          <a:latin typeface="+mn-lt"/>
                        </a:rPr>
                        <a:t>Eggs</a:t>
                      </a:r>
                      <a:r>
                        <a:rPr lang="af-ZA" sz="1050">
                          <a:solidFill>
                            <a:srgbClr val="000000"/>
                          </a:solidFill>
                          <a:effectLst/>
                          <a:latin typeface="+mn-lt"/>
                        </a:rPr>
                        <a:t>(0.5dozen)</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4.5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Dairy</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972886</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Delina</a:t>
                      </a:r>
                      <a:r>
                        <a:rPr lang="af-ZA" sz="1050">
                          <a:solidFill>
                            <a:srgbClr val="000000"/>
                          </a:solidFill>
                          <a:effectLst/>
                          <a:latin typeface="+mn-lt"/>
                        </a:rPr>
                        <a:t> </a:t>
                      </a:r>
                      <a:r>
                        <a:rPr lang="af-ZA" sz="1050" err="1">
                          <a:solidFill>
                            <a:srgbClr val="000000"/>
                          </a:solidFill>
                          <a:effectLst/>
                          <a:latin typeface="+mn-lt"/>
                        </a:rPr>
                        <a:t>Ivanova</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2</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10/11/2021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9/4/2024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9/4/2024 18:07</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64559167"/>
                  </a:ext>
                </a:extLst>
              </a:tr>
              <a:tr h="443466">
                <a:tc>
                  <a:txBody>
                    <a:bodyPr/>
                    <a:lstStyle/>
                    <a:p>
                      <a:r>
                        <a:rPr lang="en-US" altLang="zh-CN" sz="1050" b="1">
                          <a:solidFill>
                            <a:srgbClr val="000000"/>
                          </a:solidFill>
                          <a:effectLst/>
                          <a:latin typeface="+mn-lt"/>
                        </a:rPr>
                        <a:t>11013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err="1">
                          <a:solidFill>
                            <a:srgbClr val="000000"/>
                          </a:solidFill>
                          <a:effectLst/>
                          <a:latin typeface="+mn-lt"/>
                        </a:rPr>
                        <a:t>Cookies</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4.25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0.35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Snacks</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770025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a:solidFill>
                            <a:srgbClr val="000000"/>
                          </a:solidFill>
                          <a:effectLst/>
                          <a:latin typeface="+mn-lt"/>
                        </a:rPr>
                        <a:t>Matthew Gordon</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17</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7/19/2020</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11/8/2024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11/8/2024 13:51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17413114"/>
                  </a:ext>
                </a:extLst>
              </a:tr>
              <a:tr h="557175">
                <a:tc>
                  <a:txBody>
                    <a:bodyPr/>
                    <a:lstStyle/>
                    <a:p>
                      <a:r>
                        <a:rPr lang="en-US" altLang="zh-CN" sz="1050" b="1">
                          <a:solidFill>
                            <a:srgbClr val="000000"/>
                          </a:solidFill>
                          <a:effectLst/>
                          <a:latin typeface="+mn-lt"/>
                        </a:rPr>
                        <a:t>79206</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err="1">
                          <a:solidFill>
                            <a:srgbClr val="000000"/>
                          </a:solidFill>
                          <a:effectLst/>
                          <a:latin typeface="+mn-lt"/>
                        </a:rPr>
                        <a:t>Eggs</a:t>
                      </a:r>
                      <a:r>
                        <a:rPr lang="af-ZA" sz="1050">
                          <a:solidFill>
                            <a:srgbClr val="000000"/>
                          </a:solidFill>
                          <a:effectLst/>
                          <a:latin typeface="+mn-lt"/>
                        </a:rPr>
                        <a:t>(1.5dozen)</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11.25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0.9</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err="1">
                          <a:solidFill>
                            <a:srgbClr val="000000"/>
                          </a:solidFill>
                          <a:effectLst/>
                          <a:latin typeface="+mn-lt"/>
                        </a:rPr>
                        <a:t>Dairy</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197461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a:solidFill>
                            <a:srgbClr val="000000"/>
                          </a:solidFill>
                          <a:effectLst/>
                          <a:latin typeface="+mn-lt"/>
                        </a:rPr>
                        <a:t>Kim Scott</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33.75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12/1/2020</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3/15/2024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3/15/2024 7:10</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44067412"/>
                  </a:ext>
                </a:extLst>
              </a:tr>
              <a:tr h="557175">
                <a:tc>
                  <a:txBody>
                    <a:bodyPr/>
                    <a:lstStyle/>
                    <a:p>
                      <a:r>
                        <a:rPr lang="en-US" altLang="zh-CN" sz="1050" b="1">
                          <a:solidFill>
                            <a:srgbClr val="000000"/>
                          </a:solidFill>
                          <a:effectLst/>
                          <a:latin typeface="+mn-lt"/>
                        </a:rPr>
                        <a:t>38954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r>
                        <a:rPr lang="af-ZA" sz="1050" err="1">
                          <a:solidFill>
                            <a:srgbClr val="000000"/>
                          </a:solidFill>
                          <a:effectLst/>
                          <a:latin typeface="+mn-lt"/>
                        </a:rPr>
                        <a:t>Mustard</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4.5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0.35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dirty="0">
                          <a:solidFill>
                            <a:srgbClr val="000000"/>
                          </a:solidFill>
                          <a:effectLst/>
                          <a:latin typeface="+mn-lt"/>
                        </a:rPr>
                        <a:t>Sauce</a:t>
                      </a:r>
                      <a:endParaRPr lang="af-ZA" sz="1050" dirty="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703094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af-ZA" sz="1050">
                          <a:solidFill>
                            <a:srgbClr val="000000"/>
                          </a:solidFill>
                          <a:effectLst/>
                          <a:latin typeface="+mn-lt"/>
                        </a:rPr>
                        <a:t>Leslie </a:t>
                      </a:r>
                      <a:r>
                        <a:rPr lang="af-ZA" sz="1050" err="1">
                          <a:solidFill>
                            <a:srgbClr val="000000"/>
                          </a:solidFill>
                          <a:effectLst/>
                          <a:latin typeface="+mn-lt"/>
                        </a:rPr>
                        <a:t>Pitts</a:t>
                      </a:r>
                      <a:endParaRPr lang="af-ZA"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13.5</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3/15/2021</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a:solidFill>
                            <a:srgbClr val="000000"/>
                          </a:solidFill>
                          <a:effectLst/>
                          <a:latin typeface="+mn-lt"/>
                        </a:rPr>
                        <a:t>9/20/2024</a:t>
                      </a:r>
                      <a:endParaRPr lang="zh-CN" altLang="en-US" sz="105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r>
                        <a:rPr lang="en-US" altLang="zh-CN" sz="1050" dirty="0">
                          <a:solidFill>
                            <a:srgbClr val="000000"/>
                          </a:solidFill>
                          <a:effectLst/>
                          <a:latin typeface="+mn-lt"/>
                        </a:rPr>
                        <a:t>8/24/2024 16:32</a:t>
                      </a:r>
                      <a:endParaRPr lang="zh-CN" altLang="en-US" sz="1050" dirty="0">
                        <a:effectLst/>
                        <a:latin typeface="+mn-l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77362399"/>
                  </a:ext>
                </a:extLst>
              </a:tr>
            </a:tbl>
          </a:graphicData>
        </a:graphic>
      </p:graphicFrame>
    </p:spTree>
    <p:extLst>
      <p:ext uri="{BB962C8B-B14F-4D97-AF65-F5344CB8AC3E}">
        <p14:creationId xmlns:p14="http://schemas.microsoft.com/office/powerpoint/2010/main" val="12444766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0780B4F-476C-B4E9-D609-739FF3982368}"/>
              </a:ext>
            </a:extLst>
          </p:cNvPr>
          <p:cNvSpPr/>
          <p:nvPr/>
        </p:nvSpPr>
        <p:spPr>
          <a:xfrm>
            <a:off x="-1699" y="-1180"/>
            <a:ext cx="2225750" cy="6860881"/>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32EB01C-3459-6CC4-7CD6-6B6EA0160CE3}"/>
              </a:ext>
            </a:extLst>
          </p:cNvPr>
          <p:cNvSpPr txBox="1"/>
          <p:nvPr/>
        </p:nvSpPr>
        <p:spPr>
          <a:xfrm>
            <a:off x="2401371" y="210592"/>
            <a:ext cx="10686618" cy="646331"/>
          </a:xfrm>
          <a:prstGeom prst="rect">
            <a:avLst/>
          </a:prstGeom>
          <a:noFill/>
        </p:spPr>
        <p:txBody>
          <a:bodyPr wrap="square" lIns="91440" tIns="45720" rIns="91440" bIns="45720" rtlCol="0" anchor="t">
            <a:spAutoFit/>
          </a:bodyPr>
          <a:lstStyle/>
          <a:p>
            <a:r>
              <a:rPr lang="en-US" altLang="zh-CN" sz="3600" b="1" i="1">
                <a:solidFill>
                  <a:srgbClr val="FFBB29"/>
                </a:solidFill>
                <a:ea typeface="Calibri"/>
                <a:cs typeface="Calibri"/>
              </a:rPr>
              <a:t>Data Preparation</a:t>
            </a:r>
          </a:p>
        </p:txBody>
      </p:sp>
      <p:grpSp>
        <p:nvGrpSpPr>
          <p:cNvPr id="10" name="Group 9">
            <a:extLst>
              <a:ext uri="{FF2B5EF4-FFF2-40B4-BE49-F238E27FC236}">
                <a16:creationId xmlns:a16="http://schemas.microsoft.com/office/drawing/2014/main" id="{0C348879-D638-DC96-D766-4C5E6C785AEF}"/>
              </a:ext>
            </a:extLst>
          </p:cNvPr>
          <p:cNvGrpSpPr/>
          <p:nvPr/>
        </p:nvGrpSpPr>
        <p:grpSpPr>
          <a:xfrm>
            <a:off x="-929843" y="-1240692"/>
            <a:ext cx="3168652" cy="3543542"/>
            <a:chOff x="926333" y="909663"/>
            <a:chExt cx="4509235" cy="5042732"/>
          </a:xfrm>
          <a:noFill/>
        </p:grpSpPr>
        <p:sp>
          <p:nvSpPr>
            <p:cNvPr id="11" name="Freeform: Shape 10">
              <a:extLst>
                <a:ext uri="{FF2B5EF4-FFF2-40B4-BE49-F238E27FC236}">
                  <a16:creationId xmlns:a16="http://schemas.microsoft.com/office/drawing/2014/main" id="{D098F7D5-FF39-07A0-84F8-474FDC701B52}"/>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E66FB8F-09B5-BB11-39BF-AD6C28C2390F}"/>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F01B35B7-6DC0-E491-5510-27C774BF63DE}"/>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79DEE669-3FF2-B4D2-ABAD-583092E7388E}"/>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D04F211C-5FF6-983C-0A32-C8087EEAD7EA}"/>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474F3E11-B8D2-8FFE-55D0-05D26DE5B3F3}"/>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2">
                  <a:lumMod val="25000"/>
                </a:schemeClr>
              </a:solidFill>
              <a:prstDash val="solid"/>
              <a:miter/>
            </a:ln>
          </p:spPr>
          <p:txBody>
            <a:bodyPr rtlCol="0" anchor="ctr"/>
            <a:lstStyle/>
            <a:p>
              <a:endParaRPr lang="en-IN"/>
            </a:p>
          </p:txBody>
        </p:sp>
      </p:grpSp>
      <p:sp>
        <p:nvSpPr>
          <p:cNvPr id="2" name="文本框 1">
            <a:extLst>
              <a:ext uri="{FF2B5EF4-FFF2-40B4-BE49-F238E27FC236}">
                <a16:creationId xmlns:a16="http://schemas.microsoft.com/office/drawing/2014/main" id="{DCA43FAB-2792-4A5F-1D12-5C9973EF28E6}"/>
              </a:ext>
            </a:extLst>
          </p:cNvPr>
          <p:cNvSpPr txBox="1"/>
          <p:nvPr/>
        </p:nvSpPr>
        <p:spPr>
          <a:xfrm>
            <a:off x="2401017" y="859839"/>
            <a:ext cx="929905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b="1" dirty="0">
                <a:ea typeface="+mn-lt"/>
                <a:cs typeface="+mn-lt"/>
              </a:rPr>
              <a:t>Captur</a:t>
            </a:r>
            <a:r>
              <a:rPr lang="zh-CN" b="1" dirty="0">
                <a:ea typeface="+mn-lt"/>
                <a:cs typeface="+mn-lt"/>
              </a:rPr>
              <a:t>e c</a:t>
            </a:r>
            <a:r>
              <a:rPr lang="en-US" altLang="zh-CN" b="1" dirty="0">
                <a:ea typeface="+mn-lt"/>
                <a:cs typeface="+mn-lt"/>
              </a:rPr>
              <a:t>us</a:t>
            </a:r>
            <a:r>
              <a:rPr lang="zh-CN" b="1" dirty="0">
                <a:ea typeface="+mn-lt"/>
                <a:cs typeface="+mn-lt"/>
              </a:rPr>
              <a:t>t</a:t>
            </a:r>
            <a:r>
              <a:rPr lang="en-US" altLang="zh-CN" b="1" dirty="0" err="1">
                <a:ea typeface="+mn-lt"/>
                <a:cs typeface="+mn-lt"/>
              </a:rPr>
              <a:t>omer</a:t>
            </a:r>
            <a:r>
              <a:rPr lang="zh-CN" b="1" dirty="0">
                <a:ea typeface="+mn-lt"/>
                <a:cs typeface="+mn-lt"/>
              </a:rPr>
              <a:t> </a:t>
            </a:r>
            <a:r>
              <a:rPr lang="en-US" altLang="zh-CN" b="1" dirty="0" err="1">
                <a:ea typeface="+mn-lt"/>
                <a:cs typeface="+mn-lt"/>
              </a:rPr>
              <a:t>purchas</a:t>
            </a:r>
            <a:r>
              <a:rPr lang="zh-CN" b="1" dirty="0">
                <a:ea typeface="+mn-lt"/>
                <a:cs typeface="+mn-lt"/>
              </a:rPr>
              <a:t>i</a:t>
            </a:r>
            <a:r>
              <a:rPr lang="en-US" altLang="zh-CN" b="1" dirty="0">
                <a:ea typeface="+mn-lt"/>
                <a:cs typeface="+mn-lt"/>
              </a:rPr>
              <a:t>ng</a:t>
            </a:r>
            <a:r>
              <a:rPr lang="zh-CN" b="1" dirty="0">
                <a:ea typeface="+mn-lt"/>
                <a:cs typeface="+mn-lt"/>
              </a:rPr>
              <a:t> </a:t>
            </a:r>
            <a:r>
              <a:rPr lang="en-US" altLang="zh-CN" b="1" dirty="0" err="1">
                <a:ea typeface="+mn-lt"/>
                <a:cs typeface="+mn-lt"/>
              </a:rPr>
              <a:t>beha</a:t>
            </a:r>
            <a:r>
              <a:rPr lang="zh-CN" b="1" dirty="0">
                <a:ea typeface="+mn-lt"/>
                <a:cs typeface="+mn-lt"/>
              </a:rPr>
              <a:t>v</a:t>
            </a:r>
            <a:r>
              <a:rPr lang="en-US" altLang="zh-CN" b="1" dirty="0" err="1">
                <a:ea typeface="+mn-lt"/>
                <a:cs typeface="+mn-lt"/>
              </a:rPr>
              <a:t>ior</a:t>
            </a:r>
            <a:r>
              <a:rPr lang="zh-CN" b="1" dirty="0">
                <a:ea typeface="+mn-lt"/>
                <a:cs typeface="+mn-lt"/>
              </a:rPr>
              <a:t> </a:t>
            </a:r>
            <a:r>
              <a:rPr lang="en-US" altLang="zh-CN" b="1" dirty="0" err="1">
                <a:ea typeface="+mn-lt"/>
                <a:cs typeface="+mn-lt"/>
              </a:rPr>
              <a:t>patt</a:t>
            </a:r>
            <a:r>
              <a:rPr lang="zh-CN" b="1" dirty="0">
                <a:ea typeface="+mn-lt"/>
                <a:cs typeface="+mn-lt"/>
              </a:rPr>
              <a:t>e</a:t>
            </a:r>
            <a:r>
              <a:rPr lang="en-US" altLang="zh-CN" b="1" dirty="0" err="1">
                <a:ea typeface="+mn-lt"/>
                <a:cs typeface="+mn-lt"/>
              </a:rPr>
              <a:t>rns</a:t>
            </a:r>
            <a:r>
              <a:rPr lang="zh-CN" b="1" dirty="0">
                <a:ea typeface="+mn-lt"/>
                <a:cs typeface="+mn-lt"/>
              </a:rPr>
              <a:t>:</a:t>
            </a:r>
          </a:p>
          <a:p>
            <a:pPr marL="285750" indent="-285750">
              <a:buFont typeface="Arial"/>
              <a:buChar char="•"/>
            </a:pPr>
            <a:r>
              <a:rPr lang="en-US" altLang="zh-CN" dirty="0">
                <a:ea typeface="+mn-lt"/>
                <a:cs typeface="+mn-lt"/>
              </a:rPr>
              <a:t>The</a:t>
            </a:r>
            <a:r>
              <a:rPr lang="zh-CN" altLang="en-US" dirty="0">
                <a:ea typeface="+mn-lt"/>
                <a:cs typeface="+mn-lt"/>
              </a:rPr>
              <a:t> </a:t>
            </a:r>
            <a:r>
              <a:rPr lang="en-US" altLang="zh-CN" dirty="0">
                <a:ea typeface="+mn-lt"/>
                <a:cs typeface="+mn-lt"/>
              </a:rPr>
              <a:t>number</a:t>
            </a:r>
            <a:r>
              <a:rPr lang="zh-CN" altLang="en-US" dirty="0">
                <a:ea typeface="+mn-lt"/>
                <a:cs typeface="+mn-lt"/>
              </a:rPr>
              <a:t> </a:t>
            </a:r>
            <a:r>
              <a:rPr lang="en-US" altLang="zh-CN" dirty="0">
                <a:ea typeface="+mn-lt"/>
                <a:cs typeface="+mn-lt"/>
              </a:rPr>
              <a:t>of</a:t>
            </a:r>
            <a:r>
              <a:rPr lang="zh-CN" altLang="en-US" dirty="0">
                <a:ea typeface="+mn-lt"/>
                <a:cs typeface="+mn-lt"/>
              </a:rPr>
              <a:t> </a:t>
            </a:r>
            <a:r>
              <a:rPr lang="en-US" altLang="zh-CN" dirty="0">
                <a:ea typeface="+mn-lt"/>
                <a:cs typeface="+mn-lt"/>
              </a:rPr>
              <a:t>unique</a:t>
            </a:r>
            <a:r>
              <a:rPr lang="zh-CN" altLang="en-US" dirty="0">
                <a:ea typeface="+mn-lt"/>
                <a:cs typeface="+mn-lt"/>
              </a:rPr>
              <a:t> </a:t>
            </a:r>
            <a:r>
              <a:rPr lang="en-US" altLang="zh-CN" dirty="0">
                <a:ea typeface="+mn-lt"/>
                <a:cs typeface="+mn-lt"/>
              </a:rPr>
              <a:t>product</a:t>
            </a:r>
            <a:r>
              <a:rPr lang="zh-CN" dirty="0">
                <a:ea typeface="+mn-lt"/>
                <a:cs typeface="+mn-lt"/>
              </a:rPr>
              <a:t>s</a:t>
            </a:r>
            <a:r>
              <a:rPr lang="zh-CN" altLang="en-US" dirty="0">
                <a:ea typeface="+mn-lt"/>
                <a:cs typeface="+mn-lt"/>
              </a:rPr>
              <a:t> </a:t>
            </a:r>
            <a:r>
              <a:rPr lang="en-US" altLang="zh-CN" dirty="0">
                <a:ea typeface="+mn-lt"/>
                <a:cs typeface="+mn-lt"/>
              </a:rPr>
              <a:t>and</a:t>
            </a:r>
            <a:r>
              <a:rPr lang="zh-CN" altLang="en-US" dirty="0">
                <a:ea typeface="+mn-lt"/>
                <a:cs typeface="+mn-lt"/>
              </a:rPr>
              <a:t> </a:t>
            </a:r>
            <a:r>
              <a:rPr lang="en-US" altLang="zh-CN" dirty="0">
                <a:ea typeface="+mn-lt"/>
                <a:cs typeface="+mn-lt"/>
              </a:rPr>
              <a:t>cat</a:t>
            </a:r>
            <a:r>
              <a:rPr lang="zh-CN" dirty="0">
                <a:ea typeface="+mn-lt"/>
                <a:cs typeface="+mn-lt"/>
              </a:rPr>
              <a:t>e</a:t>
            </a:r>
            <a:r>
              <a:rPr lang="en-US" altLang="zh-CN" dirty="0" err="1">
                <a:ea typeface="+mn-lt"/>
                <a:cs typeface="+mn-lt"/>
              </a:rPr>
              <a:t>gor</a:t>
            </a:r>
            <a:r>
              <a:rPr lang="zh-CN" dirty="0">
                <a:ea typeface="+mn-lt"/>
                <a:cs typeface="+mn-lt"/>
              </a:rPr>
              <a:t>i</a:t>
            </a:r>
            <a:r>
              <a:rPr lang="en-US" altLang="zh-CN" dirty="0">
                <a:ea typeface="+mn-lt"/>
                <a:cs typeface="+mn-lt"/>
              </a:rPr>
              <a:t>es</a:t>
            </a:r>
            <a:r>
              <a:rPr lang="zh-CN" altLang="en-US" dirty="0">
                <a:ea typeface="+mn-lt"/>
                <a:cs typeface="+mn-lt"/>
              </a:rPr>
              <a:t> </a:t>
            </a:r>
            <a:r>
              <a:rPr lang="en-US" altLang="zh-CN" dirty="0">
                <a:ea typeface="+mn-lt"/>
                <a:cs typeface="+mn-lt"/>
              </a:rPr>
              <a:t>reflect</a:t>
            </a:r>
            <a:r>
              <a:rPr lang="zh-CN" dirty="0">
                <a:ea typeface="+mn-lt"/>
                <a:cs typeface="+mn-lt"/>
              </a:rPr>
              <a:t>s</a:t>
            </a:r>
            <a:r>
              <a:rPr lang="zh-CN" altLang="en-US" dirty="0">
                <a:ea typeface="+mn-lt"/>
                <a:cs typeface="+mn-lt"/>
              </a:rPr>
              <a:t> </a:t>
            </a:r>
            <a:r>
              <a:rPr lang="en-US" altLang="zh-CN" dirty="0">
                <a:ea typeface="+mn-lt"/>
                <a:cs typeface="+mn-lt"/>
              </a:rPr>
              <a:t>the</a:t>
            </a:r>
            <a:r>
              <a:rPr lang="zh-CN" altLang="en-US" dirty="0">
                <a:ea typeface="+mn-lt"/>
                <a:cs typeface="+mn-lt"/>
              </a:rPr>
              <a:t> </a:t>
            </a:r>
            <a:r>
              <a:rPr lang="en-US" altLang="zh-CN" dirty="0" err="1">
                <a:ea typeface="+mn-lt"/>
                <a:cs typeface="+mn-lt"/>
              </a:rPr>
              <a:t>cus</a:t>
            </a:r>
            <a:r>
              <a:rPr lang="zh-CN" dirty="0">
                <a:ea typeface="+mn-lt"/>
                <a:cs typeface="+mn-lt"/>
              </a:rPr>
              <a:t>to</a:t>
            </a:r>
            <a:r>
              <a:rPr lang="en-US" altLang="zh-CN" dirty="0">
                <a:ea typeface="+mn-lt"/>
                <a:cs typeface="+mn-lt"/>
              </a:rPr>
              <a:t>me</a:t>
            </a:r>
            <a:r>
              <a:rPr lang="zh-CN" dirty="0">
                <a:ea typeface="+mn-lt"/>
                <a:cs typeface="+mn-lt"/>
              </a:rPr>
              <a:t>r</a:t>
            </a:r>
            <a:r>
              <a:rPr lang="en-US" altLang="zh-CN" dirty="0">
                <a:ea typeface="+mn-lt"/>
                <a:cs typeface="+mn-lt"/>
              </a:rPr>
              <a:t>'s</a:t>
            </a:r>
            <a:r>
              <a:rPr lang="zh-CN" altLang="en-US" dirty="0">
                <a:ea typeface="+mn-lt"/>
                <a:cs typeface="+mn-lt"/>
              </a:rPr>
              <a:t> </a:t>
            </a:r>
            <a:r>
              <a:rPr lang="en-US" altLang="zh-CN" dirty="0">
                <a:ea typeface="+mn-lt"/>
                <a:cs typeface="+mn-lt"/>
              </a:rPr>
              <a:t>d</a:t>
            </a:r>
            <a:r>
              <a:rPr lang="zh-CN" dirty="0">
                <a:ea typeface="+mn-lt"/>
                <a:cs typeface="+mn-lt"/>
              </a:rPr>
              <a:t>i</a:t>
            </a:r>
            <a:r>
              <a:rPr lang="en-US" altLang="zh-CN" dirty="0">
                <a:ea typeface="+mn-lt"/>
                <a:cs typeface="+mn-lt"/>
              </a:rPr>
              <a:t>verse</a:t>
            </a:r>
            <a:r>
              <a:rPr lang="zh-CN" altLang="en-US" dirty="0">
                <a:ea typeface="+mn-lt"/>
                <a:cs typeface="+mn-lt"/>
              </a:rPr>
              <a:t> </a:t>
            </a:r>
            <a:r>
              <a:rPr lang="en-US" altLang="zh-CN" dirty="0" err="1">
                <a:ea typeface="+mn-lt"/>
                <a:cs typeface="+mn-lt"/>
              </a:rPr>
              <a:t>pur</a:t>
            </a:r>
            <a:r>
              <a:rPr lang="zh-CN" dirty="0">
                <a:ea typeface="+mn-lt"/>
                <a:cs typeface="+mn-lt"/>
              </a:rPr>
              <a:t>c</a:t>
            </a:r>
            <a:r>
              <a:rPr lang="en-US" altLang="zh-CN" dirty="0">
                <a:ea typeface="+mn-lt"/>
                <a:cs typeface="+mn-lt"/>
              </a:rPr>
              <a:t>h</a:t>
            </a:r>
            <a:r>
              <a:rPr lang="zh-CN" dirty="0">
                <a:ea typeface="+mn-lt"/>
                <a:cs typeface="+mn-lt"/>
              </a:rPr>
              <a:t>a</a:t>
            </a:r>
            <a:r>
              <a:rPr lang="en-US" altLang="zh-CN" dirty="0">
                <a:ea typeface="+mn-lt"/>
                <a:cs typeface="+mn-lt"/>
              </a:rPr>
              <a:t>sing</a:t>
            </a:r>
            <a:r>
              <a:rPr lang="zh-CN" altLang="en-US" dirty="0">
                <a:ea typeface="+mn-lt"/>
                <a:cs typeface="+mn-lt"/>
              </a:rPr>
              <a:t> </a:t>
            </a:r>
            <a:r>
              <a:rPr lang="en-US" altLang="zh-CN" dirty="0">
                <a:ea typeface="+mn-lt"/>
                <a:cs typeface="+mn-lt"/>
              </a:rPr>
              <a:t>tendencies.</a:t>
            </a:r>
            <a:endParaRPr lang="zh-CN" altLang="en-US" dirty="0">
              <a:cs typeface="Calibri" panose="020F0502020204030204"/>
            </a:endParaRPr>
          </a:p>
          <a:p>
            <a:r>
              <a:rPr lang="en-US" altLang="zh-CN" b="1" dirty="0">
                <a:ea typeface="+mn-lt"/>
                <a:cs typeface="+mn-lt"/>
              </a:rPr>
              <a:t>Explore</a:t>
            </a:r>
            <a:r>
              <a:rPr lang="zh-CN" altLang="en-US" b="1" dirty="0">
                <a:ea typeface="+mn-lt"/>
                <a:cs typeface="+mn-lt"/>
              </a:rPr>
              <a:t> </a:t>
            </a:r>
            <a:r>
              <a:rPr lang="zh-CN" b="1" dirty="0">
                <a:ea typeface="+mn-lt"/>
                <a:cs typeface="+mn-lt"/>
              </a:rPr>
              <a:t>t</a:t>
            </a:r>
            <a:r>
              <a:rPr lang="en-US" altLang="zh-CN" b="1" dirty="0">
                <a:ea typeface="+mn-lt"/>
                <a:cs typeface="+mn-lt"/>
              </a:rPr>
              <a:t>h</a:t>
            </a:r>
            <a:r>
              <a:rPr lang="zh-CN" b="1" dirty="0">
                <a:ea typeface="+mn-lt"/>
                <a:cs typeface="+mn-lt"/>
              </a:rPr>
              <a:t>e</a:t>
            </a:r>
            <a:r>
              <a:rPr lang="zh-CN" altLang="en-US" b="1" dirty="0">
                <a:ea typeface="+mn-lt"/>
                <a:cs typeface="+mn-lt"/>
              </a:rPr>
              <a:t> </a:t>
            </a:r>
            <a:r>
              <a:rPr lang="en-US" altLang="zh-CN" b="1" dirty="0">
                <a:ea typeface="+mn-lt"/>
                <a:cs typeface="+mn-lt"/>
              </a:rPr>
              <a:t>imp</a:t>
            </a:r>
            <a:r>
              <a:rPr lang="zh-CN" b="1" dirty="0">
                <a:ea typeface="+mn-lt"/>
                <a:cs typeface="+mn-lt"/>
              </a:rPr>
              <a:t>a</a:t>
            </a:r>
            <a:r>
              <a:rPr lang="en-US" altLang="zh-CN" b="1" dirty="0">
                <a:ea typeface="+mn-lt"/>
                <a:cs typeface="+mn-lt"/>
              </a:rPr>
              <a:t>c</a:t>
            </a:r>
            <a:r>
              <a:rPr lang="zh-CN" b="1" dirty="0">
                <a:ea typeface="+mn-lt"/>
                <a:cs typeface="+mn-lt"/>
              </a:rPr>
              <a:t>t</a:t>
            </a:r>
            <a:r>
              <a:rPr lang="zh-CN" altLang="en-US" b="1" dirty="0">
                <a:ea typeface="+mn-lt"/>
                <a:cs typeface="+mn-lt"/>
              </a:rPr>
              <a:t> </a:t>
            </a:r>
            <a:r>
              <a:rPr lang="zh-CN" b="1" dirty="0">
                <a:ea typeface="+mn-lt"/>
                <a:cs typeface="+mn-lt"/>
              </a:rPr>
              <a:t>o</a:t>
            </a:r>
            <a:r>
              <a:rPr lang="en-US" altLang="zh-CN" b="1" dirty="0">
                <a:ea typeface="+mn-lt"/>
                <a:cs typeface="+mn-lt"/>
              </a:rPr>
              <a:t>f</a:t>
            </a:r>
            <a:r>
              <a:rPr lang="zh-CN" altLang="en-US" b="1" dirty="0">
                <a:ea typeface="+mn-lt"/>
                <a:cs typeface="+mn-lt"/>
              </a:rPr>
              <a:t> </a:t>
            </a:r>
            <a:r>
              <a:rPr lang="en-US" altLang="zh-CN" b="1" dirty="0">
                <a:ea typeface="+mn-lt"/>
                <a:cs typeface="+mn-lt"/>
              </a:rPr>
              <a:t>time</a:t>
            </a:r>
            <a:r>
              <a:rPr lang="zh-CN" altLang="en-US" b="1" dirty="0">
                <a:ea typeface="+mn-lt"/>
                <a:cs typeface="+mn-lt"/>
              </a:rPr>
              <a:t> </a:t>
            </a:r>
            <a:r>
              <a:rPr lang="en-US" altLang="zh-CN" b="1" dirty="0" err="1">
                <a:ea typeface="+mn-lt"/>
                <a:cs typeface="+mn-lt"/>
              </a:rPr>
              <a:t>featu</a:t>
            </a:r>
            <a:r>
              <a:rPr lang="zh-CN" b="1" dirty="0">
                <a:ea typeface="+mn-lt"/>
                <a:cs typeface="+mn-lt"/>
              </a:rPr>
              <a:t>re</a:t>
            </a:r>
            <a:r>
              <a:rPr lang="en-US" altLang="zh-CN" b="1" dirty="0">
                <a:ea typeface="+mn-lt"/>
                <a:cs typeface="+mn-lt"/>
              </a:rPr>
              <a:t>s:</a:t>
            </a:r>
            <a:endParaRPr lang="en-US" altLang="zh-CN" b="1" dirty="0"/>
          </a:p>
          <a:p>
            <a:pPr marL="285750" indent="-285750">
              <a:buFont typeface="Arial"/>
              <a:buChar char="•"/>
            </a:pPr>
            <a:r>
              <a:rPr lang="en-US" altLang="zh-CN" dirty="0">
                <a:ea typeface="+mn-lt"/>
                <a:cs typeface="+mn-lt"/>
              </a:rPr>
              <a:t>The</a:t>
            </a:r>
            <a:r>
              <a:rPr lang="zh-CN" altLang="en-US" dirty="0">
                <a:ea typeface="+mn-lt"/>
                <a:cs typeface="+mn-lt"/>
              </a:rPr>
              <a:t> </a:t>
            </a:r>
            <a:r>
              <a:rPr lang="zh-CN" dirty="0">
                <a:ea typeface="+mn-lt"/>
                <a:cs typeface="+mn-lt"/>
              </a:rPr>
              <a:t>d</a:t>
            </a:r>
            <a:r>
              <a:rPr lang="en-US" altLang="zh-CN" dirty="0">
                <a:ea typeface="+mn-lt"/>
                <a:cs typeface="+mn-lt"/>
              </a:rPr>
              <a:t>ay</a:t>
            </a:r>
            <a:r>
              <a:rPr lang="zh-CN" altLang="en-US" dirty="0">
                <a:ea typeface="+mn-lt"/>
                <a:cs typeface="+mn-lt"/>
              </a:rPr>
              <a:t> </a:t>
            </a:r>
            <a:r>
              <a:rPr lang="en-US" altLang="zh-CN" dirty="0">
                <a:ea typeface="+mn-lt"/>
                <a:cs typeface="+mn-lt"/>
              </a:rPr>
              <a:t>of</a:t>
            </a:r>
            <a:r>
              <a:rPr lang="zh-CN" altLang="en-US" dirty="0">
                <a:ea typeface="+mn-lt"/>
                <a:cs typeface="+mn-lt"/>
              </a:rPr>
              <a:t> </a:t>
            </a:r>
            <a:r>
              <a:rPr lang="zh-CN" dirty="0">
                <a:ea typeface="+mn-lt"/>
                <a:cs typeface="+mn-lt"/>
              </a:rPr>
              <a:t>t</a:t>
            </a:r>
            <a:r>
              <a:rPr lang="en-US" altLang="zh-CN" dirty="0">
                <a:ea typeface="+mn-lt"/>
                <a:cs typeface="+mn-lt"/>
              </a:rPr>
              <a:t>he</a:t>
            </a:r>
            <a:r>
              <a:rPr lang="zh-CN" altLang="en-US" dirty="0">
                <a:ea typeface="+mn-lt"/>
                <a:cs typeface="+mn-lt"/>
              </a:rPr>
              <a:t> </a:t>
            </a:r>
            <a:r>
              <a:rPr lang="en-US" altLang="zh-CN" dirty="0">
                <a:ea typeface="+mn-lt"/>
                <a:cs typeface="+mn-lt"/>
              </a:rPr>
              <a:t>week</a:t>
            </a:r>
            <a:r>
              <a:rPr lang="zh-CN" altLang="en-US" dirty="0">
                <a:ea typeface="+mn-lt"/>
                <a:cs typeface="+mn-lt"/>
              </a:rPr>
              <a:t> </a:t>
            </a:r>
            <a:r>
              <a:rPr lang="en-US" altLang="zh-CN" dirty="0">
                <a:ea typeface="+mn-lt"/>
                <a:cs typeface="+mn-lt"/>
              </a:rPr>
              <a:t>when</a:t>
            </a:r>
            <a:r>
              <a:rPr lang="zh-CN" dirty="0">
                <a:ea typeface="+mn-lt"/>
                <a:cs typeface="+mn-lt"/>
              </a:rPr>
              <a:t> the </a:t>
            </a:r>
            <a:r>
              <a:rPr lang="en-US" altLang="zh-CN" dirty="0" err="1">
                <a:ea typeface="+mn-lt"/>
                <a:cs typeface="+mn-lt"/>
              </a:rPr>
              <a:t>transactio</a:t>
            </a:r>
            <a:r>
              <a:rPr lang="zh-CN" dirty="0">
                <a:ea typeface="+mn-lt"/>
                <a:cs typeface="+mn-lt"/>
              </a:rPr>
              <a:t>n</a:t>
            </a:r>
            <a:r>
              <a:rPr lang="zh-CN" altLang="en-US" dirty="0">
                <a:ea typeface="+mn-lt"/>
                <a:cs typeface="+mn-lt"/>
              </a:rPr>
              <a:t> </a:t>
            </a:r>
            <a:r>
              <a:rPr lang="en-US" altLang="zh-CN" dirty="0">
                <a:ea typeface="+mn-lt"/>
                <a:cs typeface="+mn-lt"/>
              </a:rPr>
              <a:t>occurs</a:t>
            </a:r>
            <a:r>
              <a:rPr lang="zh-CN" altLang="en-US" dirty="0">
                <a:ea typeface="+mn-lt"/>
                <a:cs typeface="+mn-lt"/>
              </a:rPr>
              <a:t> </a:t>
            </a:r>
            <a:r>
              <a:rPr lang="en-US" altLang="zh-CN" dirty="0">
                <a:ea typeface="+mn-lt"/>
                <a:cs typeface="+mn-lt"/>
              </a:rPr>
              <a:t>may</a:t>
            </a:r>
            <a:r>
              <a:rPr lang="zh-CN" altLang="en-US" dirty="0">
                <a:ea typeface="+mn-lt"/>
                <a:cs typeface="+mn-lt"/>
              </a:rPr>
              <a:t> </a:t>
            </a:r>
            <a:r>
              <a:rPr lang="en-US" altLang="zh-CN" dirty="0" err="1">
                <a:ea typeface="+mn-lt"/>
                <a:cs typeface="+mn-lt"/>
              </a:rPr>
              <a:t>aff</a:t>
            </a:r>
            <a:r>
              <a:rPr lang="zh-CN" dirty="0">
                <a:ea typeface="+mn-lt"/>
                <a:cs typeface="+mn-lt"/>
              </a:rPr>
              <a:t>e</a:t>
            </a:r>
            <a:r>
              <a:rPr lang="en-US" altLang="zh-CN" dirty="0">
                <a:ea typeface="+mn-lt"/>
                <a:cs typeface="+mn-lt"/>
              </a:rPr>
              <a:t>c</a:t>
            </a:r>
            <a:r>
              <a:rPr lang="zh-CN" dirty="0">
                <a:ea typeface="+mn-lt"/>
                <a:cs typeface="+mn-lt"/>
              </a:rPr>
              <a:t>t consum</a:t>
            </a:r>
            <a:r>
              <a:rPr lang="en-US" altLang="zh-CN" dirty="0">
                <a:ea typeface="+mn-lt"/>
                <a:cs typeface="+mn-lt"/>
              </a:rPr>
              <a:t>er</a:t>
            </a:r>
            <a:r>
              <a:rPr lang="zh-CN" altLang="en-US" dirty="0">
                <a:ea typeface="+mn-lt"/>
                <a:cs typeface="+mn-lt"/>
              </a:rPr>
              <a:t> </a:t>
            </a:r>
            <a:r>
              <a:rPr lang="en-US" altLang="zh-CN" dirty="0" err="1">
                <a:ea typeface="+mn-lt"/>
                <a:cs typeface="+mn-lt"/>
              </a:rPr>
              <a:t>behav</a:t>
            </a:r>
            <a:r>
              <a:rPr lang="zh-CN" dirty="0">
                <a:ea typeface="+mn-lt"/>
                <a:cs typeface="+mn-lt"/>
              </a:rPr>
              <a:t>io</a:t>
            </a:r>
            <a:r>
              <a:rPr lang="en-US" altLang="zh-CN" dirty="0">
                <a:ea typeface="+mn-lt"/>
                <a:cs typeface="+mn-lt"/>
              </a:rPr>
              <a:t>r</a:t>
            </a:r>
            <a:r>
              <a:rPr lang="zh-CN" altLang="en-US" dirty="0">
                <a:ea typeface="+mn-lt"/>
                <a:cs typeface="+mn-lt"/>
              </a:rPr>
              <a:t> </a:t>
            </a:r>
            <a:r>
              <a:rPr lang="en-US" altLang="zh-CN" dirty="0">
                <a:ea typeface="+mn-lt"/>
                <a:cs typeface="+mn-lt"/>
              </a:rPr>
              <a:t>(such</a:t>
            </a:r>
            <a:r>
              <a:rPr lang="zh-CN" dirty="0">
                <a:ea typeface="+mn-lt"/>
                <a:cs typeface="+mn-lt"/>
              </a:rPr>
              <a:t> </a:t>
            </a:r>
            <a:r>
              <a:rPr lang="en-US" altLang="zh-CN" dirty="0">
                <a:ea typeface="+mn-lt"/>
                <a:cs typeface="+mn-lt"/>
              </a:rPr>
              <a:t>as</a:t>
            </a:r>
            <a:r>
              <a:rPr lang="zh-CN" altLang="en-US" dirty="0">
                <a:ea typeface="+mn-lt"/>
                <a:cs typeface="+mn-lt"/>
              </a:rPr>
              <a:t> </a:t>
            </a:r>
            <a:r>
              <a:rPr lang="en-US" altLang="zh-CN" dirty="0">
                <a:ea typeface="+mn-lt"/>
                <a:cs typeface="+mn-lt"/>
              </a:rPr>
              <a:t>weekend</a:t>
            </a:r>
            <a:r>
              <a:rPr lang="zh-CN" altLang="en-US" dirty="0">
                <a:ea typeface="+mn-lt"/>
                <a:cs typeface="+mn-lt"/>
              </a:rPr>
              <a:t> </a:t>
            </a:r>
            <a:r>
              <a:rPr lang="en-US" altLang="zh-CN" dirty="0">
                <a:ea typeface="+mn-lt"/>
                <a:cs typeface="+mn-lt"/>
              </a:rPr>
              <a:t>s</a:t>
            </a:r>
            <a:r>
              <a:rPr lang="zh-CN" dirty="0">
                <a:ea typeface="+mn-lt"/>
                <a:cs typeface="+mn-lt"/>
              </a:rPr>
              <a:t>h</a:t>
            </a:r>
            <a:r>
              <a:rPr lang="en-US" altLang="zh-CN" dirty="0" err="1">
                <a:ea typeface="+mn-lt"/>
                <a:cs typeface="+mn-lt"/>
              </a:rPr>
              <a:t>oppi</a:t>
            </a:r>
            <a:r>
              <a:rPr lang="zh-CN" dirty="0">
                <a:ea typeface="+mn-lt"/>
                <a:cs typeface="+mn-lt"/>
              </a:rPr>
              <a:t>n</a:t>
            </a:r>
            <a:r>
              <a:rPr lang="en-US" altLang="zh-CN" dirty="0">
                <a:ea typeface="+mn-lt"/>
                <a:cs typeface="+mn-lt"/>
              </a:rPr>
              <a:t>g</a:t>
            </a:r>
            <a:r>
              <a:rPr lang="zh-CN" altLang="en-US" dirty="0">
                <a:ea typeface="+mn-lt"/>
                <a:cs typeface="+mn-lt"/>
              </a:rPr>
              <a:t> </a:t>
            </a:r>
            <a:r>
              <a:rPr lang="en-US" altLang="zh-CN" dirty="0">
                <a:ea typeface="+mn-lt"/>
                <a:cs typeface="+mn-lt"/>
              </a:rPr>
              <a:t>p</a:t>
            </a:r>
            <a:r>
              <a:rPr lang="zh-CN" dirty="0">
                <a:ea typeface="+mn-lt"/>
                <a:cs typeface="+mn-lt"/>
              </a:rPr>
              <a:t>ea</a:t>
            </a:r>
            <a:r>
              <a:rPr lang="en-US" altLang="zh-CN" dirty="0">
                <a:ea typeface="+mn-lt"/>
                <a:cs typeface="+mn-lt"/>
              </a:rPr>
              <a:t>k</a:t>
            </a:r>
            <a:r>
              <a:rPr lang="zh-CN" dirty="0">
                <a:ea typeface="+mn-lt"/>
                <a:cs typeface="+mn-lt"/>
              </a:rPr>
              <a:t>)</a:t>
            </a:r>
            <a:r>
              <a:rPr lang="en-US" altLang="zh-CN" dirty="0">
                <a:ea typeface="+mn-lt"/>
                <a:cs typeface="+mn-lt"/>
              </a:rPr>
              <a:t>.</a:t>
            </a:r>
            <a:endParaRPr lang="en-US" dirty="0">
              <a:ea typeface="Calibri" panose="020F0502020204030204"/>
              <a:cs typeface="Calibri" panose="020F0502020204030204"/>
            </a:endParaRPr>
          </a:p>
          <a:p>
            <a:pPr marL="285750" indent="-285750">
              <a:buFont typeface="Arial"/>
              <a:buChar char="•"/>
            </a:pPr>
            <a:r>
              <a:rPr lang="en-US" altLang="zh-CN" dirty="0">
                <a:ea typeface="+mn-lt"/>
                <a:cs typeface="+mn-lt"/>
              </a:rPr>
              <a:t>T</a:t>
            </a:r>
            <a:r>
              <a:rPr lang="zh-CN" dirty="0">
                <a:ea typeface="+mn-lt"/>
                <a:cs typeface="+mn-lt"/>
              </a:rPr>
              <a:t>h</a:t>
            </a:r>
            <a:r>
              <a:rPr lang="en-US" altLang="zh-CN" dirty="0">
                <a:ea typeface="+mn-lt"/>
                <a:cs typeface="+mn-lt"/>
              </a:rPr>
              <a:t>e</a:t>
            </a:r>
            <a:r>
              <a:rPr lang="zh-CN" altLang="en-US" dirty="0">
                <a:ea typeface="+mn-lt"/>
                <a:cs typeface="+mn-lt"/>
              </a:rPr>
              <a:t> </a:t>
            </a:r>
            <a:r>
              <a:rPr lang="en-US" altLang="zh-CN" dirty="0">
                <a:ea typeface="+mn-lt"/>
                <a:cs typeface="+mn-lt"/>
              </a:rPr>
              <a:t>nu</a:t>
            </a:r>
            <a:r>
              <a:rPr lang="zh-CN" dirty="0">
                <a:ea typeface="+mn-lt"/>
                <a:cs typeface="+mn-lt"/>
              </a:rPr>
              <a:t>m</a:t>
            </a:r>
            <a:r>
              <a:rPr lang="en-US" altLang="zh-CN" dirty="0" err="1">
                <a:ea typeface="+mn-lt"/>
                <a:cs typeface="+mn-lt"/>
              </a:rPr>
              <a:t>ber</a:t>
            </a:r>
            <a:r>
              <a:rPr lang="zh-CN" altLang="en-US" dirty="0">
                <a:ea typeface="+mn-lt"/>
                <a:cs typeface="+mn-lt"/>
              </a:rPr>
              <a:t> </a:t>
            </a:r>
            <a:r>
              <a:rPr lang="zh-CN" dirty="0">
                <a:ea typeface="+mn-lt"/>
                <a:cs typeface="+mn-lt"/>
              </a:rPr>
              <a:t>o</a:t>
            </a:r>
            <a:r>
              <a:rPr lang="en-US" altLang="zh-CN" dirty="0">
                <a:ea typeface="+mn-lt"/>
                <a:cs typeface="+mn-lt"/>
              </a:rPr>
              <a:t>f</a:t>
            </a:r>
            <a:r>
              <a:rPr lang="zh-CN" dirty="0">
                <a:ea typeface="+mn-lt"/>
                <a:cs typeface="+mn-lt"/>
              </a:rPr>
              <a:t> </a:t>
            </a:r>
            <a:r>
              <a:rPr lang="en-US" altLang="zh-CN" dirty="0">
                <a:ea typeface="+mn-lt"/>
                <a:cs typeface="+mn-lt"/>
              </a:rPr>
              <a:t>days</a:t>
            </a:r>
            <a:r>
              <a:rPr lang="zh-CN" altLang="en-US" dirty="0">
                <a:ea typeface="+mn-lt"/>
                <a:cs typeface="+mn-lt"/>
              </a:rPr>
              <a:t> </a:t>
            </a:r>
            <a:r>
              <a:rPr lang="en-US" altLang="zh-CN" dirty="0" err="1">
                <a:ea typeface="+mn-lt"/>
                <a:cs typeface="+mn-lt"/>
              </a:rPr>
              <a:t>si</a:t>
            </a:r>
            <a:r>
              <a:rPr lang="zh-CN" dirty="0">
                <a:ea typeface="+mn-lt"/>
                <a:cs typeface="+mn-lt"/>
              </a:rPr>
              <a:t>n</a:t>
            </a:r>
            <a:r>
              <a:rPr lang="en-US" altLang="zh-CN" dirty="0" err="1">
                <a:ea typeface="+mn-lt"/>
                <a:cs typeface="+mn-lt"/>
              </a:rPr>
              <a:t>ce</a:t>
            </a:r>
            <a:r>
              <a:rPr lang="zh-CN" altLang="en-US" dirty="0">
                <a:ea typeface="+mn-lt"/>
                <a:cs typeface="+mn-lt"/>
              </a:rPr>
              <a:t> </a:t>
            </a:r>
            <a:r>
              <a:rPr lang="zh-CN" dirty="0">
                <a:ea typeface="+mn-lt"/>
                <a:cs typeface="+mn-lt"/>
              </a:rPr>
              <a:t>the</a:t>
            </a:r>
            <a:r>
              <a:rPr lang="zh-CN" altLang="en-US" dirty="0">
                <a:ea typeface="+mn-lt"/>
                <a:cs typeface="+mn-lt"/>
              </a:rPr>
              <a:t> </a:t>
            </a:r>
            <a:r>
              <a:rPr lang="en-US" altLang="zh-CN" dirty="0">
                <a:ea typeface="+mn-lt"/>
                <a:cs typeface="+mn-lt"/>
              </a:rPr>
              <a:t>last</a:t>
            </a:r>
            <a:r>
              <a:rPr lang="zh-CN" altLang="en-US" dirty="0">
                <a:ea typeface="+mn-lt"/>
                <a:cs typeface="+mn-lt"/>
              </a:rPr>
              <a:t> </a:t>
            </a:r>
            <a:r>
              <a:rPr lang="en-US" altLang="zh-CN" dirty="0">
                <a:ea typeface="+mn-lt"/>
                <a:cs typeface="+mn-lt"/>
              </a:rPr>
              <a:t>trans</a:t>
            </a:r>
            <a:r>
              <a:rPr lang="zh-CN" dirty="0">
                <a:ea typeface="+mn-lt"/>
                <a:cs typeface="+mn-lt"/>
              </a:rPr>
              <a:t>ac</a:t>
            </a:r>
            <a:r>
              <a:rPr lang="en-US" altLang="zh-CN" dirty="0" err="1">
                <a:ea typeface="+mn-lt"/>
                <a:cs typeface="+mn-lt"/>
              </a:rPr>
              <a:t>tion</a:t>
            </a:r>
            <a:r>
              <a:rPr lang="zh-CN" altLang="en-US" dirty="0">
                <a:ea typeface="+mn-lt"/>
                <a:cs typeface="+mn-lt"/>
              </a:rPr>
              <a:t> </a:t>
            </a:r>
            <a:r>
              <a:rPr lang="en-US" altLang="zh-CN" dirty="0">
                <a:ea typeface="+mn-lt"/>
                <a:cs typeface="+mn-lt"/>
              </a:rPr>
              <a:t>can</a:t>
            </a:r>
            <a:r>
              <a:rPr lang="zh-CN" altLang="en-US" dirty="0">
                <a:ea typeface="+mn-lt"/>
                <a:cs typeface="+mn-lt"/>
              </a:rPr>
              <a:t> </a:t>
            </a:r>
            <a:r>
              <a:rPr lang="en-US" altLang="zh-CN" dirty="0">
                <a:ea typeface="+mn-lt"/>
                <a:cs typeface="+mn-lt"/>
              </a:rPr>
              <a:t>b</a:t>
            </a:r>
            <a:r>
              <a:rPr lang="zh-CN" dirty="0">
                <a:ea typeface="+mn-lt"/>
                <a:cs typeface="+mn-lt"/>
              </a:rPr>
              <a:t>e</a:t>
            </a:r>
            <a:r>
              <a:rPr lang="zh-CN" altLang="en-US" dirty="0">
                <a:ea typeface="+mn-lt"/>
                <a:cs typeface="+mn-lt"/>
              </a:rPr>
              <a:t> </a:t>
            </a:r>
            <a:r>
              <a:rPr lang="en-US" altLang="zh-CN" dirty="0">
                <a:ea typeface="+mn-lt"/>
                <a:cs typeface="+mn-lt"/>
              </a:rPr>
              <a:t>used</a:t>
            </a:r>
            <a:r>
              <a:rPr lang="zh-CN" altLang="en-US" dirty="0">
                <a:ea typeface="+mn-lt"/>
                <a:cs typeface="+mn-lt"/>
              </a:rPr>
              <a:t> </a:t>
            </a:r>
            <a:r>
              <a:rPr lang="en-US" altLang="zh-CN" dirty="0">
                <a:ea typeface="+mn-lt"/>
                <a:cs typeface="+mn-lt"/>
              </a:rPr>
              <a:t>to</a:t>
            </a:r>
            <a:r>
              <a:rPr lang="zh-CN" altLang="en-US" dirty="0">
                <a:ea typeface="+mn-lt"/>
                <a:cs typeface="+mn-lt"/>
              </a:rPr>
              <a:t> </a:t>
            </a:r>
            <a:r>
              <a:rPr lang="en-US" altLang="zh-CN" dirty="0">
                <a:ea typeface="+mn-lt"/>
                <a:cs typeface="+mn-lt"/>
              </a:rPr>
              <a:t>analyze</a:t>
            </a:r>
            <a:r>
              <a:rPr lang="zh-CN" altLang="en-US" dirty="0">
                <a:ea typeface="+mn-lt"/>
                <a:cs typeface="+mn-lt"/>
              </a:rPr>
              <a:t> </a:t>
            </a:r>
            <a:r>
              <a:rPr lang="zh-CN" dirty="0">
                <a:ea typeface="+mn-lt"/>
                <a:cs typeface="+mn-lt"/>
              </a:rPr>
              <a:t>th</a:t>
            </a:r>
            <a:r>
              <a:rPr lang="en-US" altLang="zh-CN" dirty="0">
                <a:ea typeface="+mn-lt"/>
                <a:cs typeface="+mn-lt"/>
              </a:rPr>
              <a:t>e</a:t>
            </a:r>
            <a:r>
              <a:rPr lang="zh-CN" dirty="0">
                <a:ea typeface="+mn-lt"/>
                <a:cs typeface="+mn-lt"/>
              </a:rPr>
              <a:t> customer</a:t>
            </a:r>
            <a:r>
              <a:rPr lang="en-US" altLang="zh-CN" dirty="0">
                <a:ea typeface="+mn-lt"/>
                <a:cs typeface="+mn-lt"/>
              </a:rPr>
              <a:t>'</a:t>
            </a:r>
            <a:r>
              <a:rPr lang="zh-CN" dirty="0">
                <a:ea typeface="+mn-lt"/>
                <a:cs typeface="+mn-lt"/>
              </a:rPr>
              <a:t>s</a:t>
            </a:r>
            <a:r>
              <a:rPr lang="zh-CN" altLang="en-US" dirty="0">
                <a:ea typeface="+mn-lt"/>
                <a:cs typeface="+mn-lt"/>
              </a:rPr>
              <a:t> </a:t>
            </a:r>
            <a:r>
              <a:rPr lang="en-US" altLang="zh-CN" dirty="0">
                <a:ea typeface="+mn-lt"/>
                <a:cs typeface="+mn-lt"/>
              </a:rPr>
              <a:t>purchase</a:t>
            </a:r>
            <a:r>
              <a:rPr lang="zh-CN" altLang="en-US" dirty="0">
                <a:ea typeface="+mn-lt"/>
                <a:cs typeface="+mn-lt"/>
              </a:rPr>
              <a:t> </a:t>
            </a:r>
            <a:r>
              <a:rPr lang="en-US" altLang="zh-CN" dirty="0">
                <a:ea typeface="+mn-lt"/>
                <a:cs typeface="+mn-lt"/>
              </a:rPr>
              <a:t>c</a:t>
            </a:r>
            <a:r>
              <a:rPr lang="zh-CN" dirty="0">
                <a:ea typeface="+mn-lt"/>
                <a:cs typeface="+mn-lt"/>
              </a:rPr>
              <a:t>y</a:t>
            </a:r>
            <a:r>
              <a:rPr lang="en-US" altLang="zh-CN" dirty="0" err="1">
                <a:ea typeface="+mn-lt"/>
                <a:cs typeface="+mn-lt"/>
              </a:rPr>
              <a:t>cle</a:t>
            </a:r>
            <a:r>
              <a:rPr lang="zh-CN" dirty="0">
                <a:ea typeface="+mn-lt"/>
                <a:cs typeface="+mn-lt"/>
              </a:rPr>
              <a:t>.</a:t>
            </a:r>
          </a:p>
          <a:p>
            <a:r>
              <a:rPr lang="en-US" altLang="zh-CN" b="1" dirty="0" err="1">
                <a:ea typeface="+mn-lt"/>
                <a:cs typeface="+mn-lt"/>
              </a:rPr>
              <a:t>Pr</a:t>
            </a:r>
            <a:r>
              <a:rPr lang="zh-CN" b="1" dirty="0">
                <a:ea typeface="+mn-lt"/>
                <a:cs typeface="+mn-lt"/>
              </a:rPr>
              <a:t>o</a:t>
            </a:r>
            <a:r>
              <a:rPr lang="en-US" altLang="zh-CN" b="1" dirty="0">
                <a:ea typeface="+mn-lt"/>
                <a:cs typeface="+mn-lt"/>
              </a:rPr>
              <a:t>v</a:t>
            </a:r>
            <a:r>
              <a:rPr lang="zh-CN" b="1" dirty="0">
                <a:ea typeface="+mn-lt"/>
                <a:cs typeface="+mn-lt"/>
              </a:rPr>
              <a:t>i</a:t>
            </a:r>
            <a:r>
              <a:rPr lang="en-US" altLang="zh-CN" b="1" dirty="0">
                <a:ea typeface="+mn-lt"/>
                <a:cs typeface="+mn-lt"/>
              </a:rPr>
              <a:t>de</a:t>
            </a:r>
            <a:r>
              <a:rPr lang="zh-CN" altLang="en-US" b="1" dirty="0">
                <a:ea typeface="+mn-lt"/>
                <a:cs typeface="+mn-lt"/>
              </a:rPr>
              <a:t> </a:t>
            </a:r>
            <a:r>
              <a:rPr lang="zh-CN" b="1" dirty="0">
                <a:ea typeface="+mn-lt"/>
                <a:cs typeface="+mn-lt"/>
              </a:rPr>
              <a:t>m</a:t>
            </a:r>
            <a:r>
              <a:rPr lang="en-US" altLang="zh-CN" b="1" dirty="0">
                <a:ea typeface="+mn-lt"/>
                <a:cs typeface="+mn-lt"/>
              </a:rPr>
              <a:t>or</a:t>
            </a:r>
            <a:r>
              <a:rPr lang="zh-CN" b="1" dirty="0">
                <a:ea typeface="+mn-lt"/>
                <a:cs typeface="+mn-lt"/>
              </a:rPr>
              <a:t>e in</a:t>
            </a:r>
            <a:r>
              <a:rPr lang="en-US" altLang="zh-CN" b="1" dirty="0">
                <a:ea typeface="+mn-lt"/>
                <a:cs typeface="+mn-lt"/>
              </a:rPr>
              <a:t>f</a:t>
            </a:r>
            <a:r>
              <a:rPr lang="zh-CN" b="1" dirty="0">
                <a:ea typeface="+mn-lt"/>
                <a:cs typeface="+mn-lt"/>
              </a:rPr>
              <a:t>orma</a:t>
            </a:r>
            <a:r>
              <a:rPr lang="en-US" altLang="zh-CN" b="1" dirty="0" err="1">
                <a:ea typeface="+mn-lt"/>
                <a:cs typeface="+mn-lt"/>
              </a:rPr>
              <a:t>tio</a:t>
            </a:r>
            <a:r>
              <a:rPr lang="zh-CN" b="1" dirty="0">
                <a:ea typeface="+mn-lt"/>
                <a:cs typeface="+mn-lt"/>
              </a:rPr>
              <a:t>n</a:t>
            </a:r>
            <a:r>
              <a:rPr lang="zh-CN" altLang="en-US" b="1" dirty="0">
                <a:ea typeface="+mn-lt"/>
                <a:cs typeface="+mn-lt"/>
              </a:rPr>
              <a:t> </a:t>
            </a:r>
            <a:r>
              <a:rPr lang="en-US" altLang="zh-CN" b="1" dirty="0">
                <a:ea typeface="+mn-lt"/>
                <a:cs typeface="+mn-lt"/>
              </a:rPr>
              <a:t>for</a:t>
            </a:r>
            <a:r>
              <a:rPr lang="zh-CN" altLang="en-US" b="1" dirty="0">
                <a:ea typeface="+mn-lt"/>
                <a:cs typeface="+mn-lt"/>
              </a:rPr>
              <a:t> </a:t>
            </a:r>
            <a:r>
              <a:rPr lang="en-US" altLang="zh-CN" b="1" dirty="0" err="1">
                <a:ea typeface="+mn-lt"/>
                <a:cs typeface="+mn-lt"/>
              </a:rPr>
              <a:t>th</a:t>
            </a:r>
            <a:r>
              <a:rPr lang="zh-CN" b="1" dirty="0">
                <a:ea typeface="+mn-lt"/>
                <a:cs typeface="+mn-lt"/>
              </a:rPr>
              <a:t>e</a:t>
            </a:r>
            <a:r>
              <a:rPr lang="zh-CN" altLang="en-US" b="1" dirty="0">
                <a:ea typeface="+mn-lt"/>
                <a:cs typeface="+mn-lt"/>
              </a:rPr>
              <a:t> </a:t>
            </a:r>
            <a:r>
              <a:rPr lang="zh-CN" b="1" dirty="0">
                <a:ea typeface="+mn-lt"/>
                <a:cs typeface="+mn-lt"/>
              </a:rPr>
              <a:t>m</a:t>
            </a:r>
            <a:r>
              <a:rPr lang="en-US" altLang="zh-CN" b="1" dirty="0" err="1">
                <a:ea typeface="+mn-lt"/>
                <a:cs typeface="+mn-lt"/>
              </a:rPr>
              <a:t>odel</a:t>
            </a:r>
            <a:r>
              <a:rPr lang="en-US" altLang="zh-CN" b="1" dirty="0">
                <a:ea typeface="+mn-lt"/>
                <a:cs typeface="+mn-lt"/>
              </a:rPr>
              <a:t>:</a:t>
            </a:r>
            <a:endParaRPr lang="en-US" b="1" dirty="0"/>
          </a:p>
          <a:p>
            <a:pPr marL="285750" indent="-285750">
              <a:buFont typeface="Arial"/>
              <a:buChar char="•"/>
            </a:pPr>
            <a:r>
              <a:rPr lang="en-US" altLang="zh-CN" dirty="0">
                <a:ea typeface="+mn-lt"/>
                <a:cs typeface="+mn-lt"/>
              </a:rPr>
              <a:t>These</a:t>
            </a:r>
            <a:r>
              <a:rPr lang="zh-CN" altLang="en-US" dirty="0">
                <a:ea typeface="+mn-lt"/>
                <a:cs typeface="+mn-lt"/>
              </a:rPr>
              <a:t> </a:t>
            </a:r>
            <a:r>
              <a:rPr lang="en-US" altLang="zh-CN" dirty="0">
                <a:ea typeface="+mn-lt"/>
                <a:cs typeface="+mn-lt"/>
              </a:rPr>
              <a:t>f</a:t>
            </a:r>
            <a:r>
              <a:rPr lang="zh-CN" dirty="0">
                <a:ea typeface="+mn-lt"/>
                <a:cs typeface="+mn-lt"/>
              </a:rPr>
              <a:t>e</a:t>
            </a:r>
            <a:r>
              <a:rPr lang="en-US" altLang="zh-CN" dirty="0">
                <a:ea typeface="+mn-lt"/>
                <a:cs typeface="+mn-lt"/>
              </a:rPr>
              <a:t>a</a:t>
            </a:r>
            <a:r>
              <a:rPr lang="zh-CN" dirty="0">
                <a:ea typeface="+mn-lt"/>
                <a:cs typeface="+mn-lt"/>
              </a:rPr>
              <a:t>t</a:t>
            </a:r>
            <a:r>
              <a:rPr lang="en-US" altLang="zh-CN" dirty="0">
                <a:ea typeface="+mn-lt"/>
                <a:cs typeface="+mn-lt"/>
              </a:rPr>
              <a:t>u</a:t>
            </a:r>
            <a:r>
              <a:rPr lang="zh-CN" dirty="0">
                <a:ea typeface="+mn-lt"/>
                <a:cs typeface="+mn-lt"/>
              </a:rPr>
              <a:t>res</a:t>
            </a:r>
            <a:r>
              <a:rPr lang="zh-CN" altLang="en-US" dirty="0">
                <a:ea typeface="+mn-lt"/>
                <a:cs typeface="+mn-lt"/>
              </a:rPr>
              <a:t> </a:t>
            </a:r>
            <a:r>
              <a:rPr lang="en-US" altLang="zh-CN" dirty="0">
                <a:ea typeface="+mn-lt"/>
                <a:cs typeface="+mn-lt"/>
              </a:rPr>
              <a:t>ca</a:t>
            </a:r>
            <a:r>
              <a:rPr lang="zh-CN" dirty="0">
                <a:ea typeface="+mn-lt"/>
                <a:cs typeface="+mn-lt"/>
              </a:rPr>
              <a:t>n</a:t>
            </a:r>
            <a:r>
              <a:rPr lang="zh-CN" altLang="en-US" dirty="0">
                <a:ea typeface="+mn-lt"/>
                <a:cs typeface="+mn-lt"/>
              </a:rPr>
              <a:t> </a:t>
            </a:r>
            <a:r>
              <a:rPr lang="zh-CN" dirty="0">
                <a:ea typeface="+mn-lt"/>
                <a:cs typeface="+mn-lt"/>
              </a:rPr>
              <a:t>i</a:t>
            </a:r>
            <a:r>
              <a:rPr lang="en-US" altLang="zh-CN" dirty="0">
                <a:ea typeface="+mn-lt"/>
                <a:cs typeface="+mn-lt"/>
              </a:rPr>
              <a:t>m</a:t>
            </a:r>
            <a:r>
              <a:rPr lang="zh-CN" dirty="0">
                <a:ea typeface="+mn-lt"/>
                <a:cs typeface="+mn-lt"/>
              </a:rPr>
              <a:t>pro</a:t>
            </a:r>
            <a:r>
              <a:rPr lang="en-US" altLang="zh-CN" dirty="0" err="1">
                <a:ea typeface="+mn-lt"/>
                <a:cs typeface="+mn-lt"/>
              </a:rPr>
              <a:t>ve</a:t>
            </a:r>
            <a:r>
              <a:rPr lang="zh-CN" altLang="en-US" dirty="0">
                <a:ea typeface="+mn-lt"/>
                <a:cs typeface="+mn-lt"/>
              </a:rPr>
              <a:t> </a:t>
            </a:r>
            <a:r>
              <a:rPr lang="en-US" altLang="zh-CN" dirty="0">
                <a:ea typeface="+mn-lt"/>
                <a:cs typeface="+mn-lt"/>
              </a:rPr>
              <a:t>t</a:t>
            </a:r>
            <a:r>
              <a:rPr lang="zh-CN" dirty="0">
                <a:ea typeface="+mn-lt"/>
                <a:cs typeface="+mn-lt"/>
              </a:rPr>
              <a:t>h</a:t>
            </a:r>
            <a:r>
              <a:rPr lang="en-US" altLang="zh-CN" dirty="0">
                <a:ea typeface="+mn-lt"/>
                <a:cs typeface="+mn-lt"/>
              </a:rPr>
              <a:t>e</a:t>
            </a:r>
            <a:r>
              <a:rPr lang="zh-CN" dirty="0">
                <a:ea typeface="+mn-lt"/>
                <a:cs typeface="+mn-lt"/>
              </a:rPr>
              <a:t> mo</a:t>
            </a:r>
            <a:r>
              <a:rPr lang="en-US" altLang="zh-CN" dirty="0">
                <a:ea typeface="+mn-lt"/>
                <a:cs typeface="+mn-lt"/>
              </a:rPr>
              <a:t>del</a:t>
            </a:r>
            <a:r>
              <a:rPr lang="zh-CN" dirty="0">
                <a:ea typeface="+mn-lt"/>
                <a:cs typeface="+mn-lt"/>
              </a:rPr>
              <a:t>'</a:t>
            </a:r>
            <a:r>
              <a:rPr lang="en-US" altLang="zh-CN" dirty="0">
                <a:ea typeface="+mn-lt"/>
                <a:cs typeface="+mn-lt"/>
              </a:rPr>
              <a:t>s</a:t>
            </a:r>
            <a:r>
              <a:rPr lang="zh-CN" altLang="en-US" dirty="0">
                <a:ea typeface="+mn-lt"/>
                <a:cs typeface="+mn-lt"/>
              </a:rPr>
              <a:t> </a:t>
            </a:r>
            <a:r>
              <a:rPr lang="zh-CN" dirty="0">
                <a:ea typeface="+mn-lt"/>
                <a:cs typeface="+mn-lt"/>
              </a:rPr>
              <a:t>p</a:t>
            </a:r>
            <a:r>
              <a:rPr lang="en-US" altLang="zh-CN" dirty="0" err="1">
                <a:ea typeface="+mn-lt"/>
                <a:cs typeface="+mn-lt"/>
              </a:rPr>
              <a:t>redic</a:t>
            </a:r>
            <a:r>
              <a:rPr lang="zh-CN" dirty="0">
                <a:ea typeface="+mn-lt"/>
                <a:cs typeface="+mn-lt"/>
              </a:rPr>
              <a:t>ti</a:t>
            </a:r>
            <a:r>
              <a:rPr lang="en-US" altLang="zh-CN" dirty="0" err="1">
                <a:ea typeface="+mn-lt"/>
                <a:cs typeface="+mn-lt"/>
              </a:rPr>
              <a:t>ve</a:t>
            </a:r>
            <a:r>
              <a:rPr lang="zh-CN" altLang="en-US" dirty="0">
                <a:ea typeface="+mn-lt"/>
                <a:cs typeface="+mn-lt"/>
              </a:rPr>
              <a:t> </a:t>
            </a:r>
            <a:r>
              <a:rPr lang="en-US" altLang="zh-CN" dirty="0">
                <a:ea typeface="+mn-lt"/>
                <a:cs typeface="+mn-lt"/>
              </a:rPr>
              <a:t>ab</a:t>
            </a:r>
            <a:r>
              <a:rPr lang="zh-CN" dirty="0">
                <a:ea typeface="+mn-lt"/>
                <a:cs typeface="+mn-lt"/>
              </a:rPr>
              <a:t>i</a:t>
            </a:r>
            <a:r>
              <a:rPr lang="en-US" altLang="zh-CN" dirty="0" err="1">
                <a:ea typeface="+mn-lt"/>
                <a:cs typeface="+mn-lt"/>
              </a:rPr>
              <a:t>lity</a:t>
            </a:r>
            <a:r>
              <a:rPr lang="zh-CN" altLang="en-US" dirty="0">
                <a:ea typeface="+mn-lt"/>
                <a:cs typeface="+mn-lt"/>
              </a:rPr>
              <a:t> </a:t>
            </a:r>
            <a:r>
              <a:rPr lang="zh-CN" dirty="0">
                <a:ea typeface="+mn-lt"/>
                <a:cs typeface="+mn-lt"/>
              </a:rPr>
              <a:t>and </a:t>
            </a:r>
            <a:r>
              <a:rPr lang="en-US" altLang="zh-CN" dirty="0">
                <a:ea typeface="+mn-lt"/>
                <a:cs typeface="+mn-lt"/>
              </a:rPr>
              <a:t>he</a:t>
            </a:r>
            <a:r>
              <a:rPr lang="zh-CN" dirty="0">
                <a:ea typeface="+mn-lt"/>
                <a:cs typeface="+mn-lt"/>
              </a:rPr>
              <a:t>l</a:t>
            </a:r>
            <a:r>
              <a:rPr lang="en-US" altLang="zh-CN" dirty="0">
                <a:ea typeface="+mn-lt"/>
                <a:cs typeface="+mn-lt"/>
              </a:rPr>
              <a:t>p</a:t>
            </a:r>
            <a:r>
              <a:rPr lang="zh-CN" altLang="en-US" dirty="0">
                <a:ea typeface="+mn-lt"/>
                <a:cs typeface="+mn-lt"/>
              </a:rPr>
              <a:t> </a:t>
            </a:r>
            <a:r>
              <a:rPr lang="zh-CN" dirty="0">
                <a:ea typeface="+mn-lt"/>
                <a:cs typeface="+mn-lt"/>
              </a:rPr>
              <a:t>m</a:t>
            </a:r>
            <a:r>
              <a:rPr lang="en-US" altLang="zh-CN" dirty="0">
                <a:ea typeface="+mn-lt"/>
                <a:cs typeface="+mn-lt"/>
              </a:rPr>
              <a:t>ore</a:t>
            </a:r>
            <a:r>
              <a:rPr lang="zh-CN" altLang="en-US" dirty="0">
                <a:ea typeface="+mn-lt"/>
                <a:cs typeface="+mn-lt"/>
              </a:rPr>
              <a:t> </a:t>
            </a:r>
            <a:r>
              <a:rPr lang="en-US" altLang="zh-CN" dirty="0">
                <a:ea typeface="+mn-lt"/>
                <a:cs typeface="+mn-lt"/>
              </a:rPr>
              <a:t>a</a:t>
            </a:r>
            <a:r>
              <a:rPr lang="zh-CN" dirty="0">
                <a:ea typeface="+mn-lt"/>
                <a:cs typeface="+mn-lt"/>
              </a:rPr>
              <a:t>c</a:t>
            </a:r>
            <a:r>
              <a:rPr lang="en-US" altLang="zh-CN" dirty="0" err="1">
                <a:ea typeface="+mn-lt"/>
                <a:cs typeface="+mn-lt"/>
              </a:rPr>
              <a:t>curately</a:t>
            </a:r>
            <a:r>
              <a:rPr lang="zh-CN" dirty="0">
                <a:ea typeface="+mn-lt"/>
                <a:cs typeface="+mn-lt"/>
              </a:rPr>
              <a:t> pred</a:t>
            </a:r>
            <a:r>
              <a:rPr lang="en-US" altLang="zh-CN" dirty="0" err="1">
                <a:ea typeface="+mn-lt"/>
                <a:cs typeface="+mn-lt"/>
              </a:rPr>
              <a:t>ict</a:t>
            </a:r>
            <a:r>
              <a:rPr lang="zh-CN" altLang="en-US" dirty="0">
                <a:ea typeface="+mn-lt"/>
                <a:cs typeface="+mn-lt"/>
              </a:rPr>
              <a:t> </a:t>
            </a:r>
            <a:r>
              <a:rPr lang="en-US" altLang="zh-CN" dirty="0">
                <a:ea typeface="+mn-lt"/>
                <a:cs typeface="+mn-lt"/>
              </a:rPr>
              <a:t>the</a:t>
            </a:r>
            <a:r>
              <a:rPr lang="zh-CN" dirty="0">
                <a:ea typeface="+mn-lt"/>
                <a:cs typeface="+mn-lt"/>
              </a:rPr>
              <a:t> customer</a:t>
            </a:r>
            <a:r>
              <a:rPr lang="en-US" altLang="zh-CN" dirty="0">
                <a:ea typeface="+mn-lt"/>
                <a:cs typeface="+mn-lt"/>
              </a:rPr>
              <a:t>'</a:t>
            </a:r>
            <a:r>
              <a:rPr lang="zh-CN" dirty="0">
                <a:ea typeface="+mn-lt"/>
                <a:cs typeface="+mn-lt"/>
              </a:rPr>
              <a:t>s</a:t>
            </a:r>
            <a:r>
              <a:rPr lang="zh-CN" altLang="en-US" dirty="0">
                <a:ea typeface="+mn-lt"/>
                <a:cs typeface="+mn-lt"/>
              </a:rPr>
              <a:t> </a:t>
            </a:r>
            <a:r>
              <a:rPr lang="en-US" altLang="zh-CN" dirty="0" err="1">
                <a:ea typeface="+mn-lt"/>
                <a:cs typeface="+mn-lt"/>
              </a:rPr>
              <a:t>nex</a:t>
            </a:r>
            <a:r>
              <a:rPr lang="zh-CN" dirty="0">
                <a:ea typeface="+mn-lt"/>
                <a:cs typeface="+mn-lt"/>
              </a:rPr>
              <a:t>t</a:t>
            </a:r>
            <a:r>
              <a:rPr lang="zh-CN" altLang="en-US" dirty="0">
                <a:ea typeface="+mn-lt"/>
                <a:cs typeface="+mn-lt"/>
              </a:rPr>
              <a:t> </a:t>
            </a:r>
            <a:r>
              <a:rPr lang="en-US" altLang="zh-CN" dirty="0">
                <a:ea typeface="+mn-lt"/>
                <a:cs typeface="+mn-lt"/>
              </a:rPr>
              <a:t>s</a:t>
            </a:r>
            <a:r>
              <a:rPr lang="zh-CN" dirty="0">
                <a:ea typeface="+mn-lt"/>
                <a:cs typeface="+mn-lt"/>
              </a:rPr>
              <a:t>p</a:t>
            </a:r>
            <a:r>
              <a:rPr lang="en-US" altLang="zh-CN" dirty="0">
                <a:ea typeface="+mn-lt"/>
                <a:cs typeface="+mn-lt"/>
              </a:rPr>
              <a:t>end</a:t>
            </a:r>
            <a:r>
              <a:rPr lang="zh-CN" dirty="0">
                <a:ea typeface="+mn-lt"/>
                <a:cs typeface="+mn-lt"/>
              </a:rPr>
              <a:t>i</a:t>
            </a:r>
            <a:r>
              <a:rPr lang="en-US" altLang="zh-CN" dirty="0">
                <a:ea typeface="+mn-lt"/>
                <a:cs typeface="+mn-lt"/>
              </a:rPr>
              <a:t>ng</a:t>
            </a:r>
            <a:r>
              <a:rPr lang="zh-CN" altLang="en-US" dirty="0">
                <a:ea typeface="+mn-lt"/>
                <a:cs typeface="+mn-lt"/>
              </a:rPr>
              <a:t> </a:t>
            </a:r>
            <a:r>
              <a:rPr lang="zh-CN" dirty="0">
                <a:ea typeface="+mn-lt"/>
                <a:cs typeface="+mn-lt"/>
              </a:rPr>
              <a:t>a</a:t>
            </a:r>
            <a:r>
              <a:rPr lang="en-US" altLang="zh-CN" dirty="0">
                <a:ea typeface="+mn-lt"/>
                <a:cs typeface="+mn-lt"/>
              </a:rPr>
              <a:t>m</a:t>
            </a:r>
            <a:r>
              <a:rPr lang="zh-CN" dirty="0">
                <a:ea typeface="+mn-lt"/>
                <a:cs typeface="+mn-lt"/>
              </a:rPr>
              <a:t>o</a:t>
            </a:r>
            <a:r>
              <a:rPr lang="en-US" altLang="zh-CN" dirty="0">
                <a:ea typeface="+mn-lt"/>
                <a:cs typeface="+mn-lt"/>
              </a:rPr>
              <a:t>u</a:t>
            </a:r>
            <a:r>
              <a:rPr lang="zh-CN" dirty="0">
                <a:ea typeface="+mn-lt"/>
                <a:cs typeface="+mn-lt"/>
              </a:rPr>
              <a:t>n</a:t>
            </a:r>
            <a:r>
              <a:rPr lang="en-US" altLang="zh-CN" dirty="0">
                <a:ea typeface="+mn-lt"/>
                <a:cs typeface="+mn-lt"/>
              </a:rPr>
              <a:t>t.</a:t>
            </a:r>
            <a:endParaRPr lang="zh-CN" altLang="en-US" dirty="0">
              <a:ea typeface="+mn-lt"/>
              <a:cs typeface="+mn-lt"/>
            </a:endParaRPr>
          </a:p>
          <a:p>
            <a:endParaRPr lang="zh-CN" altLang="en-US" dirty="0">
              <a:cs typeface="Calibri"/>
            </a:endParaRPr>
          </a:p>
        </p:txBody>
      </p:sp>
      <p:pic>
        <p:nvPicPr>
          <p:cNvPr id="3" name="图片 2" descr="电脑屏幕的截图&#10;&#10;已自动生成说明">
            <a:extLst>
              <a:ext uri="{FF2B5EF4-FFF2-40B4-BE49-F238E27FC236}">
                <a16:creationId xmlns:a16="http://schemas.microsoft.com/office/drawing/2014/main" id="{1E9B0E95-7923-EA42-356D-43731AB81709}"/>
              </a:ext>
            </a:extLst>
          </p:cNvPr>
          <p:cNvPicPr>
            <a:picLocks noChangeAspect="1"/>
          </p:cNvPicPr>
          <p:nvPr/>
        </p:nvPicPr>
        <p:blipFill>
          <a:blip r:embed="rId3"/>
          <a:stretch>
            <a:fillRect/>
          </a:stretch>
        </p:blipFill>
        <p:spPr>
          <a:xfrm>
            <a:off x="0" y="4034104"/>
            <a:ext cx="12192000" cy="2823896"/>
          </a:xfrm>
          <a:prstGeom prst="rect">
            <a:avLst/>
          </a:prstGeom>
        </p:spPr>
      </p:pic>
    </p:spTree>
    <p:extLst>
      <p:ext uri="{BB962C8B-B14F-4D97-AF65-F5344CB8AC3E}">
        <p14:creationId xmlns:p14="http://schemas.microsoft.com/office/powerpoint/2010/main" val="729672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0780B4F-476C-B4E9-D609-739FF3982368}"/>
              </a:ext>
            </a:extLst>
          </p:cNvPr>
          <p:cNvSpPr/>
          <p:nvPr/>
        </p:nvSpPr>
        <p:spPr>
          <a:xfrm>
            <a:off x="-1699" y="-1180"/>
            <a:ext cx="2225750" cy="6860881"/>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32EB01C-3459-6CC4-7CD6-6B6EA0160CE3}"/>
              </a:ext>
            </a:extLst>
          </p:cNvPr>
          <p:cNvSpPr txBox="1"/>
          <p:nvPr/>
        </p:nvSpPr>
        <p:spPr>
          <a:xfrm>
            <a:off x="2388671" y="432842"/>
            <a:ext cx="10686618" cy="646331"/>
          </a:xfrm>
          <a:prstGeom prst="rect">
            <a:avLst/>
          </a:prstGeom>
          <a:noFill/>
        </p:spPr>
        <p:txBody>
          <a:bodyPr wrap="square" lIns="91440" tIns="45720" rIns="91440" bIns="45720" rtlCol="0" anchor="t">
            <a:spAutoFit/>
          </a:bodyPr>
          <a:lstStyle/>
          <a:p>
            <a:r>
              <a:rPr lang="en-US" altLang="zh-CN" sz="3600" b="1" i="1">
                <a:solidFill>
                  <a:srgbClr val="FFBB29"/>
                </a:solidFill>
                <a:ea typeface="Calibri"/>
                <a:cs typeface="Calibri"/>
              </a:rPr>
              <a:t>Data Preparation</a:t>
            </a:r>
            <a:endParaRPr lang="en-US" b="1" i="1">
              <a:solidFill>
                <a:srgbClr val="FFBB29"/>
              </a:solidFill>
              <a:ea typeface="Calibri"/>
              <a:cs typeface="Calibri"/>
            </a:endParaRPr>
          </a:p>
        </p:txBody>
      </p:sp>
      <p:grpSp>
        <p:nvGrpSpPr>
          <p:cNvPr id="10" name="Group 9">
            <a:extLst>
              <a:ext uri="{FF2B5EF4-FFF2-40B4-BE49-F238E27FC236}">
                <a16:creationId xmlns:a16="http://schemas.microsoft.com/office/drawing/2014/main" id="{0C348879-D638-DC96-D766-4C5E6C785AEF}"/>
              </a:ext>
            </a:extLst>
          </p:cNvPr>
          <p:cNvGrpSpPr/>
          <p:nvPr/>
        </p:nvGrpSpPr>
        <p:grpSpPr>
          <a:xfrm>
            <a:off x="-925513" y="4249171"/>
            <a:ext cx="3168652" cy="3543542"/>
            <a:chOff x="926333" y="909663"/>
            <a:chExt cx="4509235" cy="5042732"/>
          </a:xfrm>
          <a:noFill/>
        </p:grpSpPr>
        <p:sp>
          <p:nvSpPr>
            <p:cNvPr id="11" name="Freeform: Shape 10">
              <a:extLst>
                <a:ext uri="{FF2B5EF4-FFF2-40B4-BE49-F238E27FC236}">
                  <a16:creationId xmlns:a16="http://schemas.microsoft.com/office/drawing/2014/main" id="{D098F7D5-FF39-07A0-84F8-474FDC701B52}"/>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E66FB8F-09B5-BB11-39BF-AD6C28C2390F}"/>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F01B35B7-6DC0-E491-5510-27C774BF63DE}"/>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79DEE669-3FF2-B4D2-ABAD-583092E7388E}"/>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D04F211C-5FF6-983C-0A32-C8087EEAD7EA}"/>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2">
                  <a:lumMod val="25000"/>
                </a:schemeClr>
              </a:solid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474F3E11-B8D2-8FFE-55D0-05D26DE5B3F3}"/>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2">
                  <a:lumMod val="25000"/>
                </a:schemeClr>
              </a:solidFill>
              <a:prstDash val="solid"/>
              <a:miter/>
            </a:ln>
          </p:spPr>
          <p:txBody>
            <a:bodyPr rtlCol="0" anchor="ctr"/>
            <a:lstStyle/>
            <a:p>
              <a:endParaRPr lang="en-IN"/>
            </a:p>
          </p:txBody>
        </p:sp>
      </p:grpSp>
      <p:sp>
        <p:nvSpPr>
          <p:cNvPr id="2" name="文本框 1">
            <a:extLst>
              <a:ext uri="{FF2B5EF4-FFF2-40B4-BE49-F238E27FC236}">
                <a16:creationId xmlns:a16="http://schemas.microsoft.com/office/drawing/2014/main" id="{DCA43FAB-2792-4A5F-1D12-5C9973EF28E6}"/>
              </a:ext>
            </a:extLst>
          </p:cNvPr>
          <p:cNvSpPr txBox="1"/>
          <p:nvPr/>
        </p:nvSpPr>
        <p:spPr>
          <a:xfrm>
            <a:off x="2388317" y="1437689"/>
            <a:ext cx="929905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b="1" dirty="0">
                <a:ea typeface="+mn-lt"/>
                <a:cs typeface="+mn-lt"/>
              </a:rPr>
              <a:t>To</a:t>
            </a:r>
            <a:r>
              <a:rPr lang="zh-CN" altLang="en-US" b="1" dirty="0">
                <a:ea typeface="+mn-lt"/>
                <a:cs typeface="+mn-lt"/>
              </a:rPr>
              <a:t> </a:t>
            </a:r>
            <a:r>
              <a:rPr lang="en-US" altLang="zh-CN" b="1" dirty="0">
                <a:ea typeface="+mn-lt"/>
                <a:cs typeface="+mn-lt"/>
              </a:rPr>
              <a:t>capture</a:t>
            </a:r>
            <a:r>
              <a:rPr lang="zh-CN" altLang="en-US" b="1" dirty="0">
                <a:ea typeface="+mn-lt"/>
                <a:cs typeface="+mn-lt"/>
              </a:rPr>
              <a:t> </a:t>
            </a:r>
            <a:r>
              <a:rPr lang="en-US" altLang="zh-CN" b="1" dirty="0">
                <a:ea typeface="+mn-lt"/>
                <a:cs typeface="+mn-lt"/>
              </a:rPr>
              <a:t>the</a:t>
            </a:r>
            <a:r>
              <a:rPr lang="zh-CN" altLang="en-US" b="1" dirty="0">
                <a:ea typeface="+mn-lt"/>
                <a:cs typeface="+mn-lt"/>
              </a:rPr>
              <a:t> </a:t>
            </a:r>
            <a:r>
              <a:rPr lang="en-US" altLang="zh-CN" b="1" dirty="0">
                <a:ea typeface="+mn-lt"/>
                <a:cs typeface="+mn-lt"/>
              </a:rPr>
              <a:t>products</a:t>
            </a:r>
            <a:r>
              <a:rPr lang="zh-CN" altLang="en-US" b="1" dirty="0">
                <a:ea typeface="+mn-lt"/>
                <a:cs typeface="+mn-lt"/>
              </a:rPr>
              <a:t> </a:t>
            </a:r>
            <a:r>
              <a:rPr lang="en-US" altLang="zh-CN" b="1" dirty="0">
                <a:ea typeface="+mn-lt"/>
                <a:cs typeface="+mn-lt"/>
              </a:rPr>
              <a:t>and</a:t>
            </a:r>
            <a:r>
              <a:rPr lang="zh-CN" altLang="en-US" b="1" dirty="0">
                <a:ea typeface="+mn-lt"/>
                <a:cs typeface="+mn-lt"/>
              </a:rPr>
              <a:t> </a:t>
            </a:r>
            <a:r>
              <a:rPr lang="en-US" altLang="zh-CN" b="1" dirty="0">
                <a:ea typeface="+mn-lt"/>
                <a:cs typeface="+mn-lt"/>
              </a:rPr>
              <a:t>categories</a:t>
            </a:r>
            <a:r>
              <a:rPr lang="zh-CN" altLang="en-US" b="1" dirty="0">
                <a:ea typeface="+mn-lt"/>
                <a:cs typeface="+mn-lt"/>
              </a:rPr>
              <a:t> </a:t>
            </a:r>
            <a:r>
              <a:rPr lang="en-US" altLang="zh-CN" b="1" dirty="0">
                <a:ea typeface="+mn-lt"/>
                <a:cs typeface="+mn-lt"/>
              </a:rPr>
              <a:t>purchased</a:t>
            </a:r>
            <a:r>
              <a:rPr lang="zh-CN" altLang="en-US" b="1" dirty="0">
                <a:ea typeface="+mn-lt"/>
                <a:cs typeface="+mn-lt"/>
              </a:rPr>
              <a:t> </a:t>
            </a:r>
            <a:r>
              <a:rPr lang="en-US" altLang="zh-CN" b="1" dirty="0">
                <a:ea typeface="+mn-lt"/>
                <a:cs typeface="+mn-lt"/>
              </a:rPr>
              <a:t>by</a:t>
            </a:r>
            <a:r>
              <a:rPr lang="zh-CN" altLang="en-US" b="1" dirty="0">
                <a:ea typeface="+mn-lt"/>
                <a:cs typeface="+mn-lt"/>
              </a:rPr>
              <a:t> </a:t>
            </a:r>
            <a:r>
              <a:rPr lang="en-US" altLang="zh-CN" b="1" dirty="0">
                <a:ea typeface="+mn-lt"/>
                <a:cs typeface="+mn-lt"/>
              </a:rPr>
              <a:t>customers</a:t>
            </a:r>
            <a:r>
              <a:rPr lang="zh-CN" altLang="en-US" b="1" dirty="0">
                <a:ea typeface="+mn-lt"/>
                <a:cs typeface="+mn-lt"/>
              </a:rPr>
              <a:t> </a:t>
            </a:r>
            <a:r>
              <a:rPr lang="en-US" altLang="zh-CN" b="1" dirty="0">
                <a:ea typeface="+mn-lt"/>
                <a:cs typeface="+mn-lt"/>
              </a:rPr>
              <a:t>in</a:t>
            </a:r>
            <a:r>
              <a:rPr lang="zh-CN" altLang="en-US" b="1" dirty="0">
                <a:ea typeface="+mn-lt"/>
                <a:cs typeface="+mn-lt"/>
              </a:rPr>
              <a:t> </a:t>
            </a:r>
            <a:r>
              <a:rPr lang="en-US" altLang="zh-CN" b="1" dirty="0">
                <a:ea typeface="+mn-lt"/>
                <a:cs typeface="+mn-lt"/>
              </a:rPr>
              <a:t>more</a:t>
            </a:r>
            <a:r>
              <a:rPr lang="zh-CN" altLang="en-US" b="1" dirty="0">
                <a:ea typeface="+mn-lt"/>
                <a:cs typeface="+mn-lt"/>
              </a:rPr>
              <a:t> </a:t>
            </a:r>
            <a:r>
              <a:rPr lang="en-US" altLang="zh-CN" b="1" dirty="0">
                <a:ea typeface="+mn-lt"/>
                <a:cs typeface="+mn-lt"/>
              </a:rPr>
              <a:t>detail,</a:t>
            </a:r>
            <a:r>
              <a:rPr lang="zh-CN" altLang="en-US" b="1" dirty="0">
                <a:ea typeface="+mn-lt"/>
                <a:cs typeface="+mn-lt"/>
              </a:rPr>
              <a:t> </a:t>
            </a:r>
            <a:r>
              <a:rPr lang="en-US" altLang="zh-CN" b="1" dirty="0">
                <a:ea typeface="+mn-lt"/>
                <a:cs typeface="+mn-lt"/>
              </a:rPr>
              <a:t>the</a:t>
            </a:r>
            <a:r>
              <a:rPr lang="zh-CN" altLang="en-US" b="1" dirty="0">
                <a:ea typeface="+mn-lt"/>
                <a:cs typeface="+mn-lt"/>
              </a:rPr>
              <a:t> </a:t>
            </a:r>
            <a:r>
              <a:rPr lang="en-US" altLang="zh-CN" b="1" dirty="0">
                <a:ea typeface="+mn-lt"/>
                <a:cs typeface="+mn-lt"/>
              </a:rPr>
              <a:t>following</a:t>
            </a:r>
            <a:r>
              <a:rPr lang="zh-CN" altLang="en-US" b="1" dirty="0">
                <a:ea typeface="+mn-lt"/>
                <a:cs typeface="+mn-lt"/>
              </a:rPr>
              <a:t> </a:t>
            </a:r>
            <a:r>
              <a:rPr lang="en-US" altLang="zh-CN" b="1" dirty="0">
                <a:ea typeface="+mn-lt"/>
                <a:cs typeface="+mn-lt"/>
              </a:rPr>
              <a:t>features</a:t>
            </a:r>
            <a:r>
              <a:rPr lang="zh-CN" altLang="en-US" b="1" dirty="0">
                <a:ea typeface="+mn-lt"/>
                <a:cs typeface="+mn-lt"/>
              </a:rPr>
              <a:t> </a:t>
            </a:r>
            <a:r>
              <a:rPr lang="en-US" altLang="zh-CN" b="1" dirty="0">
                <a:ea typeface="+mn-lt"/>
                <a:cs typeface="+mn-lt"/>
              </a:rPr>
              <a:t>are</a:t>
            </a:r>
            <a:r>
              <a:rPr lang="zh-CN" altLang="en-US" b="1" dirty="0">
                <a:ea typeface="+mn-lt"/>
                <a:cs typeface="+mn-lt"/>
              </a:rPr>
              <a:t> </a:t>
            </a:r>
            <a:r>
              <a:rPr lang="en-US" altLang="zh-CN" b="1" dirty="0">
                <a:ea typeface="+mn-lt"/>
                <a:cs typeface="+mn-lt"/>
              </a:rPr>
              <a:t>constructed</a:t>
            </a:r>
            <a:r>
              <a:rPr lang="zh-CN" altLang="en-US" b="1" dirty="0">
                <a:ea typeface="+mn-lt"/>
                <a:cs typeface="+mn-lt"/>
              </a:rPr>
              <a:t> </a:t>
            </a:r>
            <a:r>
              <a:rPr lang="en-US" altLang="zh-CN" b="1" dirty="0">
                <a:ea typeface="+mn-lt"/>
                <a:cs typeface="+mn-lt"/>
              </a:rPr>
              <a:t>using</a:t>
            </a:r>
            <a:r>
              <a:rPr lang="zh-CN" altLang="en-US" b="1" dirty="0">
                <a:ea typeface="+mn-lt"/>
                <a:cs typeface="+mn-lt"/>
              </a:rPr>
              <a:t> </a:t>
            </a:r>
            <a:r>
              <a:rPr lang="en-US" altLang="zh-CN" b="1" dirty="0">
                <a:ea typeface="+mn-lt"/>
                <a:cs typeface="+mn-lt"/>
              </a:rPr>
              <a:t>Pivot</a:t>
            </a:r>
            <a:r>
              <a:rPr lang="zh-CN" altLang="en-US" b="1" dirty="0">
                <a:ea typeface="+mn-lt"/>
                <a:cs typeface="+mn-lt"/>
              </a:rPr>
              <a:t> </a:t>
            </a:r>
            <a:r>
              <a:rPr lang="en-US" altLang="zh-CN" b="1" dirty="0">
                <a:ea typeface="+mn-lt"/>
                <a:cs typeface="+mn-lt"/>
              </a:rPr>
              <a:t>Tables:</a:t>
            </a:r>
            <a:endParaRPr lang="zh-CN" altLang="en-US" b="1" dirty="0"/>
          </a:p>
          <a:p>
            <a:pPr marL="285750" indent="-285750">
              <a:buFont typeface="Arial"/>
              <a:buChar char="•"/>
            </a:pPr>
            <a:r>
              <a:rPr lang="en-US" altLang="zh-CN" dirty="0">
                <a:ea typeface="+mn-lt"/>
                <a:cs typeface="+mn-lt"/>
              </a:rPr>
              <a:t>Create</a:t>
            </a:r>
            <a:r>
              <a:rPr lang="zh-CN" altLang="en-US" dirty="0">
                <a:ea typeface="+mn-lt"/>
                <a:cs typeface="+mn-lt"/>
              </a:rPr>
              <a:t> </a:t>
            </a:r>
            <a:r>
              <a:rPr lang="en-US" altLang="zh-CN" dirty="0">
                <a:ea typeface="+mn-lt"/>
                <a:cs typeface="+mn-lt"/>
              </a:rPr>
              <a:t>a</a:t>
            </a:r>
            <a:r>
              <a:rPr lang="zh-CN" altLang="en-US" dirty="0">
                <a:ea typeface="+mn-lt"/>
                <a:cs typeface="+mn-lt"/>
              </a:rPr>
              <a:t> </a:t>
            </a:r>
            <a:r>
              <a:rPr lang="en-US" altLang="zh-CN" dirty="0">
                <a:ea typeface="+mn-lt"/>
                <a:cs typeface="+mn-lt"/>
              </a:rPr>
              <a:t>product</a:t>
            </a:r>
            <a:r>
              <a:rPr lang="zh-CN" altLang="en-US" dirty="0">
                <a:ea typeface="+mn-lt"/>
                <a:cs typeface="+mn-lt"/>
              </a:rPr>
              <a:t> </a:t>
            </a:r>
            <a:r>
              <a:rPr lang="en-US" altLang="zh-CN" dirty="0">
                <a:ea typeface="+mn-lt"/>
                <a:cs typeface="+mn-lt"/>
              </a:rPr>
              <a:t>pivot</a:t>
            </a:r>
            <a:r>
              <a:rPr lang="zh-CN" altLang="en-US" dirty="0">
                <a:ea typeface="+mn-lt"/>
                <a:cs typeface="+mn-lt"/>
              </a:rPr>
              <a:t> </a:t>
            </a:r>
            <a:r>
              <a:rPr lang="en-US" altLang="zh-CN" dirty="0">
                <a:ea typeface="+mn-lt"/>
                <a:cs typeface="+mn-lt"/>
              </a:rPr>
              <a:t>table</a:t>
            </a:r>
            <a:r>
              <a:rPr lang="zh-CN" altLang="en-US" dirty="0">
                <a:ea typeface="+mn-lt"/>
                <a:cs typeface="+mn-lt"/>
              </a:rPr>
              <a:t> </a:t>
            </a:r>
            <a:r>
              <a:rPr lang="en-US" altLang="zh-CN" dirty="0" err="1">
                <a:ea typeface="+mn-lt"/>
                <a:cs typeface="+mn-lt"/>
              </a:rPr>
              <a:t>product_pivot</a:t>
            </a:r>
            <a:r>
              <a:rPr lang="zh-CN" altLang="en-US" dirty="0">
                <a:ea typeface="+mn-lt"/>
                <a:cs typeface="+mn-lt"/>
              </a:rPr>
              <a:t> </a:t>
            </a:r>
            <a:r>
              <a:rPr lang="en-US" altLang="zh-CN" dirty="0">
                <a:ea typeface="+mn-lt"/>
                <a:cs typeface="+mn-lt"/>
              </a:rPr>
              <a:t>to</a:t>
            </a:r>
            <a:r>
              <a:rPr lang="zh-CN" altLang="en-US" dirty="0">
                <a:ea typeface="+mn-lt"/>
                <a:cs typeface="+mn-lt"/>
              </a:rPr>
              <a:t> </a:t>
            </a:r>
            <a:r>
              <a:rPr lang="en-US" altLang="zh-CN" dirty="0">
                <a:ea typeface="+mn-lt"/>
                <a:cs typeface="+mn-lt"/>
              </a:rPr>
              <a:t>count</a:t>
            </a:r>
            <a:r>
              <a:rPr lang="zh-CN" altLang="en-US" dirty="0">
                <a:ea typeface="+mn-lt"/>
                <a:cs typeface="+mn-lt"/>
              </a:rPr>
              <a:t> </a:t>
            </a:r>
            <a:r>
              <a:rPr lang="en-US" altLang="zh-CN" dirty="0">
                <a:ea typeface="+mn-lt"/>
                <a:cs typeface="+mn-lt"/>
              </a:rPr>
              <a:t>the</a:t>
            </a:r>
            <a:r>
              <a:rPr lang="zh-CN" altLang="en-US" dirty="0">
                <a:ea typeface="+mn-lt"/>
                <a:cs typeface="+mn-lt"/>
              </a:rPr>
              <a:t> </a:t>
            </a:r>
            <a:r>
              <a:rPr lang="en-US" altLang="zh-CN" dirty="0">
                <a:ea typeface="+mn-lt"/>
                <a:cs typeface="+mn-lt"/>
              </a:rPr>
              <a:t>number</a:t>
            </a:r>
            <a:r>
              <a:rPr lang="zh-CN" altLang="en-US" dirty="0">
                <a:ea typeface="+mn-lt"/>
                <a:cs typeface="+mn-lt"/>
              </a:rPr>
              <a:t> </a:t>
            </a:r>
            <a:r>
              <a:rPr lang="en-US" altLang="zh-CN" dirty="0">
                <a:ea typeface="+mn-lt"/>
                <a:cs typeface="+mn-lt"/>
              </a:rPr>
              <a:t>of</a:t>
            </a:r>
            <a:r>
              <a:rPr lang="zh-CN" altLang="en-US" dirty="0">
                <a:ea typeface="+mn-lt"/>
                <a:cs typeface="+mn-lt"/>
              </a:rPr>
              <a:t> </a:t>
            </a:r>
            <a:r>
              <a:rPr lang="en-US" altLang="zh-CN" dirty="0">
                <a:ea typeface="+mn-lt"/>
                <a:cs typeface="+mn-lt"/>
              </a:rPr>
              <a:t>purchases</a:t>
            </a:r>
            <a:r>
              <a:rPr lang="zh-CN" altLang="en-US" dirty="0">
                <a:ea typeface="+mn-lt"/>
                <a:cs typeface="+mn-lt"/>
              </a:rPr>
              <a:t> </a:t>
            </a:r>
            <a:r>
              <a:rPr lang="en-US" altLang="zh-CN" dirty="0">
                <a:ea typeface="+mn-lt"/>
                <a:cs typeface="+mn-lt"/>
              </a:rPr>
              <a:t>of</a:t>
            </a:r>
            <a:r>
              <a:rPr lang="zh-CN" altLang="en-US" dirty="0">
                <a:ea typeface="+mn-lt"/>
                <a:cs typeface="+mn-lt"/>
              </a:rPr>
              <a:t> </a:t>
            </a:r>
            <a:r>
              <a:rPr lang="en-US" altLang="zh-CN" dirty="0">
                <a:ea typeface="+mn-lt"/>
                <a:cs typeface="+mn-lt"/>
              </a:rPr>
              <a:t>each</a:t>
            </a:r>
            <a:r>
              <a:rPr lang="zh-CN" altLang="en-US" dirty="0">
                <a:ea typeface="+mn-lt"/>
                <a:cs typeface="+mn-lt"/>
              </a:rPr>
              <a:t> </a:t>
            </a:r>
            <a:r>
              <a:rPr lang="en-US" altLang="zh-CN" dirty="0">
                <a:ea typeface="+mn-lt"/>
                <a:cs typeface="+mn-lt"/>
              </a:rPr>
              <a:t>product</a:t>
            </a:r>
            <a:r>
              <a:rPr lang="zh-CN" altLang="en-US" dirty="0">
                <a:ea typeface="+mn-lt"/>
                <a:cs typeface="+mn-lt"/>
              </a:rPr>
              <a:t> </a:t>
            </a:r>
            <a:r>
              <a:rPr lang="en-US" altLang="zh-CN" dirty="0">
                <a:ea typeface="+mn-lt"/>
                <a:cs typeface="+mn-lt"/>
              </a:rPr>
              <a:t>by</a:t>
            </a:r>
            <a:r>
              <a:rPr lang="zh-CN" altLang="en-US" dirty="0">
                <a:ea typeface="+mn-lt"/>
                <a:cs typeface="+mn-lt"/>
              </a:rPr>
              <a:t> </a:t>
            </a:r>
            <a:r>
              <a:rPr lang="en-US" altLang="zh-CN" dirty="0">
                <a:ea typeface="+mn-lt"/>
                <a:cs typeface="+mn-lt"/>
              </a:rPr>
              <a:t>customer</a:t>
            </a:r>
            <a:r>
              <a:rPr lang="zh-CN" altLang="en-US" dirty="0">
                <a:ea typeface="+mn-lt"/>
                <a:cs typeface="+mn-lt"/>
              </a:rPr>
              <a:t> </a:t>
            </a:r>
            <a:r>
              <a:rPr lang="en-US" altLang="zh-CN" dirty="0">
                <a:ea typeface="+mn-lt"/>
                <a:cs typeface="+mn-lt"/>
              </a:rPr>
              <a:t>and</a:t>
            </a:r>
            <a:r>
              <a:rPr lang="zh-CN" altLang="en-US" dirty="0">
                <a:ea typeface="+mn-lt"/>
                <a:cs typeface="+mn-lt"/>
              </a:rPr>
              <a:t> </a:t>
            </a:r>
            <a:r>
              <a:rPr lang="en-US" altLang="zh-CN" dirty="0">
                <a:ea typeface="+mn-lt"/>
                <a:cs typeface="+mn-lt"/>
              </a:rPr>
              <a:t>transaction</a:t>
            </a:r>
            <a:r>
              <a:rPr lang="zh-CN" altLang="en-US" dirty="0">
                <a:ea typeface="+mn-lt"/>
                <a:cs typeface="+mn-lt"/>
              </a:rPr>
              <a:t> </a:t>
            </a:r>
            <a:r>
              <a:rPr lang="en-US" altLang="zh-CN" dirty="0">
                <a:ea typeface="+mn-lt"/>
                <a:cs typeface="+mn-lt"/>
              </a:rPr>
              <a:t>date.</a:t>
            </a:r>
            <a:endParaRPr lang="zh-CN" altLang="en-US" dirty="0">
              <a:cs typeface="Calibri" panose="020F0502020204030204"/>
            </a:endParaRPr>
          </a:p>
          <a:p>
            <a:pPr marL="285750" indent="-285750">
              <a:buFont typeface="Arial"/>
              <a:buChar char="•"/>
            </a:pPr>
            <a:r>
              <a:rPr lang="en-US" altLang="zh-CN" dirty="0">
                <a:ea typeface="+mn-lt"/>
                <a:cs typeface="+mn-lt"/>
              </a:rPr>
              <a:t>Create</a:t>
            </a:r>
            <a:r>
              <a:rPr lang="zh-CN" altLang="en-US" dirty="0">
                <a:ea typeface="+mn-lt"/>
                <a:cs typeface="+mn-lt"/>
              </a:rPr>
              <a:t> </a:t>
            </a:r>
            <a:r>
              <a:rPr lang="en-US" altLang="zh-CN" dirty="0">
                <a:ea typeface="+mn-lt"/>
                <a:cs typeface="+mn-lt"/>
              </a:rPr>
              <a:t>a</a:t>
            </a:r>
            <a:r>
              <a:rPr lang="zh-CN" altLang="en-US" dirty="0">
                <a:ea typeface="+mn-lt"/>
                <a:cs typeface="+mn-lt"/>
              </a:rPr>
              <a:t> </a:t>
            </a:r>
            <a:r>
              <a:rPr lang="en-US" altLang="zh-CN" dirty="0">
                <a:ea typeface="+mn-lt"/>
                <a:cs typeface="+mn-lt"/>
              </a:rPr>
              <a:t>category</a:t>
            </a:r>
            <a:r>
              <a:rPr lang="zh-CN" altLang="en-US" dirty="0">
                <a:ea typeface="+mn-lt"/>
                <a:cs typeface="+mn-lt"/>
              </a:rPr>
              <a:t> </a:t>
            </a:r>
            <a:r>
              <a:rPr lang="en-US" altLang="zh-CN" dirty="0">
                <a:ea typeface="+mn-lt"/>
                <a:cs typeface="+mn-lt"/>
              </a:rPr>
              <a:t>pivot</a:t>
            </a:r>
            <a:r>
              <a:rPr lang="zh-CN" altLang="en-US" dirty="0">
                <a:ea typeface="+mn-lt"/>
                <a:cs typeface="+mn-lt"/>
              </a:rPr>
              <a:t> </a:t>
            </a:r>
            <a:r>
              <a:rPr lang="en-US" altLang="zh-CN" dirty="0">
                <a:ea typeface="+mn-lt"/>
                <a:cs typeface="+mn-lt"/>
              </a:rPr>
              <a:t>table</a:t>
            </a:r>
            <a:r>
              <a:rPr lang="zh-CN" altLang="en-US" dirty="0">
                <a:ea typeface="+mn-lt"/>
                <a:cs typeface="+mn-lt"/>
              </a:rPr>
              <a:t> </a:t>
            </a:r>
            <a:r>
              <a:rPr lang="en-US" altLang="zh-CN" dirty="0" err="1">
                <a:ea typeface="+mn-lt"/>
                <a:cs typeface="+mn-lt"/>
              </a:rPr>
              <a:t>category_pivot</a:t>
            </a:r>
            <a:r>
              <a:rPr lang="zh-CN" altLang="en-US" dirty="0">
                <a:ea typeface="+mn-lt"/>
                <a:cs typeface="+mn-lt"/>
              </a:rPr>
              <a:t> </a:t>
            </a:r>
            <a:r>
              <a:rPr lang="en-US" altLang="zh-CN" dirty="0">
                <a:ea typeface="+mn-lt"/>
                <a:cs typeface="+mn-lt"/>
              </a:rPr>
              <a:t>to</a:t>
            </a:r>
            <a:r>
              <a:rPr lang="zh-CN" altLang="en-US" dirty="0">
                <a:ea typeface="+mn-lt"/>
                <a:cs typeface="+mn-lt"/>
              </a:rPr>
              <a:t> </a:t>
            </a:r>
            <a:r>
              <a:rPr lang="en-US" altLang="zh-CN" dirty="0">
                <a:ea typeface="+mn-lt"/>
                <a:cs typeface="+mn-lt"/>
              </a:rPr>
              <a:t>count</a:t>
            </a:r>
            <a:r>
              <a:rPr lang="zh-CN" altLang="en-US" dirty="0">
                <a:ea typeface="+mn-lt"/>
                <a:cs typeface="+mn-lt"/>
              </a:rPr>
              <a:t> </a:t>
            </a:r>
            <a:r>
              <a:rPr lang="en-US" altLang="zh-CN" dirty="0">
                <a:ea typeface="+mn-lt"/>
                <a:cs typeface="+mn-lt"/>
              </a:rPr>
              <a:t>the</a:t>
            </a:r>
            <a:r>
              <a:rPr lang="zh-CN" altLang="en-US" dirty="0">
                <a:ea typeface="+mn-lt"/>
                <a:cs typeface="+mn-lt"/>
              </a:rPr>
              <a:t> </a:t>
            </a:r>
            <a:r>
              <a:rPr lang="en-US" altLang="zh-CN" dirty="0">
                <a:ea typeface="+mn-lt"/>
                <a:cs typeface="+mn-lt"/>
              </a:rPr>
              <a:t>number</a:t>
            </a:r>
            <a:r>
              <a:rPr lang="zh-CN" altLang="en-US" dirty="0">
                <a:ea typeface="+mn-lt"/>
                <a:cs typeface="+mn-lt"/>
              </a:rPr>
              <a:t> </a:t>
            </a:r>
            <a:r>
              <a:rPr lang="en-US" altLang="zh-CN" dirty="0">
                <a:ea typeface="+mn-lt"/>
                <a:cs typeface="+mn-lt"/>
              </a:rPr>
              <a:t>of</a:t>
            </a:r>
            <a:r>
              <a:rPr lang="zh-CN" altLang="en-US" dirty="0">
                <a:ea typeface="+mn-lt"/>
                <a:cs typeface="+mn-lt"/>
              </a:rPr>
              <a:t> </a:t>
            </a:r>
            <a:r>
              <a:rPr lang="en-US" altLang="zh-CN" dirty="0">
                <a:ea typeface="+mn-lt"/>
                <a:cs typeface="+mn-lt"/>
              </a:rPr>
              <a:t>purchases</a:t>
            </a:r>
            <a:r>
              <a:rPr lang="zh-CN" altLang="en-US" dirty="0">
                <a:ea typeface="+mn-lt"/>
                <a:cs typeface="+mn-lt"/>
              </a:rPr>
              <a:t> </a:t>
            </a:r>
            <a:r>
              <a:rPr lang="en-US" altLang="zh-CN" dirty="0">
                <a:ea typeface="+mn-lt"/>
                <a:cs typeface="+mn-lt"/>
              </a:rPr>
              <a:t>of</a:t>
            </a:r>
            <a:r>
              <a:rPr lang="zh-CN" altLang="en-US" dirty="0">
                <a:ea typeface="+mn-lt"/>
                <a:cs typeface="+mn-lt"/>
              </a:rPr>
              <a:t> </a:t>
            </a:r>
            <a:r>
              <a:rPr lang="en-US" altLang="zh-CN" dirty="0">
                <a:ea typeface="+mn-lt"/>
                <a:cs typeface="+mn-lt"/>
              </a:rPr>
              <a:t>each</a:t>
            </a:r>
            <a:r>
              <a:rPr lang="zh-CN" altLang="en-US" dirty="0">
                <a:ea typeface="+mn-lt"/>
                <a:cs typeface="+mn-lt"/>
              </a:rPr>
              <a:t> </a:t>
            </a:r>
            <a:r>
              <a:rPr lang="en-US" altLang="zh-CN" dirty="0">
                <a:ea typeface="+mn-lt"/>
                <a:cs typeface="+mn-lt"/>
              </a:rPr>
              <a:t>category</a:t>
            </a:r>
            <a:r>
              <a:rPr lang="zh-CN" altLang="en-US" dirty="0">
                <a:ea typeface="+mn-lt"/>
                <a:cs typeface="+mn-lt"/>
              </a:rPr>
              <a:t> </a:t>
            </a:r>
            <a:r>
              <a:rPr lang="en-US" altLang="zh-CN" dirty="0">
                <a:ea typeface="+mn-lt"/>
                <a:cs typeface="+mn-lt"/>
              </a:rPr>
              <a:t>by</a:t>
            </a:r>
            <a:r>
              <a:rPr lang="zh-CN" altLang="en-US" dirty="0">
                <a:ea typeface="+mn-lt"/>
                <a:cs typeface="+mn-lt"/>
              </a:rPr>
              <a:t> </a:t>
            </a:r>
            <a:r>
              <a:rPr lang="en-US" altLang="zh-CN" dirty="0">
                <a:ea typeface="+mn-lt"/>
                <a:cs typeface="+mn-lt"/>
              </a:rPr>
              <a:t>customer</a:t>
            </a:r>
            <a:r>
              <a:rPr lang="zh-CN" altLang="en-US" dirty="0">
                <a:ea typeface="+mn-lt"/>
                <a:cs typeface="+mn-lt"/>
              </a:rPr>
              <a:t> </a:t>
            </a:r>
            <a:r>
              <a:rPr lang="en-US" altLang="zh-CN" dirty="0">
                <a:ea typeface="+mn-lt"/>
                <a:cs typeface="+mn-lt"/>
              </a:rPr>
              <a:t>and</a:t>
            </a:r>
            <a:r>
              <a:rPr lang="zh-CN" altLang="en-US" dirty="0">
                <a:ea typeface="+mn-lt"/>
                <a:cs typeface="+mn-lt"/>
              </a:rPr>
              <a:t> </a:t>
            </a:r>
            <a:r>
              <a:rPr lang="en-US" altLang="zh-CN" dirty="0">
                <a:ea typeface="+mn-lt"/>
                <a:cs typeface="+mn-lt"/>
              </a:rPr>
              <a:t>transaction</a:t>
            </a:r>
            <a:r>
              <a:rPr lang="zh-CN" altLang="en-US" dirty="0">
                <a:ea typeface="+mn-lt"/>
                <a:cs typeface="+mn-lt"/>
              </a:rPr>
              <a:t> </a:t>
            </a:r>
            <a:r>
              <a:rPr lang="en-US" altLang="zh-CN" dirty="0">
                <a:ea typeface="+mn-lt"/>
                <a:cs typeface="+mn-lt"/>
              </a:rPr>
              <a:t>date.</a:t>
            </a:r>
            <a:endParaRPr lang="zh-CN" altLang="en-US" dirty="0">
              <a:cs typeface="Calibri" panose="020F0502020204030204"/>
            </a:endParaRPr>
          </a:p>
          <a:p>
            <a:pPr marL="285750" indent="-285750">
              <a:buFont typeface="Arial"/>
              <a:buChar char="•"/>
            </a:pPr>
            <a:r>
              <a:rPr lang="en-US" altLang="zh-CN" dirty="0">
                <a:ea typeface="+mn-lt"/>
                <a:cs typeface="+mn-lt"/>
              </a:rPr>
              <a:t>Merge</a:t>
            </a:r>
            <a:r>
              <a:rPr lang="zh-CN" altLang="en-US" dirty="0">
                <a:ea typeface="+mn-lt"/>
                <a:cs typeface="+mn-lt"/>
              </a:rPr>
              <a:t> </a:t>
            </a:r>
            <a:r>
              <a:rPr lang="en-US" altLang="zh-CN" dirty="0">
                <a:ea typeface="+mn-lt"/>
                <a:cs typeface="+mn-lt"/>
              </a:rPr>
              <a:t>the</a:t>
            </a:r>
            <a:r>
              <a:rPr lang="zh-CN" altLang="en-US" dirty="0">
                <a:ea typeface="+mn-lt"/>
                <a:cs typeface="+mn-lt"/>
              </a:rPr>
              <a:t> </a:t>
            </a:r>
            <a:r>
              <a:rPr lang="en-US" altLang="zh-CN" dirty="0">
                <a:ea typeface="+mn-lt"/>
                <a:cs typeface="+mn-lt"/>
              </a:rPr>
              <a:t>product</a:t>
            </a:r>
            <a:r>
              <a:rPr lang="zh-CN" altLang="en-US" dirty="0">
                <a:ea typeface="+mn-lt"/>
                <a:cs typeface="+mn-lt"/>
              </a:rPr>
              <a:t> </a:t>
            </a:r>
            <a:r>
              <a:rPr lang="en-US" altLang="zh-CN" dirty="0">
                <a:ea typeface="+mn-lt"/>
                <a:cs typeface="+mn-lt"/>
              </a:rPr>
              <a:t>and</a:t>
            </a:r>
            <a:r>
              <a:rPr lang="zh-CN" altLang="en-US" dirty="0">
                <a:ea typeface="+mn-lt"/>
                <a:cs typeface="+mn-lt"/>
              </a:rPr>
              <a:t> </a:t>
            </a:r>
            <a:r>
              <a:rPr lang="en-US" altLang="zh-CN" dirty="0">
                <a:ea typeface="+mn-lt"/>
                <a:cs typeface="+mn-lt"/>
              </a:rPr>
              <a:t>category</a:t>
            </a:r>
            <a:r>
              <a:rPr lang="zh-CN" altLang="en-US" dirty="0">
                <a:ea typeface="+mn-lt"/>
                <a:cs typeface="+mn-lt"/>
              </a:rPr>
              <a:t> </a:t>
            </a:r>
            <a:r>
              <a:rPr lang="en-US" altLang="zh-CN" dirty="0">
                <a:ea typeface="+mn-lt"/>
                <a:cs typeface="+mn-lt"/>
              </a:rPr>
              <a:t>pivot</a:t>
            </a:r>
            <a:r>
              <a:rPr lang="zh-CN" altLang="en-US" dirty="0">
                <a:ea typeface="+mn-lt"/>
                <a:cs typeface="+mn-lt"/>
              </a:rPr>
              <a:t> </a:t>
            </a:r>
            <a:r>
              <a:rPr lang="en-US" altLang="zh-CN" dirty="0">
                <a:ea typeface="+mn-lt"/>
                <a:cs typeface="+mn-lt"/>
              </a:rPr>
              <a:t>tables</a:t>
            </a:r>
            <a:r>
              <a:rPr lang="zh-CN" altLang="en-US" dirty="0">
                <a:ea typeface="+mn-lt"/>
                <a:cs typeface="+mn-lt"/>
              </a:rPr>
              <a:t> </a:t>
            </a:r>
            <a:r>
              <a:rPr lang="en-US" altLang="zh-CN" dirty="0">
                <a:ea typeface="+mn-lt"/>
                <a:cs typeface="+mn-lt"/>
              </a:rPr>
              <a:t>with</a:t>
            </a:r>
            <a:r>
              <a:rPr lang="zh-CN" altLang="en-US" dirty="0">
                <a:ea typeface="+mn-lt"/>
                <a:cs typeface="+mn-lt"/>
              </a:rPr>
              <a:t> </a:t>
            </a:r>
            <a:r>
              <a:rPr lang="en-US" altLang="zh-CN" dirty="0">
                <a:ea typeface="+mn-lt"/>
                <a:cs typeface="+mn-lt"/>
              </a:rPr>
              <a:t>the</a:t>
            </a:r>
            <a:r>
              <a:rPr lang="zh-CN" altLang="en-US" dirty="0">
                <a:ea typeface="+mn-lt"/>
                <a:cs typeface="+mn-lt"/>
              </a:rPr>
              <a:t> </a:t>
            </a:r>
            <a:r>
              <a:rPr lang="en-US" altLang="zh-CN" dirty="0">
                <a:ea typeface="+mn-lt"/>
                <a:cs typeface="+mn-lt"/>
              </a:rPr>
              <a:t>main</a:t>
            </a:r>
            <a:r>
              <a:rPr lang="zh-CN" altLang="en-US" dirty="0">
                <a:ea typeface="+mn-lt"/>
                <a:cs typeface="+mn-lt"/>
              </a:rPr>
              <a:t> </a:t>
            </a:r>
            <a:r>
              <a:rPr lang="en-US" altLang="zh-CN" dirty="0">
                <a:ea typeface="+mn-lt"/>
                <a:cs typeface="+mn-lt"/>
              </a:rPr>
              <a:t>table</a:t>
            </a:r>
            <a:r>
              <a:rPr lang="zh-CN" altLang="en-US" dirty="0">
                <a:ea typeface="+mn-lt"/>
                <a:cs typeface="+mn-lt"/>
              </a:rPr>
              <a:t> </a:t>
            </a:r>
            <a:r>
              <a:rPr lang="en-US" altLang="zh-CN" dirty="0">
                <a:ea typeface="+mn-lt"/>
                <a:cs typeface="+mn-lt"/>
              </a:rPr>
              <a:t>(</a:t>
            </a:r>
            <a:r>
              <a:rPr lang="en-US" altLang="zh-CN" dirty="0" err="1">
                <a:ea typeface="+mn-lt"/>
                <a:cs typeface="+mn-lt"/>
              </a:rPr>
              <a:t>df_customer_total_amount_by_date</a:t>
            </a:r>
            <a:r>
              <a:rPr lang="en-US" altLang="zh-CN" dirty="0">
                <a:ea typeface="+mn-lt"/>
                <a:cs typeface="+mn-lt"/>
              </a:rPr>
              <a:t>)</a:t>
            </a:r>
            <a:r>
              <a:rPr lang="zh-CN" altLang="en-US" dirty="0">
                <a:ea typeface="+mn-lt"/>
                <a:cs typeface="+mn-lt"/>
              </a:rPr>
              <a:t> </a:t>
            </a:r>
            <a:r>
              <a:rPr lang="en-US" altLang="zh-CN" dirty="0">
                <a:ea typeface="+mn-lt"/>
                <a:cs typeface="+mn-lt"/>
              </a:rPr>
              <a:t>respectively.</a:t>
            </a:r>
            <a:endParaRPr lang="zh-CN" dirty="0">
              <a:cs typeface="Calibri" panose="020F0502020204030204"/>
            </a:endParaRPr>
          </a:p>
          <a:p>
            <a:endParaRPr lang="en-US" altLang="zh-CN" dirty="0">
              <a:ea typeface="Calibri"/>
              <a:cs typeface="Calibri"/>
            </a:endParaRPr>
          </a:p>
          <a:p>
            <a:r>
              <a:rPr lang="en-US" altLang="zh-CN" b="1" dirty="0">
                <a:ea typeface="Calibri"/>
                <a:cs typeface="Calibri"/>
              </a:rPr>
              <a:t>In</a:t>
            </a:r>
            <a:r>
              <a:rPr lang="zh-CN" altLang="en-US" b="1" dirty="0">
                <a:ea typeface="Calibri"/>
                <a:cs typeface="Calibri"/>
              </a:rPr>
              <a:t> </a:t>
            </a:r>
            <a:r>
              <a:rPr lang="en-US" altLang="zh-CN" b="1" dirty="0">
                <a:ea typeface="Calibri"/>
                <a:cs typeface="Calibri"/>
              </a:rPr>
              <a:t>order</a:t>
            </a:r>
            <a:r>
              <a:rPr lang="zh-CN" altLang="en-US" b="1" dirty="0">
                <a:ea typeface="Calibri"/>
                <a:cs typeface="Calibri"/>
              </a:rPr>
              <a:t> </a:t>
            </a:r>
            <a:r>
              <a:rPr lang="en-US" altLang="zh-CN" b="1" dirty="0">
                <a:ea typeface="Calibri"/>
                <a:cs typeface="Calibri"/>
              </a:rPr>
              <a:t>to</a:t>
            </a:r>
            <a:r>
              <a:rPr lang="zh-CN" altLang="en-US" b="1" dirty="0">
                <a:ea typeface="Calibri"/>
                <a:cs typeface="Calibri"/>
              </a:rPr>
              <a:t> </a:t>
            </a:r>
            <a:r>
              <a:rPr lang="en-US" altLang="zh-CN" b="1" dirty="0">
                <a:ea typeface="Calibri"/>
                <a:cs typeface="Calibri"/>
              </a:rPr>
              <a:t>evaluate</a:t>
            </a:r>
            <a:r>
              <a:rPr lang="zh-CN" altLang="en-US" b="1" dirty="0">
                <a:ea typeface="Calibri"/>
                <a:cs typeface="Calibri"/>
              </a:rPr>
              <a:t> </a:t>
            </a:r>
            <a:r>
              <a:rPr lang="en-US" altLang="zh-CN" b="1" dirty="0">
                <a:ea typeface="Calibri"/>
                <a:cs typeface="Calibri"/>
              </a:rPr>
              <a:t>the</a:t>
            </a:r>
            <a:r>
              <a:rPr lang="zh-CN" altLang="en-US" b="1" dirty="0">
                <a:ea typeface="Calibri"/>
                <a:cs typeface="Calibri"/>
              </a:rPr>
              <a:t> </a:t>
            </a:r>
            <a:r>
              <a:rPr lang="en-US" altLang="zh-CN" b="1" dirty="0">
                <a:ea typeface="Calibri"/>
                <a:cs typeface="Calibri"/>
              </a:rPr>
              <a:t>performance</a:t>
            </a:r>
            <a:r>
              <a:rPr lang="zh-CN" altLang="en-US" b="1" dirty="0">
                <a:ea typeface="Calibri"/>
                <a:cs typeface="Calibri"/>
              </a:rPr>
              <a:t> </a:t>
            </a:r>
            <a:r>
              <a:rPr lang="en-US" altLang="zh-CN" b="1" dirty="0">
                <a:ea typeface="Calibri"/>
                <a:cs typeface="Calibri"/>
              </a:rPr>
              <a:t>of</a:t>
            </a:r>
            <a:r>
              <a:rPr lang="zh-CN" altLang="en-US" b="1" dirty="0">
                <a:ea typeface="Calibri"/>
                <a:cs typeface="Calibri"/>
              </a:rPr>
              <a:t> </a:t>
            </a:r>
            <a:r>
              <a:rPr lang="en-US" altLang="zh-CN" b="1" dirty="0">
                <a:ea typeface="Calibri"/>
                <a:cs typeface="Calibri"/>
              </a:rPr>
              <a:t>the</a:t>
            </a:r>
            <a:r>
              <a:rPr lang="zh-CN" altLang="en-US" b="1" dirty="0">
                <a:ea typeface="Calibri"/>
                <a:cs typeface="Calibri"/>
              </a:rPr>
              <a:t> </a:t>
            </a:r>
            <a:r>
              <a:rPr lang="en-US" altLang="zh-CN" b="1" dirty="0">
                <a:ea typeface="Calibri"/>
                <a:cs typeface="Calibri"/>
              </a:rPr>
              <a:t>model,</a:t>
            </a:r>
            <a:r>
              <a:rPr lang="zh-CN" altLang="en-US" b="1" dirty="0">
                <a:ea typeface="Calibri"/>
                <a:cs typeface="Calibri"/>
              </a:rPr>
              <a:t> </a:t>
            </a:r>
            <a:r>
              <a:rPr lang="en-US" altLang="zh-CN" b="1" dirty="0">
                <a:ea typeface="Calibri"/>
                <a:cs typeface="Calibri"/>
              </a:rPr>
              <a:t>the</a:t>
            </a:r>
            <a:r>
              <a:rPr lang="zh-CN" altLang="en-US" b="1" dirty="0">
                <a:ea typeface="Calibri"/>
                <a:cs typeface="Calibri"/>
              </a:rPr>
              <a:t> </a:t>
            </a:r>
            <a:r>
              <a:rPr lang="en-US" altLang="zh-CN" b="1" dirty="0">
                <a:ea typeface="Calibri"/>
                <a:cs typeface="Calibri"/>
              </a:rPr>
              <a:t>training</a:t>
            </a:r>
            <a:r>
              <a:rPr lang="zh-CN" altLang="en-US" b="1" dirty="0">
                <a:ea typeface="Calibri"/>
                <a:cs typeface="Calibri"/>
              </a:rPr>
              <a:t> </a:t>
            </a:r>
            <a:r>
              <a:rPr lang="en-US" altLang="zh-CN" b="1" dirty="0">
                <a:ea typeface="Calibri"/>
                <a:cs typeface="Calibri"/>
              </a:rPr>
              <a:t>set</a:t>
            </a:r>
            <a:r>
              <a:rPr lang="zh-CN" altLang="en-US" b="1" dirty="0">
                <a:ea typeface="Calibri"/>
                <a:cs typeface="Calibri"/>
              </a:rPr>
              <a:t> </a:t>
            </a:r>
            <a:r>
              <a:rPr lang="en-US" altLang="zh-CN" b="1" dirty="0">
                <a:ea typeface="Calibri"/>
                <a:cs typeface="Calibri"/>
              </a:rPr>
              <a:t>and</a:t>
            </a:r>
            <a:r>
              <a:rPr lang="zh-CN" altLang="en-US" b="1" dirty="0">
                <a:ea typeface="Calibri"/>
                <a:cs typeface="Calibri"/>
              </a:rPr>
              <a:t> </a:t>
            </a:r>
            <a:r>
              <a:rPr lang="en-US" altLang="zh-CN" b="1" dirty="0">
                <a:ea typeface="Calibri"/>
                <a:cs typeface="Calibri"/>
              </a:rPr>
              <a:t>test</a:t>
            </a:r>
            <a:r>
              <a:rPr lang="zh-CN" altLang="en-US" b="1" dirty="0">
                <a:ea typeface="Calibri"/>
                <a:cs typeface="Calibri"/>
              </a:rPr>
              <a:t> </a:t>
            </a:r>
            <a:r>
              <a:rPr lang="en-US" altLang="zh-CN" b="1" dirty="0">
                <a:ea typeface="Calibri"/>
                <a:cs typeface="Calibri"/>
              </a:rPr>
              <a:t>set</a:t>
            </a:r>
            <a:r>
              <a:rPr lang="zh-CN" altLang="en-US" b="1" dirty="0">
                <a:ea typeface="Calibri"/>
                <a:cs typeface="Calibri"/>
              </a:rPr>
              <a:t> </a:t>
            </a:r>
            <a:r>
              <a:rPr lang="en-US" altLang="zh-CN" b="1" dirty="0">
                <a:ea typeface="Calibri"/>
                <a:cs typeface="Calibri"/>
              </a:rPr>
              <a:t>are</a:t>
            </a:r>
            <a:r>
              <a:rPr lang="zh-CN" altLang="en-US" b="1" dirty="0">
                <a:ea typeface="Calibri"/>
                <a:cs typeface="Calibri"/>
              </a:rPr>
              <a:t> </a:t>
            </a:r>
            <a:r>
              <a:rPr lang="en-US" altLang="zh-CN" b="1" dirty="0">
                <a:ea typeface="Calibri"/>
                <a:cs typeface="Calibri"/>
              </a:rPr>
              <a:t>divided</a:t>
            </a:r>
            <a:r>
              <a:rPr lang="zh-CN" altLang="en-US" b="1" dirty="0">
                <a:ea typeface="Calibri"/>
                <a:cs typeface="Calibri"/>
              </a:rPr>
              <a:t> </a:t>
            </a:r>
            <a:r>
              <a:rPr lang="en-US" altLang="zh-CN" b="1" dirty="0">
                <a:ea typeface="Calibri"/>
                <a:cs typeface="Calibri"/>
              </a:rPr>
              <a:t>in</a:t>
            </a:r>
            <a:r>
              <a:rPr lang="zh-CN" altLang="en-US" b="1" dirty="0">
                <a:ea typeface="Calibri"/>
                <a:cs typeface="Calibri"/>
              </a:rPr>
              <a:t> </a:t>
            </a:r>
            <a:r>
              <a:rPr lang="en-US" altLang="zh-CN" b="1" dirty="0">
                <a:ea typeface="Calibri"/>
                <a:cs typeface="Calibri"/>
              </a:rPr>
              <a:t>chronological</a:t>
            </a:r>
            <a:r>
              <a:rPr lang="zh-CN" altLang="en-US" b="1" dirty="0">
                <a:ea typeface="Calibri"/>
                <a:cs typeface="Calibri"/>
              </a:rPr>
              <a:t> </a:t>
            </a:r>
            <a:r>
              <a:rPr lang="en-US" altLang="zh-CN" b="1" dirty="0">
                <a:ea typeface="Calibri"/>
                <a:cs typeface="Calibri"/>
              </a:rPr>
              <a:t>order:</a:t>
            </a:r>
            <a:endParaRPr lang="zh-CN" altLang="en-US" b="1" dirty="0">
              <a:ea typeface="Calibri"/>
              <a:cs typeface="Calibri"/>
            </a:endParaRPr>
          </a:p>
          <a:p>
            <a:r>
              <a:rPr lang="en-US" altLang="zh-CN" dirty="0">
                <a:ea typeface="Calibri"/>
                <a:cs typeface="Calibri"/>
              </a:rPr>
              <a:t>Training</a:t>
            </a:r>
            <a:r>
              <a:rPr lang="zh-CN" altLang="en-US" dirty="0">
                <a:ea typeface="Calibri"/>
                <a:cs typeface="Calibri"/>
              </a:rPr>
              <a:t> </a:t>
            </a:r>
            <a:r>
              <a:rPr lang="en-US" altLang="zh-CN" dirty="0">
                <a:ea typeface="Calibri"/>
                <a:cs typeface="Calibri"/>
              </a:rPr>
              <a:t>set</a:t>
            </a:r>
            <a:r>
              <a:rPr lang="zh-CN" altLang="en-US" dirty="0">
                <a:ea typeface="Calibri"/>
                <a:cs typeface="Calibri"/>
              </a:rPr>
              <a:t> </a:t>
            </a:r>
            <a:r>
              <a:rPr lang="en-US" altLang="zh-CN" dirty="0">
                <a:ea typeface="Calibri"/>
                <a:cs typeface="Calibri"/>
              </a:rPr>
              <a:t>(70%):</a:t>
            </a:r>
            <a:r>
              <a:rPr lang="zh-CN" altLang="en-US" dirty="0">
                <a:ea typeface="Calibri"/>
                <a:cs typeface="Calibri"/>
              </a:rPr>
              <a:t> </a:t>
            </a:r>
            <a:r>
              <a:rPr lang="en-US" altLang="zh-CN" dirty="0">
                <a:ea typeface="Calibri"/>
                <a:cs typeface="Calibri"/>
              </a:rPr>
              <a:t>includes</a:t>
            </a:r>
            <a:r>
              <a:rPr lang="zh-CN" altLang="en-US" dirty="0">
                <a:ea typeface="Calibri"/>
                <a:cs typeface="Calibri"/>
              </a:rPr>
              <a:t> </a:t>
            </a:r>
            <a:r>
              <a:rPr lang="en-US" altLang="zh-CN" dirty="0">
                <a:ea typeface="Calibri"/>
                <a:cs typeface="Calibri"/>
              </a:rPr>
              <a:t>records</a:t>
            </a:r>
            <a:r>
              <a:rPr lang="zh-CN" altLang="en-US" dirty="0">
                <a:ea typeface="Calibri"/>
                <a:cs typeface="Calibri"/>
              </a:rPr>
              <a:t> </a:t>
            </a:r>
            <a:r>
              <a:rPr lang="en-US" altLang="zh-CN" dirty="0">
                <a:ea typeface="Calibri"/>
                <a:cs typeface="Calibri"/>
              </a:rPr>
              <a:t>with</a:t>
            </a:r>
            <a:r>
              <a:rPr lang="zh-CN" altLang="en-US" dirty="0">
                <a:ea typeface="Calibri"/>
                <a:cs typeface="Calibri"/>
              </a:rPr>
              <a:t> </a:t>
            </a:r>
            <a:r>
              <a:rPr lang="en-US" altLang="zh-CN" dirty="0">
                <a:ea typeface="Calibri"/>
                <a:cs typeface="Calibri"/>
              </a:rPr>
              <a:t>earlier</a:t>
            </a:r>
            <a:r>
              <a:rPr lang="zh-CN" altLang="en-US" dirty="0">
                <a:ea typeface="Calibri"/>
                <a:cs typeface="Calibri"/>
              </a:rPr>
              <a:t> </a:t>
            </a:r>
            <a:r>
              <a:rPr lang="en-US" altLang="zh-CN" dirty="0">
                <a:ea typeface="Calibri"/>
                <a:cs typeface="Calibri"/>
              </a:rPr>
              <a:t>history,</a:t>
            </a:r>
            <a:r>
              <a:rPr lang="zh-CN" altLang="en-US" dirty="0">
                <a:ea typeface="Calibri"/>
                <a:cs typeface="Calibri"/>
              </a:rPr>
              <a:t> </a:t>
            </a:r>
            <a:r>
              <a:rPr lang="en-US" altLang="zh-CN" dirty="0">
                <a:ea typeface="Calibri"/>
                <a:cs typeface="Calibri"/>
              </a:rPr>
              <a:t>used</a:t>
            </a:r>
            <a:r>
              <a:rPr lang="zh-CN" altLang="en-US" dirty="0">
                <a:ea typeface="Calibri"/>
                <a:cs typeface="Calibri"/>
              </a:rPr>
              <a:t> </a:t>
            </a:r>
            <a:r>
              <a:rPr lang="en-US" altLang="zh-CN" dirty="0">
                <a:ea typeface="Calibri"/>
                <a:cs typeface="Calibri"/>
              </a:rPr>
              <a:t>for</a:t>
            </a:r>
            <a:r>
              <a:rPr lang="zh-CN" altLang="en-US" dirty="0">
                <a:ea typeface="Calibri"/>
                <a:cs typeface="Calibri"/>
              </a:rPr>
              <a:t> </a:t>
            </a:r>
            <a:r>
              <a:rPr lang="en-US" altLang="zh-CN" dirty="0">
                <a:ea typeface="Calibri"/>
                <a:cs typeface="Calibri"/>
              </a:rPr>
              <a:t>training</a:t>
            </a:r>
            <a:r>
              <a:rPr lang="zh-CN" altLang="en-US" dirty="0">
                <a:ea typeface="Calibri"/>
                <a:cs typeface="Calibri"/>
              </a:rPr>
              <a:t> </a:t>
            </a:r>
            <a:r>
              <a:rPr lang="en-US" altLang="zh-CN" dirty="0">
                <a:ea typeface="Calibri"/>
                <a:cs typeface="Calibri"/>
              </a:rPr>
              <a:t>the</a:t>
            </a:r>
            <a:r>
              <a:rPr lang="zh-CN" altLang="en-US" dirty="0">
                <a:ea typeface="Calibri"/>
                <a:cs typeface="Calibri"/>
              </a:rPr>
              <a:t> </a:t>
            </a:r>
            <a:r>
              <a:rPr lang="en-US" altLang="zh-CN" dirty="0">
                <a:ea typeface="Calibri"/>
                <a:cs typeface="Calibri"/>
              </a:rPr>
              <a:t>model.</a:t>
            </a:r>
            <a:endParaRPr lang="zh-CN" altLang="en-US" dirty="0">
              <a:ea typeface="Calibri"/>
              <a:cs typeface="Calibri"/>
            </a:endParaRPr>
          </a:p>
          <a:p>
            <a:r>
              <a:rPr lang="en-US" altLang="zh-CN" dirty="0">
                <a:ea typeface="Calibri"/>
                <a:cs typeface="Calibri"/>
              </a:rPr>
              <a:t>Test</a:t>
            </a:r>
            <a:r>
              <a:rPr lang="zh-CN" altLang="en-US" dirty="0">
                <a:ea typeface="Calibri"/>
                <a:cs typeface="Calibri"/>
              </a:rPr>
              <a:t> </a:t>
            </a:r>
            <a:r>
              <a:rPr lang="en-US" altLang="zh-CN" dirty="0">
                <a:ea typeface="Calibri"/>
                <a:cs typeface="Calibri"/>
              </a:rPr>
              <a:t>set</a:t>
            </a:r>
            <a:r>
              <a:rPr lang="zh-CN" altLang="en-US" dirty="0">
                <a:ea typeface="Calibri"/>
                <a:cs typeface="Calibri"/>
              </a:rPr>
              <a:t> </a:t>
            </a:r>
            <a:r>
              <a:rPr lang="en-US" altLang="zh-CN" dirty="0">
                <a:ea typeface="Calibri"/>
                <a:cs typeface="Calibri"/>
              </a:rPr>
              <a:t>(30%):</a:t>
            </a:r>
            <a:r>
              <a:rPr lang="zh-CN" altLang="en-US" dirty="0">
                <a:ea typeface="Calibri"/>
                <a:cs typeface="Calibri"/>
              </a:rPr>
              <a:t> </a:t>
            </a:r>
            <a:r>
              <a:rPr lang="en-US" altLang="zh-CN" dirty="0">
                <a:ea typeface="Calibri"/>
                <a:cs typeface="Calibri"/>
              </a:rPr>
              <a:t>includes</a:t>
            </a:r>
            <a:r>
              <a:rPr lang="zh-CN" altLang="en-US" dirty="0">
                <a:ea typeface="Calibri"/>
                <a:cs typeface="Calibri"/>
              </a:rPr>
              <a:t> </a:t>
            </a:r>
            <a:r>
              <a:rPr lang="en-US" altLang="zh-CN" dirty="0">
                <a:ea typeface="Calibri"/>
                <a:cs typeface="Calibri"/>
              </a:rPr>
              <a:t>records</a:t>
            </a:r>
            <a:r>
              <a:rPr lang="zh-CN" altLang="en-US" dirty="0">
                <a:ea typeface="Calibri"/>
                <a:cs typeface="Calibri"/>
              </a:rPr>
              <a:t> </a:t>
            </a:r>
            <a:r>
              <a:rPr lang="en-US" altLang="zh-CN" dirty="0">
                <a:ea typeface="Calibri"/>
                <a:cs typeface="Calibri"/>
              </a:rPr>
              <a:t>with</a:t>
            </a:r>
            <a:r>
              <a:rPr lang="zh-CN" altLang="en-US" dirty="0">
                <a:ea typeface="Calibri"/>
                <a:cs typeface="Calibri"/>
              </a:rPr>
              <a:t> </a:t>
            </a:r>
            <a:r>
              <a:rPr lang="en-US" altLang="zh-CN" dirty="0">
                <a:ea typeface="Calibri"/>
                <a:cs typeface="Calibri"/>
              </a:rPr>
              <a:t>later</a:t>
            </a:r>
            <a:r>
              <a:rPr lang="zh-CN" altLang="en-US" dirty="0">
                <a:ea typeface="Calibri"/>
                <a:cs typeface="Calibri"/>
              </a:rPr>
              <a:t> </a:t>
            </a:r>
            <a:r>
              <a:rPr lang="en-US" altLang="zh-CN" dirty="0">
                <a:ea typeface="Calibri"/>
                <a:cs typeface="Calibri"/>
              </a:rPr>
              <a:t>dates,</a:t>
            </a:r>
            <a:r>
              <a:rPr lang="zh-CN" altLang="en-US" dirty="0">
                <a:ea typeface="Calibri"/>
                <a:cs typeface="Calibri"/>
              </a:rPr>
              <a:t> </a:t>
            </a:r>
            <a:r>
              <a:rPr lang="en-US" altLang="zh-CN" dirty="0">
                <a:ea typeface="Calibri"/>
                <a:cs typeface="Calibri"/>
              </a:rPr>
              <a:t>used</a:t>
            </a:r>
            <a:r>
              <a:rPr lang="zh-CN" altLang="en-US" dirty="0">
                <a:ea typeface="Calibri"/>
                <a:cs typeface="Calibri"/>
              </a:rPr>
              <a:t> </a:t>
            </a:r>
            <a:r>
              <a:rPr lang="en-US" altLang="zh-CN" dirty="0">
                <a:ea typeface="Calibri"/>
                <a:cs typeface="Calibri"/>
              </a:rPr>
              <a:t>to</a:t>
            </a:r>
            <a:r>
              <a:rPr lang="zh-CN" altLang="en-US" dirty="0">
                <a:ea typeface="Calibri"/>
                <a:cs typeface="Calibri"/>
              </a:rPr>
              <a:t> </a:t>
            </a:r>
            <a:r>
              <a:rPr lang="en-US" altLang="zh-CN" dirty="0">
                <a:ea typeface="Calibri"/>
                <a:cs typeface="Calibri"/>
              </a:rPr>
              <a:t>verify</a:t>
            </a:r>
            <a:r>
              <a:rPr lang="zh-CN" altLang="en-US" dirty="0">
                <a:ea typeface="Calibri"/>
                <a:cs typeface="Calibri"/>
              </a:rPr>
              <a:t> </a:t>
            </a:r>
            <a:r>
              <a:rPr lang="en-US" altLang="zh-CN" dirty="0">
                <a:ea typeface="Calibri"/>
                <a:cs typeface="Calibri"/>
              </a:rPr>
              <a:t>the</a:t>
            </a:r>
            <a:r>
              <a:rPr lang="zh-CN" altLang="en-US" dirty="0">
                <a:ea typeface="Calibri"/>
                <a:cs typeface="Calibri"/>
              </a:rPr>
              <a:t> </a:t>
            </a:r>
            <a:r>
              <a:rPr lang="en-US" altLang="zh-CN" dirty="0">
                <a:ea typeface="Calibri"/>
                <a:cs typeface="Calibri"/>
              </a:rPr>
              <a:t>model</a:t>
            </a:r>
            <a:r>
              <a:rPr lang="zh-CN" altLang="en-US" dirty="0">
                <a:ea typeface="Calibri"/>
                <a:cs typeface="Calibri"/>
              </a:rPr>
              <a:t> </a:t>
            </a:r>
            <a:r>
              <a:rPr lang="en-US" altLang="zh-CN" dirty="0">
                <a:ea typeface="Calibri"/>
                <a:cs typeface="Calibri"/>
              </a:rPr>
              <a:t>effect.</a:t>
            </a:r>
            <a:endParaRPr lang="en-US" dirty="0"/>
          </a:p>
          <a:p>
            <a:endParaRPr lang="zh-CN" altLang="en-US" dirty="0">
              <a:cs typeface="Calibri"/>
            </a:endParaRPr>
          </a:p>
        </p:txBody>
      </p:sp>
    </p:spTree>
    <p:extLst>
      <p:ext uri="{BB962C8B-B14F-4D97-AF65-F5344CB8AC3E}">
        <p14:creationId xmlns:p14="http://schemas.microsoft.com/office/powerpoint/2010/main" val="976987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06FA55-0B78-4DDF-395D-5293F51B6037}"/>
              </a:ext>
            </a:extLst>
          </p:cNvPr>
          <p:cNvSpPr/>
          <p:nvPr/>
        </p:nvSpPr>
        <p:spPr>
          <a:xfrm>
            <a:off x="10401301" y="-31750"/>
            <a:ext cx="1789757" cy="6886575"/>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39123607-DD38-B547-3C74-CB18A5B8879A}"/>
              </a:ext>
            </a:extLst>
          </p:cNvPr>
          <p:cNvSpPr txBox="1"/>
          <p:nvPr/>
        </p:nvSpPr>
        <p:spPr>
          <a:xfrm>
            <a:off x="551309" y="406838"/>
            <a:ext cx="4783987" cy="584775"/>
          </a:xfrm>
          <a:prstGeom prst="rect">
            <a:avLst/>
          </a:prstGeom>
          <a:noFill/>
        </p:spPr>
        <p:txBody>
          <a:bodyPr wrap="square" lIns="91440" tIns="45720" rIns="91440" bIns="45720" rtlCol="0" anchor="t">
            <a:spAutoFit/>
          </a:bodyPr>
          <a:lstStyle/>
          <a:p>
            <a:r>
              <a:rPr lang="en-US" sz="3200" b="1" i="1">
                <a:solidFill>
                  <a:srgbClr val="FFBB29"/>
                </a:solidFill>
                <a:ea typeface="+mn-lt"/>
                <a:cs typeface="+mn-lt"/>
              </a:rPr>
              <a:t>Model selection &amp; Results</a:t>
            </a:r>
            <a:endParaRPr lang="zh-CN" altLang="en-US" b="1" i="1">
              <a:solidFill>
                <a:srgbClr val="FFBB29"/>
              </a:solidFill>
              <a:ea typeface="等线"/>
              <a:cs typeface="Calibri"/>
            </a:endParaRPr>
          </a:p>
        </p:txBody>
      </p:sp>
      <p:grpSp>
        <p:nvGrpSpPr>
          <p:cNvPr id="5" name="Group 4">
            <a:extLst>
              <a:ext uri="{FF2B5EF4-FFF2-40B4-BE49-F238E27FC236}">
                <a16:creationId xmlns:a16="http://schemas.microsoft.com/office/drawing/2014/main" id="{051037DC-71BB-AEE9-DE64-FF07C65AC6B5}"/>
              </a:ext>
            </a:extLst>
          </p:cNvPr>
          <p:cNvGrpSpPr/>
          <p:nvPr/>
        </p:nvGrpSpPr>
        <p:grpSpPr>
          <a:xfrm>
            <a:off x="9124947" y="4401571"/>
            <a:ext cx="3168650" cy="3543541"/>
            <a:chOff x="926333" y="909663"/>
            <a:chExt cx="4509235" cy="5042732"/>
          </a:xfrm>
          <a:noFill/>
        </p:grpSpPr>
        <p:sp>
          <p:nvSpPr>
            <p:cNvPr id="6" name="Freeform: Shape 5">
              <a:extLst>
                <a:ext uri="{FF2B5EF4-FFF2-40B4-BE49-F238E27FC236}">
                  <a16:creationId xmlns:a16="http://schemas.microsoft.com/office/drawing/2014/main" id="{D86F565C-FE78-FADD-7AA3-E0EA60B08828}"/>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1"/>
              </a:solid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B6ECA9BB-1A57-F365-8A2A-6464FE9EAA87}"/>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1"/>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ECB2A714-5BC5-499F-97F8-1CDD67108F50}"/>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1"/>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E81D759-770B-7BDC-A377-2C251A79E8D6}"/>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1"/>
              </a:solid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28EB63C0-8AB4-BDEC-90EF-51C0EDB982AC}"/>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1"/>
              </a:solid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4402D744-09A0-C01F-E541-E334439CA6D7}"/>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1"/>
              </a:solidFill>
              <a:prstDash val="solid"/>
              <a:miter/>
            </a:ln>
          </p:spPr>
          <p:txBody>
            <a:bodyPr rtlCol="0" anchor="ctr"/>
            <a:lstStyle/>
            <a:p>
              <a:endParaRPr lang="en-IN"/>
            </a:p>
          </p:txBody>
        </p:sp>
      </p:grpSp>
      <p:sp>
        <p:nvSpPr>
          <p:cNvPr id="3" name="文本框 2">
            <a:extLst>
              <a:ext uri="{FF2B5EF4-FFF2-40B4-BE49-F238E27FC236}">
                <a16:creationId xmlns:a16="http://schemas.microsoft.com/office/drawing/2014/main" id="{E7172046-CB6E-E897-42BA-09B4865A0031}"/>
              </a:ext>
            </a:extLst>
          </p:cNvPr>
          <p:cNvSpPr txBox="1"/>
          <p:nvPr/>
        </p:nvSpPr>
        <p:spPr>
          <a:xfrm>
            <a:off x="552451" y="1153485"/>
            <a:ext cx="2671601"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dirty="0">
                <a:ea typeface="+mn-lt"/>
                <a:cs typeface="+mn-lt"/>
              </a:rPr>
              <a:t>Our final choice is XGboost. The following indicators are used to evaluate the model performance:</a:t>
            </a:r>
            <a:endParaRPr lang="zh-CN" dirty="0">
              <a:ea typeface="等线"/>
              <a:cs typeface="Calibri"/>
            </a:endParaRPr>
          </a:p>
          <a:p>
            <a:pPr marL="285750" indent="-285750">
              <a:buFont typeface="Wingdings"/>
              <a:buChar char="ü"/>
            </a:pPr>
            <a:r>
              <a:rPr lang="zh-CN" dirty="0">
                <a:ea typeface="+mn-lt"/>
                <a:cs typeface="+mn-lt"/>
              </a:rPr>
              <a:t>MSE : 492.42</a:t>
            </a:r>
            <a:endParaRPr lang="zh-CN" altLang="en-US" dirty="0">
              <a:ea typeface="等线"/>
              <a:cs typeface="+mn-lt"/>
            </a:endParaRPr>
          </a:p>
          <a:p>
            <a:pPr marL="285750" indent="-285750">
              <a:buFont typeface="Wingdings"/>
              <a:buChar char="ü"/>
            </a:pPr>
            <a:r>
              <a:rPr lang="zh-CN" dirty="0">
                <a:ea typeface="+mn-lt"/>
                <a:cs typeface="+mn-lt"/>
              </a:rPr>
              <a:t>RMSE : 22.19</a:t>
            </a:r>
            <a:endParaRPr lang="zh-CN" altLang="en-US" dirty="0">
              <a:ea typeface="等线"/>
              <a:cs typeface="+mn-lt"/>
            </a:endParaRPr>
          </a:p>
          <a:p>
            <a:pPr marL="285750" indent="-285750">
              <a:buFont typeface="Wingdings"/>
              <a:buChar char="ü"/>
            </a:pPr>
            <a:r>
              <a:rPr lang="zh-CN" dirty="0">
                <a:ea typeface="+mn-lt"/>
                <a:cs typeface="+mn-lt"/>
              </a:rPr>
              <a:t>MAE</a:t>
            </a:r>
            <a:r>
              <a:rPr lang="zh-CN" altLang="en-US" dirty="0">
                <a:ea typeface="+mn-lt"/>
                <a:cs typeface="+mn-lt"/>
              </a:rPr>
              <a:t> </a:t>
            </a:r>
            <a:r>
              <a:rPr lang="en-US" altLang="en-US" dirty="0">
                <a:ea typeface="+mn-lt"/>
                <a:cs typeface="+mn-lt"/>
              </a:rPr>
              <a:t>:</a:t>
            </a:r>
            <a:r>
              <a:rPr lang="zh-CN" dirty="0">
                <a:ea typeface="+mn-lt"/>
                <a:cs typeface="+mn-lt"/>
              </a:rPr>
              <a:t> 14.15</a:t>
            </a:r>
            <a:endParaRPr lang="zh-CN" altLang="en-US" dirty="0">
              <a:ea typeface="等线"/>
              <a:cs typeface="+mn-lt"/>
            </a:endParaRPr>
          </a:p>
          <a:p>
            <a:pPr marL="285750" indent="-285750">
              <a:buFont typeface="Wingdings"/>
              <a:buChar char="ü"/>
            </a:pPr>
            <a:r>
              <a:rPr lang="zh-CN" dirty="0">
                <a:ea typeface="+mn-lt"/>
                <a:cs typeface="+mn-lt"/>
              </a:rPr>
              <a:t>R² score: 0.94 (close to 1), indicating that the model can explain most of the consumption patterns.</a:t>
            </a:r>
          </a:p>
          <a:p>
            <a:pPr marL="285750" indent="-285750">
              <a:buFont typeface="Wingdings"/>
              <a:buChar char="ü"/>
            </a:pPr>
            <a:endParaRPr lang="zh-CN" altLang="en-US" dirty="0">
              <a:ea typeface="等线"/>
              <a:cs typeface="Calibri"/>
            </a:endParaRPr>
          </a:p>
          <a:p>
            <a:endParaRPr lang="zh-CN" altLang="en-US" dirty="0">
              <a:cs typeface="Calibri"/>
            </a:endParaRPr>
          </a:p>
        </p:txBody>
      </p:sp>
      <p:pic>
        <p:nvPicPr>
          <p:cNvPr id="13" name="图片 12" descr="图表, 散点图&#10;&#10;已自动生成说明">
            <a:extLst>
              <a:ext uri="{FF2B5EF4-FFF2-40B4-BE49-F238E27FC236}">
                <a16:creationId xmlns:a16="http://schemas.microsoft.com/office/drawing/2014/main" id="{D9A05159-B2EB-DF0A-8728-49886F3A6103}"/>
              </a:ext>
            </a:extLst>
          </p:cNvPr>
          <p:cNvPicPr>
            <a:picLocks noChangeAspect="1"/>
          </p:cNvPicPr>
          <p:nvPr/>
        </p:nvPicPr>
        <p:blipFill>
          <a:blip r:embed="rId4"/>
          <a:stretch>
            <a:fillRect/>
          </a:stretch>
        </p:blipFill>
        <p:spPr>
          <a:xfrm>
            <a:off x="3431430" y="1150483"/>
            <a:ext cx="6619875" cy="5210175"/>
          </a:xfrm>
          <a:prstGeom prst="rect">
            <a:avLst/>
          </a:prstGeom>
        </p:spPr>
      </p:pic>
    </p:spTree>
    <p:extLst>
      <p:ext uri="{BB962C8B-B14F-4D97-AF65-F5344CB8AC3E}">
        <p14:creationId xmlns:p14="http://schemas.microsoft.com/office/powerpoint/2010/main" val="1150503163"/>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93F505-8C51-9058-C7FA-52CA7C681E8A}"/>
              </a:ext>
            </a:extLst>
          </p:cNvPr>
          <p:cNvSpPr/>
          <p:nvPr/>
        </p:nvSpPr>
        <p:spPr>
          <a:xfrm>
            <a:off x="4945534" y="0"/>
            <a:ext cx="7400925" cy="6862892"/>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85628C6E-719F-4A30-8CDE-CE273F07037C}"/>
              </a:ext>
            </a:extLst>
          </p:cNvPr>
          <p:cNvGrpSpPr/>
          <p:nvPr/>
        </p:nvGrpSpPr>
        <p:grpSpPr>
          <a:xfrm>
            <a:off x="10364243" y="4439250"/>
            <a:ext cx="2386054" cy="2647679"/>
            <a:chOff x="926333" y="909663"/>
            <a:chExt cx="4509235" cy="5042732"/>
          </a:xfrm>
          <a:noFill/>
        </p:grpSpPr>
        <p:sp>
          <p:nvSpPr>
            <p:cNvPr id="11" name="Freeform: Shape 10">
              <a:extLst>
                <a:ext uri="{FF2B5EF4-FFF2-40B4-BE49-F238E27FC236}">
                  <a16:creationId xmlns:a16="http://schemas.microsoft.com/office/drawing/2014/main" id="{41E2C45F-C4A8-150E-718B-309B8482E397}"/>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0A3717AF-E311-9983-B996-2DD04522D962}"/>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5977909F-7240-2D73-AC9B-C2082ADD8A44}"/>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C09D2996-843A-B87E-8303-6AE7BEED06DD}"/>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794C299-8827-164F-5FCB-68DC4A6DC3B6}"/>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2">
                  <a:lumMod val="10000"/>
                </a:schemeClr>
              </a:solid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0CBF2216-D4E5-AB65-AE11-799D299FEC3F}"/>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2">
                  <a:lumMod val="10000"/>
                </a:schemeClr>
              </a:solidFill>
              <a:prstDash val="solid"/>
              <a:miter/>
            </a:ln>
          </p:spPr>
          <p:txBody>
            <a:bodyPr rtlCol="0" anchor="ctr"/>
            <a:lstStyle/>
            <a:p>
              <a:endParaRPr lang="en-IN"/>
            </a:p>
          </p:txBody>
        </p:sp>
      </p:grpSp>
      <p:sp>
        <p:nvSpPr>
          <p:cNvPr id="8" name="TextBox 7">
            <a:extLst>
              <a:ext uri="{FF2B5EF4-FFF2-40B4-BE49-F238E27FC236}">
                <a16:creationId xmlns:a16="http://schemas.microsoft.com/office/drawing/2014/main" id="{D6E59520-7467-A5FA-0F0B-F9731CF01972}"/>
              </a:ext>
            </a:extLst>
          </p:cNvPr>
          <p:cNvSpPr txBox="1"/>
          <p:nvPr/>
        </p:nvSpPr>
        <p:spPr>
          <a:xfrm>
            <a:off x="5133822" y="376442"/>
            <a:ext cx="5848064" cy="584775"/>
          </a:xfrm>
          <a:prstGeom prst="rect">
            <a:avLst/>
          </a:prstGeom>
          <a:noFill/>
        </p:spPr>
        <p:txBody>
          <a:bodyPr wrap="square" lIns="91440" tIns="45720" rIns="91440" bIns="45720" rtlCol="0" anchor="t">
            <a:spAutoFit/>
          </a:bodyPr>
          <a:lstStyle/>
          <a:p>
            <a:r>
              <a:rPr lang="en-US" sz="3200" b="1" i="1">
                <a:latin typeface="Calibri"/>
                <a:ea typeface="Calibri"/>
                <a:cs typeface="Calibri"/>
              </a:rPr>
              <a:t>App Overview</a:t>
            </a:r>
            <a:endParaRPr lang="en-US">
              <a:ea typeface="Calibri" panose="020F0502020204030204"/>
              <a:cs typeface="Calibri" panose="020F0502020204030204"/>
            </a:endParaRPr>
          </a:p>
        </p:txBody>
      </p:sp>
      <p:sp>
        <p:nvSpPr>
          <p:cNvPr id="7" name="Rectangle 1">
            <a:extLst>
              <a:ext uri="{FF2B5EF4-FFF2-40B4-BE49-F238E27FC236}">
                <a16:creationId xmlns:a16="http://schemas.microsoft.com/office/drawing/2014/main" id="{8C568548-EA5C-A275-3B5E-1A3EFBD841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7" name="Rectangle 2">
            <a:extLst>
              <a:ext uri="{FF2B5EF4-FFF2-40B4-BE49-F238E27FC236}">
                <a16:creationId xmlns:a16="http://schemas.microsoft.com/office/drawing/2014/main" id="{5DC885E5-5BCD-C39C-BE6E-69BD3FFF0179}"/>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TextBox 1">
            <a:extLst>
              <a:ext uri="{FF2B5EF4-FFF2-40B4-BE49-F238E27FC236}">
                <a16:creationId xmlns:a16="http://schemas.microsoft.com/office/drawing/2014/main" id="{56B323CE-62C0-A00B-529F-747464450DBB}"/>
              </a:ext>
            </a:extLst>
          </p:cNvPr>
          <p:cNvSpPr txBox="1"/>
          <p:nvPr/>
        </p:nvSpPr>
        <p:spPr>
          <a:xfrm>
            <a:off x="5350923" y="1179470"/>
            <a:ext cx="5141630"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u="sng" dirty="0">
                <a:ea typeface="+mn-lt"/>
                <a:cs typeface="+mn-lt"/>
              </a:rPr>
              <a:t>Problem Overview</a:t>
            </a:r>
            <a:r>
              <a:rPr lang="en-US" sz="2000" b="1" dirty="0">
                <a:ea typeface="+mn-lt"/>
                <a:cs typeface="+mn-lt"/>
              </a:rPr>
              <a:t>:</a:t>
            </a:r>
            <a:endParaRPr lang="en-US" sz="2000" dirty="0"/>
          </a:p>
          <a:p>
            <a:r>
              <a:rPr lang="en-US" dirty="0">
                <a:ea typeface="+mn-lt"/>
                <a:cs typeface="+mn-lt"/>
              </a:rPr>
              <a:t>John visits a grocery store for a quick shopping spree but skips calculating his total as he adds items to his cart. By the time he reaches the checkout, he is unsure of the overall bill and starts feeling anxious about exceeding his budget.</a:t>
            </a:r>
            <a:endParaRPr lang="en-US" dirty="0">
              <a:ea typeface="Calibri"/>
              <a:cs typeface="Calibri"/>
            </a:endParaRPr>
          </a:p>
          <a:p>
            <a:pPr marL="285750" indent="-285750">
              <a:buFont typeface="Arial"/>
              <a:buChar char="•"/>
            </a:pPr>
            <a:endParaRPr lang="en-US" b="1" dirty="0">
              <a:ea typeface="+mn-lt"/>
              <a:cs typeface="+mn-lt"/>
            </a:endParaRPr>
          </a:p>
          <a:p>
            <a:pPr marL="285750" indent="-285750">
              <a:buFont typeface="Arial"/>
              <a:buChar char="•"/>
            </a:pPr>
            <a:r>
              <a:rPr lang="en-US" sz="2000" b="1" u="sng" dirty="0">
                <a:ea typeface="+mn-lt"/>
                <a:cs typeface="+mn-lt"/>
              </a:rPr>
              <a:t>Solution Using the App:</a:t>
            </a:r>
            <a:endParaRPr lang="en-US" sz="2000" u="sng" dirty="0">
              <a:ea typeface="Calibri"/>
              <a:cs typeface="Calibri"/>
            </a:endParaRPr>
          </a:p>
          <a:p>
            <a:r>
              <a:rPr lang="en-US" dirty="0">
                <a:ea typeface="+mn-lt"/>
                <a:cs typeface="+mn-lt"/>
              </a:rPr>
              <a:t>With the barcode scanner app, John can scan each item as he picks it, and the app dynamically calculates his subtotal, tax, and total amount in real-time. It also allows him to adjust quantities or remove items instantly. By the time he reaches the checkout, John already knows his exact total, including taxes, ensuring he stays within budget and avoids surprises.</a:t>
            </a:r>
            <a:endParaRPr lang="en-US" dirty="0"/>
          </a:p>
          <a:p>
            <a:endParaRPr lang="en-US" dirty="0">
              <a:ea typeface="Calibri"/>
              <a:cs typeface="Calibri"/>
            </a:endParaRPr>
          </a:p>
        </p:txBody>
      </p:sp>
      <p:pic>
        <p:nvPicPr>
          <p:cNvPr id="3" name="Picture 2" descr="A person in a grocery store&#10;&#10;Description automatically generated">
            <a:extLst>
              <a:ext uri="{FF2B5EF4-FFF2-40B4-BE49-F238E27FC236}">
                <a16:creationId xmlns:a16="http://schemas.microsoft.com/office/drawing/2014/main" id="{CBAC8A23-BD27-7197-A322-104957DB1388}"/>
              </a:ext>
            </a:extLst>
          </p:cNvPr>
          <p:cNvPicPr>
            <a:picLocks noChangeAspect="1"/>
          </p:cNvPicPr>
          <p:nvPr/>
        </p:nvPicPr>
        <p:blipFill>
          <a:blip r:embed="rId2"/>
          <a:stretch>
            <a:fillRect/>
          </a:stretch>
        </p:blipFill>
        <p:spPr>
          <a:xfrm>
            <a:off x="148022" y="217753"/>
            <a:ext cx="4640018" cy="3012782"/>
          </a:xfrm>
          <a:prstGeom prst="rect">
            <a:avLst/>
          </a:prstGeom>
        </p:spPr>
      </p:pic>
      <p:pic>
        <p:nvPicPr>
          <p:cNvPr id="9" name="Picture 8" descr="A hand holding a phone with a qr code on it&#10;&#10;Description automatically generated">
            <a:extLst>
              <a:ext uri="{FF2B5EF4-FFF2-40B4-BE49-F238E27FC236}">
                <a16:creationId xmlns:a16="http://schemas.microsoft.com/office/drawing/2014/main" id="{B275E535-8DD9-E948-2731-BAC219CE18BC}"/>
              </a:ext>
            </a:extLst>
          </p:cNvPr>
          <p:cNvPicPr>
            <a:picLocks noChangeAspect="1"/>
          </p:cNvPicPr>
          <p:nvPr/>
        </p:nvPicPr>
        <p:blipFill>
          <a:blip r:embed="rId3"/>
          <a:srcRect l="1728" t="3147" r="4444" b="3497"/>
          <a:stretch/>
        </p:blipFill>
        <p:spPr>
          <a:xfrm>
            <a:off x="153678" y="3576994"/>
            <a:ext cx="4626779" cy="3045848"/>
          </a:xfrm>
          <a:prstGeom prst="rect">
            <a:avLst/>
          </a:prstGeom>
        </p:spPr>
      </p:pic>
    </p:spTree>
    <p:extLst>
      <p:ext uri="{BB962C8B-B14F-4D97-AF65-F5344CB8AC3E}">
        <p14:creationId xmlns:p14="http://schemas.microsoft.com/office/powerpoint/2010/main" val="736290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34B3D1-4485-5CBC-E66A-E9EF61914FF4}"/>
              </a:ext>
            </a:extLst>
          </p:cNvPr>
          <p:cNvSpPr/>
          <p:nvPr/>
        </p:nvSpPr>
        <p:spPr>
          <a:xfrm>
            <a:off x="-1309" y="3748610"/>
            <a:ext cx="12184027" cy="3154326"/>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b="1">
              <a:ea typeface="Calibri" panose="020F0502020204030204"/>
              <a:cs typeface="Calibri" panose="020F0502020204030204"/>
            </a:endParaRPr>
          </a:p>
        </p:txBody>
      </p:sp>
      <p:sp>
        <p:nvSpPr>
          <p:cNvPr id="8" name="Rectangle 7">
            <a:extLst>
              <a:ext uri="{FF2B5EF4-FFF2-40B4-BE49-F238E27FC236}">
                <a16:creationId xmlns:a16="http://schemas.microsoft.com/office/drawing/2014/main" id="{3C701D60-0C16-F865-8C6D-4520C613A935}"/>
              </a:ext>
            </a:extLst>
          </p:cNvPr>
          <p:cNvSpPr/>
          <p:nvPr/>
        </p:nvSpPr>
        <p:spPr>
          <a:xfrm>
            <a:off x="-1437" y="1436"/>
            <a:ext cx="12201748" cy="4058092"/>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a:ea typeface="Calibri" panose="020F0502020204030204"/>
              <a:cs typeface="Calibri" panose="020F0502020204030204"/>
            </a:endParaRPr>
          </a:p>
          <a:p>
            <a:pPr marL="285750" indent="-285750">
              <a:buFont typeface="Arial"/>
              <a:buChar char="•"/>
            </a:pPr>
            <a:endParaRPr lang="en-IN">
              <a:ea typeface="Calibri" panose="020F0502020204030204"/>
              <a:cs typeface="Calibri" panose="020F0502020204030204"/>
            </a:endParaRPr>
          </a:p>
        </p:txBody>
      </p:sp>
      <p:sp>
        <p:nvSpPr>
          <p:cNvPr id="19" name="TextBox 18">
            <a:extLst>
              <a:ext uri="{FF2B5EF4-FFF2-40B4-BE49-F238E27FC236}">
                <a16:creationId xmlns:a16="http://schemas.microsoft.com/office/drawing/2014/main" id="{DEFC1B36-3929-3E04-BC8D-DF9EDD13151D}"/>
              </a:ext>
            </a:extLst>
          </p:cNvPr>
          <p:cNvSpPr txBox="1"/>
          <p:nvPr/>
        </p:nvSpPr>
        <p:spPr>
          <a:xfrm>
            <a:off x="198069" y="136503"/>
            <a:ext cx="11528905" cy="646331"/>
          </a:xfrm>
          <a:prstGeom prst="rect">
            <a:avLst/>
          </a:prstGeom>
          <a:noFill/>
        </p:spPr>
        <p:txBody>
          <a:bodyPr wrap="square" lIns="91440" tIns="45720" rIns="91440" bIns="45720" rtlCol="0" anchor="t">
            <a:spAutoFit/>
          </a:bodyPr>
          <a:lstStyle/>
          <a:p>
            <a:r>
              <a:rPr lang="en-US" sz="3600" i="1" dirty="0">
                <a:solidFill>
                  <a:srgbClr val="FFBB29"/>
                </a:solidFill>
                <a:ea typeface="Calibri"/>
                <a:cs typeface="Calibri"/>
              </a:rPr>
              <a:t>App Demonstration</a:t>
            </a:r>
            <a:endParaRPr lang="en-US" dirty="0">
              <a:solidFill>
                <a:srgbClr val="FFBB29"/>
              </a:solidFill>
              <a:ea typeface="Calibri" panose="020F0502020204030204"/>
              <a:cs typeface="Calibri" panose="020F0502020204030204"/>
            </a:endParaRPr>
          </a:p>
        </p:txBody>
      </p:sp>
      <p:sp>
        <p:nvSpPr>
          <p:cNvPr id="23" name="TextBox 22">
            <a:extLst>
              <a:ext uri="{FF2B5EF4-FFF2-40B4-BE49-F238E27FC236}">
                <a16:creationId xmlns:a16="http://schemas.microsoft.com/office/drawing/2014/main" id="{6F5A651E-DF79-FA1F-53D7-B227980A07F2}"/>
              </a:ext>
            </a:extLst>
          </p:cNvPr>
          <p:cNvSpPr txBox="1"/>
          <p:nvPr/>
        </p:nvSpPr>
        <p:spPr>
          <a:xfrm>
            <a:off x="195325" y="4414607"/>
            <a:ext cx="483426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ea typeface="+mn-lt"/>
                <a:cs typeface="+mn-lt"/>
              </a:rPr>
              <a:t>3. Interactive Food Cart</a:t>
            </a:r>
            <a:endParaRPr lang="en-US" sz="1400" dirty="0">
              <a:ea typeface="Calibri"/>
              <a:cs typeface="Calibri"/>
            </a:endParaRPr>
          </a:p>
          <a:p>
            <a:pPr marL="742950" lvl="1" indent="-285750">
              <a:buFont typeface="Arial"/>
              <a:buChar char="•"/>
            </a:pPr>
            <a:r>
              <a:rPr lang="en-US" sz="1200" dirty="0">
                <a:ea typeface="+mn-lt"/>
                <a:cs typeface="+mn-lt"/>
              </a:rPr>
              <a:t>The </a:t>
            </a:r>
            <a:r>
              <a:rPr lang="en-US" sz="1200" b="1" dirty="0">
                <a:ea typeface="+mn-lt"/>
                <a:cs typeface="+mn-lt"/>
              </a:rPr>
              <a:t>Food Cart</a:t>
            </a:r>
            <a:r>
              <a:rPr lang="en-US" sz="1200" dirty="0">
                <a:ea typeface="+mn-lt"/>
                <a:cs typeface="+mn-lt"/>
              </a:rPr>
              <a:t> displays scanned products along with details like name, price, quantity, and total price.</a:t>
            </a:r>
            <a:endParaRPr lang="en-US" sz="1200" dirty="0">
              <a:ea typeface="Calibri"/>
              <a:cs typeface="Calibri"/>
            </a:endParaRPr>
          </a:p>
          <a:p>
            <a:pPr marL="742950" lvl="1" indent="-285750">
              <a:buFont typeface="Arial"/>
              <a:buChar char="•"/>
            </a:pPr>
            <a:r>
              <a:rPr lang="en-US" sz="1200" dirty="0">
                <a:ea typeface="+mn-lt"/>
                <a:cs typeface="+mn-lt"/>
              </a:rPr>
              <a:t>Users can adjust product quantities using </a:t>
            </a:r>
            <a:r>
              <a:rPr lang="en-US" sz="1200" b="1" dirty="0">
                <a:ea typeface="+mn-lt"/>
                <a:cs typeface="+mn-lt"/>
              </a:rPr>
              <a:t>Add (+)</a:t>
            </a:r>
            <a:r>
              <a:rPr lang="en-US" sz="1200" dirty="0">
                <a:ea typeface="+mn-lt"/>
                <a:cs typeface="+mn-lt"/>
              </a:rPr>
              <a:t> and </a:t>
            </a:r>
            <a:r>
              <a:rPr lang="en-US" sz="1200" b="1" dirty="0">
                <a:ea typeface="+mn-lt"/>
                <a:cs typeface="+mn-lt"/>
              </a:rPr>
              <a:t>Remove (-)</a:t>
            </a:r>
            <a:r>
              <a:rPr lang="en-US" sz="1200" dirty="0">
                <a:ea typeface="+mn-lt"/>
                <a:cs typeface="+mn-lt"/>
              </a:rPr>
              <a:t> buttons.</a:t>
            </a:r>
            <a:endParaRPr lang="en-US" sz="1200" dirty="0">
              <a:ea typeface="Calibri"/>
              <a:cs typeface="Calibri"/>
            </a:endParaRPr>
          </a:p>
          <a:p>
            <a:pPr marL="742950" lvl="1" indent="-285750">
              <a:buFont typeface="Arial"/>
              <a:buChar char="•"/>
            </a:pPr>
            <a:r>
              <a:rPr lang="en-US" sz="1200" dirty="0">
                <a:ea typeface="+mn-lt"/>
                <a:cs typeface="+mn-lt"/>
              </a:rPr>
              <a:t>The app dynamically updates the cart and recalculates the subtotal, tax (13%), and total amount in real-time.</a:t>
            </a:r>
            <a:endParaRPr lang="en-US" sz="1200" dirty="0">
              <a:ea typeface="Calibri"/>
              <a:cs typeface="Calibri"/>
            </a:endParaRPr>
          </a:p>
          <a:p>
            <a:endParaRPr lang="en-US" sz="1200" dirty="0">
              <a:solidFill>
                <a:schemeClr val="bg1"/>
              </a:solidFill>
              <a:ea typeface="+mn-lt"/>
              <a:cs typeface="+mn-lt"/>
            </a:endParaRPr>
          </a:p>
          <a:p>
            <a:endParaRPr lang="en-US" sz="1400" b="1" dirty="0">
              <a:solidFill>
                <a:schemeClr val="bg1"/>
              </a:solidFill>
              <a:ea typeface="Calibri" panose="020F0502020204030204"/>
              <a:cs typeface="Calibri" panose="020F0502020204030204"/>
            </a:endParaRPr>
          </a:p>
          <a:p>
            <a:endParaRPr lang="en-US" u="sng" dirty="0">
              <a:solidFill>
                <a:schemeClr val="bg1"/>
              </a:solidFill>
              <a:ea typeface="Calibri"/>
              <a:cs typeface="Calibri"/>
            </a:endParaRPr>
          </a:p>
          <a:p>
            <a:pPr algn="l"/>
            <a:endParaRPr lang="en-US" sz="1400" dirty="0">
              <a:ea typeface="Calibri"/>
              <a:cs typeface="Calibri"/>
            </a:endParaRPr>
          </a:p>
        </p:txBody>
      </p:sp>
      <p:sp>
        <p:nvSpPr>
          <p:cNvPr id="27" name="TextBox 26">
            <a:extLst>
              <a:ext uri="{FF2B5EF4-FFF2-40B4-BE49-F238E27FC236}">
                <a16:creationId xmlns:a16="http://schemas.microsoft.com/office/drawing/2014/main" id="{9D531EBD-E477-104B-ECC3-9F4425D20EE2}"/>
              </a:ext>
            </a:extLst>
          </p:cNvPr>
          <p:cNvSpPr txBox="1"/>
          <p:nvPr/>
        </p:nvSpPr>
        <p:spPr>
          <a:xfrm>
            <a:off x="196730" y="895942"/>
            <a:ext cx="4302227"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1400" b="1" dirty="0">
                <a:solidFill>
                  <a:schemeClr val="bg1"/>
                </a:solidFill>
                <a:ea typeface="+mn-lt"/>
                <a:cs typeface="+mn-lt"/>
              </a:rPr>
              <a:t>Initialization and Setup</a:t>
            </a:r>
            <a:endParaRPr lang="en-US" sz="1400" dirty="0">
              <a:solidFill>
                <a:schemeClr val="bg1"/>
              </a:solidFill>
              <a:ea typeface="Calibri"/>
              <a:cs typeface="Calibri"/>
            </a:endParaRPr>
          </a:p>
          <a:p>
            <a:pPr marL="742950" lvl="1" indent="-285750">
              <a:buFont typeface="Arial"/>
              <a:buChar char="•"/>
            </a:pPr>
            <a:r>
              <a:rPr lang="en-US" sz="1200" dirty="0">
                <a:solidFill>
                  <a:schemeClr val="bg1"/>
                </a:solidFill>
                <a:ea typeface="+mn-lt"/>
                <a:cs typeface="+mn-lt"/>
              </a:rPr>
              <a:t>The app initializes a grocery data frame from a CSV file</a:t>
            </a:r>
            <a:endParaRPr lang="en-US" sz="1200" dirty="0">
              <a:solidFill>
                <a:schemeClr val="bg1"/>
              </a:solidFill>
              <a:ea typeface="Calibri"/>
              <a:cs typeface="Calibri"/>
            </a:endParaRPr>
          </a:p>
          <a:p>
            <a:pPr marL="742950" lvl="1" indent="-285750">
              <a:buFont typeface="Arial"/>
              <a:buChar char="•"/>
            </a:pPr>
            <a:r>
              <a:rPr lang="en-US" sz="1200" dirty="0">
                <a:solidFill>
                  <a:schemeClr val="bg1"/>
                </a:solidFill>
                <a:ea typeface="+mn-lt"/>
                <a:cs typeface="+mn-lt"/>
              </a:rPr>
              <a:t>It uses session state to maintain the app's state (cart contents, product ID, navigation between screens).</a:t>
            </a:r>
            <a:endParaRPr lang="en-US" sz="1200" dirty="0">
              <a:solidFill>
                <a:schemeClr val="bg1"/>
              </a:solidFill>
              <a:ea typeface="Calibri"/>
              <a:cs typeface="Calibri"/>
            </a:endParaRPr>
          </a:p>
          <a:p>
            <a:pPr marL="742950" lvl="1" indent="-285750">
              <a:buFont typeface="Arial"/>
              <a:buChar char="•"/>
            </a:pPr>
            <a:r>
              <a:rPr lang="en-US" sz="1200" dirty="0">
                <a:solidFill>
                  <a:schemeClr val="bg1"/>
                </a:solidFill>
                <a:ea typeface="+mn-lt"/>
                <a:cs typeface="+mn-lt"/>
              </a:rPr>
              <a:t>The main screen toggles between </a:t>
            </a:r>
            <a:r>
              <a:rPr lang="en-US" sz="1200" b="1" dirty="0">
                <a:solidFill>
                  <a:schemeClr val="bg1"/>
                </a:solidFill>
                <a:ea typeface="+mn-lt"/>
                <a:cs typeface="+mn-lt"/>
              </a:rPr>
              <a:t>Scan Page</a:t>
            </a:r>
            <a:r>
              <a:rPr lang="en-US" sz="1200" dirty="0">
                <a:solidFill>
                  <a:schemeClr val="bg1"/>
                </a:solidFill>
                <a:ea typeface="+mn-lt"/>
                <a:cs typeface="+mn-lt"/>
              </a:rPr>
              <a:t>, </a:t>
            </a:r>
            <a:r>
              <a:rPr lang="en-US" sz="1200" b="1" dirty="0">
                <a:solidFill>
                  <a:schemeClr val="bg1"/>
                </a:solidFill>
                <a:ea typeface="+mn-lt"/>
                <a:cs typeface="+mn-lt"/>
              </a:rPr>
              <a:t>Food Cart</a:t>
            </a:r>
            <a:r>
              <a:rPr lang="en-US" sz="1200" dirty="0">
                <a:solidFill>
                  <a:schemeClr val="bg1"/>
                </a:solidFill>
                <a:ea typeface="+mn-lt"/>
                <a:cs typeface="+mn-lt"/>
              </a:rPr>
              <a:t>, and </a:t>
            </a:r>
            <a:r>
              <a:rPr lang="en-US" sz="1200" b="1" dirty="0">
                <a:solidFill>
                  <a:schemeClr val="bg1"/>
                </a:solidFill>
                <a:ea typeface="+mn-lt"/>
                <a:cs typeface="+mn-lt"/>
              </a:rPr>
              <a:t>Payment Page</a:t>
            </a:r>
            <a:r>
              <a:rPr lang="en-US" sz="1200" dirty="0">
                <a:solidFill>
                  <a:schemeClr val="bg1"/>
                </a:solidFill>
                <a:ea typeface="+mn-lt"/>
                <a:cs typeface="+mn-lt"/>
              </a:rPr>
              <a:t> based on user actions.</a:t>
            </a:r>
            <a:endParaRPr lang="en-US" sz="1200" dirty="0">
              <a:solidFill>
                <a:schemeClr val="bg1"/>
              </a:solidFill>
              <a:ea typeface="Calibri"/>
              <a:cs typeface="Calibri"/>
            </a:endParaRPr>
          </a:p>
          <a:p>
            <a:pPr lvl="1"/>
            <a:endParaRPr lang="en-US" sz="1200" dirty="0">
              <a:solidFill>
                <a:schemeClr val="bg1"/>
              </a:solidFill>
              <a:ea typeface="+mn-lt"/>
              <a:cs typeface="+mn-lt"/>
            </a:endParaRPr>
          </a:p>
          <a:p>
            <a:endParaRPr lang="en-US" sz="1200" dirty="0">
              <a:solidFill>
                <a:schemeClr val="bg1"/>
              </a:solidFill>
              <a:ea typeface="+mn-lt"/>
              <a:cs typeface="+mn-lt"/>
            </a:endParaRPr>
          </a:p>
          <a:p>
            <a:r>
              <a:rPr lang="en-US" sz="1400" b="1" dirty="0">
                <a:solidFill>
                  <a:schemeClr val="bg1"/>
                </a:solidFill>
                <a:ea typeface="+mn-lt"/>
                <a:cs typeface="+mn-lt"/>
              </a:rPr>
              <a:t>2. Barcode Scanning</a:t>
            </a:r>
            <a:endParaRPr lang="en-US" sz="1400" dirty="0">
              <a:solidFill>
                <a:schemeClr val="bg1"/>
              </a:solidFill>
              <a:ea typeface="Calibri"/>
              <a:cs typeface="Calibri"/>
            </a:endParaRPr>
          </a:p>
          <a:p>
            <a:pPr marL="628650" lvl="1" indent="-171450">
              <a:buFont typeface="Arial"/>
              <a:buChar char="•"/>
            </a:pPr>
            <a:r>
              <a:rPr lang="en-US" sz="1200" dirty="0">
                <a:solidFill>
                  <a:schemeClr val="bg1"/>
                </a:solidFill>
                <a:ea typeface="+mn-lt"/>
                <a:cs typeface="+mn-lt"/>
              </a:rPr>
              <a:t>The </a:t>
            </a:r>
            <a:r>
              <a:rPr lang="en-US" sz="1200" b="1" dirty="0">
                <a:solidFill>
                  <a:schemeClr val="bg1"/>
                </a:solidFill>
                <a:ea typeface="+mn-lt"/>
                <a:cs typeface="+mn-lt"/>
              </a:rPr>
              <a:t>Scan Page</a:t>
            </a:r>
            <a:r>
              <a:rPr lang="en-US" sz="1200" dirty="0">
                <a:solidFill>
                  <a:schemeClr val="bg1"/>
                </a:solidFill>
                <a:ea typeface="+mn-lt"/>
                <a:cs typeface="+mn-lt"/>
              </a:rPr>
              <a:t> activates the webcam to capture live frames.</a:t>
            </a:r>
            <a:endParaRPr lang="en-US" sz="1200" dirty="0">
              <a:solidFill>
                <a:schemeClr val="bg1"/>
              </a:solidFill>
              <a:ea typeface="Calibri"/>
              <a:cs typeface="Calibri"/>
            </a:endParaRPr>
          </a:p>
          <a:p>
            <a:pPr marL="628650" lvl="1" indent="-171450">
              <a:buFont typeface="Arial"/>
              <a:buChar char="•"/>
            </a:pPr>
            <a:r>
              <a:rPr lang="en-US" sz="1200" dirty="0">
                <a:solidFill>
                  <a:schemeClr val="bg1"/>
                </a:solidFill>
                <a:ea typeface="+mn-lt"/>
                <a:cs typeface="+mn-lt"/>
              </a:rPr>
              <a:t>It decodes barcodes  extracting the product ID.</a:t>
            </a:r>
            <a:endParaRPr lang="en-US" sz="1200" dirty="0">
              <a:solidFill>
                <a:schemeClr val="bg1"/>
              </a:solidFill>
              <a:ea typeface="Calibri"/>
              <a:cs typeface="Calibri"/>
            </a:endParaRPr>
          </a:p>
          <a:p>
            <a:pPr marL="628650" lvl="1" indent="-171450">
              <a:buFont typeface="Arial"/>
              <a:buChar char="•"/>
            </a:pPr>
            <a:r>
              <a:rPr lang="en-US" sz="1200" dirty="0">
                <a:solidFill>
                  <a:schemeClr val="bg1"/>
                </a:solidFill>
                <a:ea typeface="+mn-lt"/>
                <a:cs typeface="+mn-lt"/>
              </a:rPr>
              <a:t>The app validates scanned product IDs against the grocery dataset.</a:t>
            </a:r>
            <a:endParaRPr lang="en-US" sz="1200" dirty="0">
              <a:solidFill>
                <a:schemeClr val="bg1"/>
              </a:solidFill>
              <a:ea typeface="Calibri"/>
              <a:cs typeface="Calibri"/>
            </a:endParaRPr>
          </a:p>
          <a:p>
            <a:pPr marL="628650" lvl="1" indent="-171450">
              <a:buFont typeface="Arial"/>
              <a:buChar char="•"/>
            </a:pPr>
            <a:r>
              <a:rPr lang="en-US" sz="1200" dirty="0">
                <a:solidFill>
                  <a:schemeClr val="bg1"/>
                </a:solidFill>
                <a:ea typeface="+mn-lt"/>
                <a:cs typeface="+mn-lt"/>
              </a:rPr>
              <a:t>Valid products are redirected to the cart, while invalid scans prompt error messages.</a:t>
            </a:r>
            <a:endParaRPr lang="en-US" sz="1200" dirty="0">
              <a:solidFill>
                <a:schemeClr val="bg1"/>
              </a:solidFill>
              <a:ea typeface="Calibri"/>
              <a:cs typeface="Calibri"/>
            </a:endParaRPr>
          </a:p>
          <a:p>
            <a:endParaRPr lang="en-US" sz="1200" u="sng" dirty="0">
              <a:solidFill>
                <a:schemeClr val="bg1"/>
              </a:solidFill>
              <a:ea typeface="Calibri"/>
              <a:cs typeface="Calibri"/>
            </a:endParaRPr>
          </a:p>
          <a:p>
            <a:pPr algn="l"/>
            <a:endParaRPr lang="en-US" sz="1200" dirty="0">
              <a:solidFill>
                <a:schemeClr val="bg1"/>
              </a:solidFill>
              <a:ea typeface="Calibri"/>
              <a:cs typeface="Calibri"/>
            </a:endParaRPr>
          </a:p>
        </p:txBody>
      </p:sp>
      <p:sp>
        <p:nvSpPr>
          <p:cNvPr id="30" name="TextBox 29">
            <a:extLst>
              <a:ext uri="{FF2B5EF4-FFF2-40B4-BE49-F238E27FC236}">
                <a16:creationId xmlns:a16="http://schemas.microsoft.com/office/drawing/2014/main" id="{1D8E19F1-2D20-2D31-DC90-248D41F4C814}"/>
              </a:ext>
            </a:extLst>
          </p:cNvPr>
          <p:cNvSpPr txBox="1"/>
          <p:nvPr/>
        </p:nvSpPr>
        <p:spPr>
          <a:xfrm>
            <a:off x="7141910" y="2362906"/>
            <a:ext cx="4840547" cy="32008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400" b="1">
              <a:solidFill>
                <a:schemeClr val="bg1"/>
              </a:solidFill>
              <a:ea typeface="+mn-lt"/>
              <a:cs typeface="+mn-lt"/>
            </a:endParaRPr>
          </a:p>
          <a:p>
            <a:r>
              <a:rPr lang="en-US" sz="1400" b="1">
                <a:solidFill>
                  <a:schemeClr val="bg1"/>
                </a:solidFill>
                <a:ea typeface="+mn-lt"/>
                <a:cs typeface="+mn-lt"/>
              </a:rPr>
              <a:t>          5. Adding Tips on Payment Page</a:t>
            </a:r>
            <a:endParaRPr lang="en-US">
              <a:solidFill>
                <a:schemeClr val="bg1"/>
              </a:solidFill>
              <a:ea typeface="Calibri" panose="020F0502020204030204"/>
              <a:cs typeface="Calibri" panose="020F0502020204030204"/>
            </a:endParaRPr>
          </a:p>
          <a:p>
            <a:pPr marL="742950" lvl="1" indent="-285750">
              <a:buFont typeface="Arial"/>
              <a:buChar char="•"/>
            </a:pPr>
            <a:r>
              <a:rPr lang="en-US" sz="1200">
                <a:solidFill>
                  <a:schemeClr val="bg1"/>
                </a:solidFill>
                <a:ea typeface="+mn-lt"/>
                <a:cs typeface="+mn-lt"/>
              </a:rPr>
              <a:t>The </a:t>
            </a:r>
            <a:r>
              <a:rPr lang="en-US" sz="1200" b="1">
                <a:solidFill>
                  <a:schemeClr val="bg1"/>
                </a:solidFill>
                <a:ea typeface="+mn-lt"/>
                <a:cs typeface="+mn-lt"/>
              </a:rPr>
              <a:t>Payment Page</a:t>
            </a:r>
            <a:r>
              <a:rPr lang="en-US" sz="1200">
                <a:solidFill>
                  <a:schemeClr val="bg1"/>
                </a:solidFill>
                <a:ea typeface="+mn-lt"/>
                <a:cs typeface="+mn-lt"/>
              </a:rPr>
              <a:t> offers predefined tip percentages (e.g., 10%, 12%, 15% and 18%) with calculated values.</a:t>
            </a:r>
            <a:endParaRPr lang="en-US" sz="1200">
              <a:solidFill>
                <a:schemeClr val="bg1"/>
              </a:solidFill>
              <a:ea typeface="Calibri"/>
              <a:cs typeface="Calibri"/>
            </a:endParaRPr>
          </a:p>
          <a:p>
            <a:pPr marL="742950" lvl="1" indent="-285750">
              <a:buFont typeface="Arial"/>
              <a:buChar char="•"/>
            </a:pPr>
            <a:r>
              <a:rPr lang="en-US" sz="1200">
                <a:solidFill>
                  <a:schemeClr val="bg1"/>
                </a:solidFill>
                <a:ea typeface="+mn-lt"/>
                <a:cs typeface="+mn-lt"/>
              </a:rPr>
              <a:t>Users can also enter a custom tip amount.</a:t>
            </a:r>
            <a:endParaRPr lang="en-US" sz="1200">
              <a:solidFill>
                <a:schemeClr val="bg1"/>
              </a:solidFill>
              <a:ea typeface="Calibri"/>
              <a:cs typeface="Calibri"/>
            </a:endParaRPr>
          </a:p>
          <a:p>
            <a:pPr marL="742950" lvl="1" indent="-285750">
              <a:buFont typeface="Arial"/>
              <a:buChar char="•"/>
            </a:pPr>
            <a:r>
              <a:rPr lang="en-US" sz="1200">
                <a:solidFill>
                  <a:schemeClr val="bg1"/>
                </a:solidFill>
                <a:ea typeface="+mn-lt"/>
                <a:cs typeface="+mn-lt"/>
              </a:rPr>
              <a:t>The final total with the selected tip is prominently displayed.</a:t>
            </a:r>
          </a:p>
          <a:p>
            <a:pPr marL="742950" lvl="1" indent="-285750">
              <a:buFont typeface="Arial"/>
              <a:buChar char="•"/>
            </a:pPr>
            <a:endParaRPr lang="en-US" sz="1200">
              <a:ea typeface="+mn-lt"/>
              <a:cs typeface="+mn-lt"/>
            </a:endParaRPr>
          </a:p>
          <a:p>
            <a:pPr marL="742950" lvl="1" indent="-285750">
              <a:buFont typeface="Arial"/>
              <a:buChar char="•"/>
            </a:pPr>
            <a:endParaRPr lang="en-US" sz="1200">
              <a:ea typeface="+mn-lt"/>
              <a:cs typeface="+mn-lt"/>
            </a:endParaRPr>
          </a:p>
          <a:p>
            <a:pPr marL="742950" lvl="1" indent="-285750">
              <a:buFont typeface="Arial"/>
              <a:buChar char="•"/>
            </a:pPr>
            <a:endParaRPr lang="en-US" sz="1200">
              <a:ea typeface="+mn-lt"/>
              <a:cs typeface="+mn-lt"/>
            </a:endParaRPr>
          </a:p>
          <a:p>
            <a:pPr lvl="1"/>
            <a:endParaRPr lang="en-US" sz="1200">
              <a:ea typeface="+mn-lt"/>
              <a:cs typeface="+mn-lt"/>
            </a:endParaRPr>
          </a:p>
          <a:p>
            <a:endParaRPr lang="en-US" sz="1400" b="1">
              <a:ea typeface="+mn-lt"/>
              <a:cs typeface="+mn-lt"/>
            </a:endParaRPr>
          </a:p>
          <a:p>
            <a:r>
              <a:rPr lang="en-US" sz="1400" b="1">
                <a:ea typeface="+mn-lt"/>
                <a:cs typeface="+mn-lt"/>
              </a:rPr>
              <a:t>      </a:t>
            </a:r>
            <a:endParaRPr lang="en-US">
              <a:ea typeface="+mn-lt"/>
              <a:cs typeface="+mn-lt"/>
            </a:endParaRPr>
          </a:p>
          <a:p>
            <a:endParaRPr lang="en-US" sz="1400" i="1">
              <a:ea typeface="Calibri" panose="020F0502020204030204"/>
              <a:cs typeface="Calibri" panose="020F0502020204030204"/>
            </a:endParaRPr>
          </a:p>
          <a:p>
            <a:pPr marL="285750" indent="-285750" algn="l">
              <a:buFont typeface="Arial"/>
              <a:buChar char="•"/>
            </a:pPr>
            <a:endParaRPr lang="en-US">
              <a:ea typeface="Calibri"/>
              <a:cs typeface="Calibri"/>
            </a:endParaRPr>
          </a:p>
          <a:p>
            <a:endParaRPr lang="en-US">
              <a:ea typeface="Calibri"/>
              <a:cs typeface="Calibri"/>
            </a:endParaRPr>
          </a:p>
        </p:txBody>
      </p:sp>
      <p:pic>
        <p:nvPicPr>
          <p:cNvPr id="7" name="Picture 6" descr="A person holding a phone in a store&#10;&#10;Description automatically generated">
            <a:extLst>
              <a:ext uri="{FF2B5EF4-FFF2-40B4-BE49-F238E27FC236}">
                <a16:creationId xmlns:a16="http://schemas.microsoft.com/office/drawing/2014/main" id="{4F2FA237-EC4E-F5E2-4D3D-85C3AFC9FB71}"/>
              </a:ext>
            </a:extLst>
          </p:cNvPr>
          <p:cNvPicPr>
            <a:picLocks noChangeAspect="1"/>
          </p:cNvPicPr>
          <p:nvPr/>
        </p:nvPicPr>
        <p:blipFill>
          <a:blip r:embed="rId2"/>
          <a:srcRect l="2348" t="8818" r="6654" b="4200"/>
          <a:stretch/>
        </p:blipFill>
        <p:spPr>
          <a:xfrm>
            <a:off x="4372730" y="2231110"/>
            <a:ext cx="2773166" cy="2374098"/>
          </a:xfrm>
          <a:prstGeom prst="ellipse">
            <a:avLst/>
          </a:prstGeom>
          <a:ln>
            <a:noFill/>
          </a:ln>
          <a:effectLst>
            <a:softEdge rad="112500"/>
          </a:effectLst>
        </p:spPr>
      </p:pic>
      <p:sp>
        <p:nvSpPr>
          <p:cNvPr id="3" name="TextBox 2">
            <a:extLst>
              <a:ext uri="{FF2B5EF4-FFF2-40B4-BE49-F238E27FC236}">
                <a16:creationId xmlns:a16="http://schemas.microsoft.com/office/drawing/2014/main" id="{2B0F13B2-5434-261D-A8A6-DA1F2FB96BB9}"/>
              </a:ext>
            </a:extLst>
          </p:cNvPr>
          <p:cNvSpPr txBox="1"/>
          <p:nvPr/>
        </p:nvSpPr>
        <p:spPr>
          <a:xfrm>
            <a:off x="7429500" y="1020535"/>
            <a:ext cx="4245428"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chemeClr val="bg1"/>
                </a:solidFill>
                <a:ea typeface="Calibri"/>
                <a:cs typeface="Calibri"/>
              </a:rPr>
              <a:t>4. Cart Management Options</a:t>
            </a:r>
            <a:endParaRPr lang="en-US" sz="1400">
              <a:ea typeface="Calibri"/>
              <a:cs typeface="Calibri"/>
            </a:endParaRPr>
          </a:p>
          <a:p>
            <a:pPr marL="628650" lvl="1" indent="-171450">
              <a:buFont typeface="Arial,Sans-Serif"/>
              <a:buChar char="•"/>
            </a:pPr>
            <a:r>
              <a:rPr lang="en-US" sz="1200">
                <a:solidFill>
                  <a:schemeClr val="bg1"/>
                </a:solidFill>
                <a:ea typeface="Calibri"/>
                <a:cs typeface="Calibri"/>
              </a:rPr>
              <a:t>Users can clear the cart entirely or proceed to the </a:t>
            </a:r>
            <a:r>
              <a:rPr lang="en-US" sz="1200" b="1">
                <a:solidFill>
                  <a:schemeClr val="bg1"/>
                </a:solidFill>
                <a:ea typeface="Calibri"/>
                <a:cs typeface="Calibri"/>
              </a:rPr>
              <a:t>Payment Page</a:t>
            </a:r>
            <a:r>
              <a:rPr lang="en-US" sz="1200">
                <a:solidFill>
                  <a:schemeClr val="bg1"/>
                </a:solidFill>
                <a:ea typeface="Calibri"/>
                <a:cs typeface="Calibri"/>
              </a:rPr>
              <a:t> for checkout.</a:t>
            </a:r>
          </a:p>
          <a:p>
            <a:pPr marL="628650" lvl="1" indent="-171450">
              <a:buFont typeface="Arial,Sans-Serif"/>
              <a:buChar char="•"/>
            </a:pPr>
            <a:r>
              <a:rPr lang="en-US" sz="1200">
                <a:solidFill>
                  <a:schemeClr val="bg1"/>
                </a:solidFill>
                <a:ea typeface="Calibri"/>
                <a:cs typeface="Calibri"/>
              </a:rPr>
              <a:t>If the cart is empty, an appropriate message is displayed.</a:t>
            </a:r>
            <a:endParaRPr lang="en-US">
              <a:solidFill>
                <a:schemeClr val="bg1"/>
              </a:solidFill>
            </a:endParaRPr>
          </a:p>
        </p:txBody>
      </p:sp>
      <p:sp>
        <p:nvSpPr>
          <p:cNvPr id="4" name="TextBox 3">
            <a:extLst>
              <a:ext uri="{FF2B5EF4-FFF2-40B4-BE49-F238E27FC236}">
                <a16:creationId xmlns:a16="http://schemas.microsoft.com/office/drawing/2014/main" id="{C67153BB-15D8-AA30-8E43-A9A48FA4441B}"/>
              </a:ext>
            </a:extLst>
          </p:cNvPr>
          <p:cNvSpPr txBox="1"/>
          <p:nvPr/>
        </p:nvSpPr>
        <p:spPr>
          <a:xfrm>
            <a:off x="7429499" y="4603750"/>
            <a:ext cx="4484913"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6. Order Confirmation</a:t>
            </a:r>
            <a:endParaRPr lang="en-US" sz="1400">
              <a:ea typeface="Calibri"/>
              <a:cs typeface="Calibri"/>
            </a:endParaRPr>
          </a:p>
          <a:p>
            <a:pPr marL="628650" lvl="1" indent="-171450">
              <a:buFont typeface="Arial,Sans-Serif"/>
              <a:buChar char="•"/>
            </a:pPr>
            <a:r>
              <a:rPr lang="en-US" sz="1200">
                <a:ea typeface="Calibri"/>
                <a:cs typeface="Calibri"/>
              </a:rPr>
              <a:t>Once the payment is confirmed, the app resets the session state, clears the cart, and redirects back to the </a:t>
            </a:r>
            <a:r>
              <a:rPr lang="en-US" sz="1200" b="1">
                <a:ea typeface="Calibri"/>
                <a:cs typeface="Calibri"/>
              </a:rPr>
              <a:t>Scan Page</a:t>
            </a:r>
            <a:r>
              <a:rPr lang="en-US" sz="1200">
                <a:ea typeface="Calibri"/>
                <a:cs typeface="Calibri"/>
              </a:rPr>
              <a:t>, ready for new transactions.</a:t>
            </a:r>
            <a:endParaRPr lang="en-US"/>
          </a:p>
          <a:p>
            <a:pPr algn="l"/>
            <a:endParaRPr lang="en-US">
              <a:ea typeface="Calibri"/>
              <a:cs typeface="Calibri"/>
            </a:endParaRPr>
          </a:p>
        </p:txBody>
      </p:sp>
    </p:spTree>
    <p:extLst>
      <p:ext uri="{BB962C8B-B14F-4D97-AF65-F5344CB8AC3E}">
        <p14:creationId xmlns:p14="http://schemas.microsoft.com/office/powerpoint/2010/main" val="2987096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34B3D1-4485-5CBC-E66A-E9EF61914FF4}"/>
              </a:ext>
            </a:extLst>
          </p:cNvPr>
          <p:cNvSpPr/>
          <p:nvPr/>
        </p:nvSpPr>
        <p:spPr>
          <a:xfrm>
            <a:off x="-1309" y="3712325"/>
            <a:ext cx="12229384" cy="3145255"/>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b="1" dirty="0">
              <a:ea typeface="Calibri" panose="020F0502020204030204"/>
              <a:cs typeface="Calibri" panose="020F0502020204030204"/>
            </a:endParaRPr>
          </a:p>
        </p:txBody>
      </p:sp>
      <p:sp>
        <p:nvSpPr>
          <p:cNvPr id="8" name="Rectangle 7">
            <a:extLst>
              <a:ext uri="{FF2B5EF4-FFF2-40B4-BE49-F238E27FC236}">
                <a16:creationId xmlns:a16="http://schemas.microsoft.com/office/drawing/2014/main" id="{3C701D60-0C16-F865-8C6D-4520C613A935}"/>
              </a:ext>
            </a:extLst>
          </p:cNvPr>
          <p:cNvSpPr/>
          <p:nvPr/>
        </p:nvSpPr>
        <p:spPr>
          <a:xfrm>
            <a:off x="0" y="-1"/>
            <a:ext cx="12201748" cy="3721395"/>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a:ea typeface="Calibri" panose="020F0502020204030204"/>
              <a:cs typeface="Calibri" panose="020F0502020204030204"/>
            </a:endParaRPr>
          </a:p>
          <a:p>
            <a:pPr marL="285750" indent="-285750">
              <a:buFont typeface="Arial"/>
              <a:buChar char="•"/>
            </a:pPr>
            <a:endParaRPr lang="en-IN">
              <a:ea typeface="Calibri" panose="020F0502020204030204"/>
              <a:cs typeface="Calibri" panose="020F0502020204030204"/>
            </a:endParaRPr>
          </a:p>
        </p:txBody>
      </p:sp>
      <p:sp>
        <p:nvSpPr>
          <p:cNvPr id="19" name="TextBox 18">
            <a:extLst>
              <a:ext uri="{FF2B5EF4-FFF2-40B4-BE49-F238E27FC236}">
                <a16:creationId xmlns:a16="http://schemas.microsoft.com/office/drawing/2014/main" id="{DEFC1B36-3929-3E04-BC8D-DF9EDD13151D}"/>
              </a:ext>
            </a:extLst>
          </p:cNvPr>
          <p:cNvSpPr txBox="1"/>
          <p:nvPr/>
        </p:nvSpPr>
        <p:spPr>
          <a:xfrm>
            <a:off x="198069" y="136503"/>
            <a:ext cx="4032473" cy="584775"/>
          </a:xfrm>
          <a:prstGeom prst="rect">
            <a:avLst/>
          </a:prstGeom>
          <a:noFill/>
        </p:spPr>
        <p:txBody>
          <a:bodyPr wrap="square" lIns="91440" tIns="45720" rIns="91440" bIns="45720" rtlCol="0" anchor="t">
            <a:spAutoFit/>
          </a:bodyPr>
          <a:lstStyle/>
          <a:p>
            <a:r>
              <a:rPr lang="en-US" sz="3200" b="1" i="1" dirty="0">
                <a:solidFill>
                  <a:srgbClr val="FFBB29"/>
                </a:solidFill>
                <a:ea typeface="Calibri"/>
                <a:cs typeface="Calibri"/>
              </a:rPr>
              <a:t>Operating Costs</a:t>
            </a:r>
          </a:p>
        </p:txBody>
      </p:sp>
      <p:sp>
        <p:nvSpPr>
          <p:cNvPr id="21" name="TextBox 20">
            <a:extLst>
              <a:ext uri="{FF2B5EF4-FFF2-40B4-BE49-F238E27FC236}">
                <a16:creationId xmlns:a16="http://schemas.microsoft.com/office/drawing/2014/main" id="{1879950D-EE1E-DFB0-9E25-8D73C8E0FB7B}"/>
              </a:ext>
            </a:extLst>
          </p:cNvPr>
          <p:cNvSpPr txBox="1"/>
          <p:nvPr/>
        </p:nvSpPr>
        <p:spPr>
          <a:xfrm>
            <a:off x="320844" y="3921098"/>
            <a:ext cx="2722948" cy="584775"/>
          </a:xfrm>
          <a:prstGeom prst="rect">
            <a:avLst/>
          </a:prstGeom>
          <a:noFill/>
        </p:spPr>
        <p:txBody>
          <a:bodyPr wrap="square" lIns="91440" tIns="45720" rIns="91440" bIns="45720" rtlCol="0" anchor="t">
            <a:spAutoFit/>
          </a:bodyPr>
          <a:lstStyle/>
          <a:p>
            <a:r>
              <a:rPr lang="en-US" sz="3200" b="1" i="1" dirty="0">
                <a:solidFill>
                  <a:schemeClr val="bg2">
                    <a:lumMod val="10000"/>
                  </a:schemeClr>
                </a:solidFill>
                <a:ea typeface="+mn-lt"/>
                <a:cs typeface="+mn-lt"/>
              </a:rPr>
              <a:t>ROI</a:t>
            </a:r>
            <a:r>
              <a:rPr lang="en-US" sz="3200" b="1" dirty="0">
                <a:solidFill>
                  <a:schemeClr val="bg2">
                    <a:lumMod val="10000"/>
                  </a:schemeClr>
                </a:solidFill>
                <a:ea typeface="+mn-lt"/>
                <a:cs typeface="+mn-lt"/>
              </a:rPr>
              <a:t> – </a:t>
            </a:r>
            <a:r>
              <a:rPr lang="en-US" sz="3200" b="1" i="1" dirty="0">
                <a:solidFill>
                  <a:schemeClr val="bg2">
                    <a:lumMod val="10000"/>
                  </a:schemeClr>
                </a:solidFill>
                <a:ea typeface="+mn-lt"/>
                <a:cs typeface="+mn-lt"/>
              </a:rPr>
              <a:t>16%</a:t>
            </a:r>
            <a:endParaRPr lang="en-US" sz="3200" b="1" i="1" dirty="0">
              <a:solidFill>
                <a:schemeClr val="bg2">
                  <a:lumMod val="10000"/>
                </a:schemeClr>
              </a:solidFill>
              <a:ea typeface="Calibri" panose="020F0502020204030204"/>
              <a:cs typeface="Calibri" panose="020F0502020204030204"/>
            </a:endParaRPr>
          </a:p>
        </p:txBody>
      </p:sp>
      <p:sp>
        <p:nvSpPr>
          <p:cNvPr id="23" name="TextBox 22">
            <a:extLst>
              <a:ext uri="{FF2B5EF4-FFF2-40B4-BE49-F238E27FC236}">
                <a16:creationId xmlns:a16="http://schemas.microsoft.com/office/drawing/2014/main" id="{6F5A651E-DF79-FA1F-53D7-B227980A07F2}"/>
              </a:ext>
            </a:extLst>
          </p:cNvPr>
          <p:cNvSpPr txBox="1"/>
          <p:nvPr/>
        </p:nvSpPr>
        <p:spPr>
          <a:xfrm>
            <a:off x="7321334" y="890103"/>
            <a:ext cx="4834269"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chemeClr val="bg1"/>
                </a:solidFill>
              </a:rPr>
              <a:t>Infrastructure Costs:</a:t>
            </a:r>
            <a:endParaRPr lang="en-US" u="sng">
              <a:solidFill>
                <a:schemeClr val="bg1"/>
              </a:solidFill>
              <a:ea typeface="Calibri"/>
              <a:cs typeface="Calibri"/>
            </a:endParaRPr>
          </a:p>
          <a:p>
            <a:pPr marL="285750" indent="-285750">
              <a:buFont typeface="Arial"/>
              <a:buChar char="•"/>
            </a:pPr>
            <a:r>
              <a:rPr lang="en-US" sz="1400">
                <a:solidFill>
                  <a:schemeClr val="bg1"/>
                </a:solidFill>
                <a:ea typeface="+mn-lt"/>
                <a:cs typeface="+mn-lt"/>
              </a:rPr>
              <a:t>Cloud storage and computing for ML models: </a:t>
            </a:r>
            <a:r>
              <a:rPr lang="en-US" sz="1400" b="1">
                <a:solidFill>
                  <a:schemeClr val="bg1"/>
                </a:solidFill>
                <a:ea typeface="+mn-lt"/>
                <a:cs typeface="+mn-lt"/>
              </a:rPr>
              <a:t>$120,000</a:t>
            </a:r>
            <a:endParaRPr lang="en-US" sz="1400" b="1">
              <a:solidFill>
                <a:schemeClr val="bg1"/>
              </a:solidFill>
              <a:ea typeface="Calibri"/>
              <a:cs typeface="Calibri"/>
            </a:endParaRPr>
          </a:p>
          <a:p>
            <a:pPr marL="285750" indent="-285750">
              <a:buFont typeface="Arial"/>
              <a:buChar char="•"/>
            </a:pPr>
            <a:r>
              <a:rPr lang="en-US" sz="1400">
                <a:solidFill>
                  <a:schemeClr val="bg1"/>
                </a:solidFill>
                <a:ea typeface="+mn-lt"/>
                <a:cs typeface="+mn-lt"/>
              </a:rPr>
              <a:t>Server maintenance:</a:t>
            </a:r>
            <a:r>
              <a:rPr lang="en-US" sz="1400" b="1">
                <a:solidFill>
                  <a:schemeClr val="bg1"/>
                </a:solidFill>
                <a:ea typeface="+mn-lt"/>
                <a:cs typeface="+mn-lt"/>
              </a:rPr>
              <a:t> $80,000</a:t>
            </a:r>
            <a:endParaRPr lang="en-US" sz="1400" b="1">
              <a:solidFill>
                <a:schemeClr val="bg1"/>
              </a:solidFill>
              <a:ea typeface="Calibri"/>
              <a:cs typeface="Calibri"/>
            </a:endParaRPr>
          </a:p>
          <a:p>
            <a:r>
              <a:rPr lang="en-US" sz="1400" b="1">
                <a:solidFill>
                  <a:schemeClr val="bg1"/>
                </a:solidFill>
                <a:ea typeface="+mn-lt"/>
                <a:cs typeface="+mn-lt"/>
              </a:rPr>
              <a:t>Total Infrastructure Costs</a:t>
            </a:r>
            <a:r>
              <a:rPr lang="en-US" sz="1400">
                <a:solidFill>
                  <a:schemeClr val="bg1"/>
                </a:solidFill>
                <a:ea typeface="+mn-lt"/>
                <a:cs typeface="+mn-lt"/>
              </a:rPr>
              <a:t>: </a:t>
            </a:r>
            <a:r>
              <a:rPr lang="en-US" sz="1400" b="1">
                <a:solidFill>
                  <a:schemeClr val="bg1"/>
                </a:solidFill>
                <a:ea typeface="+mn-lt"/>
                <a:cs typeface="+mn-lt"/>
              </a:rPr>
              <a:t>$200,000</a:t>
            </a:r>
            <a:endParaRPr lang="en-US" sz="1400" b="1">
              <a:solidFill>
                <a:schemeClr val="bg1"/>
              </a:solidFill>
              <a:ea typeface="Calibri"/>
              <a:cs typeface="Calibri"/>
            </a:endParaRPr>
          </a:p>
          <a:p>
            <a:pPr algn="l"/>
            <a:endParaRPr lang="en-US" sz="1400">
              <a:ea typeface="Calibri"/>
              <a:cs typeface="Calibri"/>
            </a:endParaRPr>
          </a:p>
        </p:txBody>
      </p:sp>
      <p:sp>
        <p:nvSpPr>
          <p:cNvPr id="24" name="TextBox 23">
            <a:extLst>
              <a:ext uri="{FF2B5EF4-FFF2-40B4-BE49-F238E27FC236}">
                <a16:creationId xmlns:a16="http://schemas.microsoft.com/office/drawing/2014/main" id="{487C41F7-F064-C73A-B663-0FB542241EC0}"/>
              </a:ext>
            </a:extLst>
          </p:cNvPr>
          <p:cNvSpPr txBox="1"/>
          <p:nvPr/>
        </p:nvSpPr>
        <p:spPr>
          <a:xfrm>
            <a:off x="314435" y="890086"/>
            <a:ext cx="5994989"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u="sng" dirty="0">
                <a:solidFill>
                  <a:srgbClr val="FFFFFF"/>
                </a:solidFill>
                <a:ea typeface="Calibri"/>
                <a:cs typeface="Calibri"/>
              </a:rPr>
              <a:t>Development Costs:</a:t>
            </a:r>
            <a:endParaRPr lang="en-US" u="sng" dirty="0">
              <a:ea typeface="Calibri"/>
              <a:cs typeface="Calibri"/>
            </a:endParaRPr>
          </a:p>
          <a:p>
            <a:pPr marL="285750" indent="-285750">
              <a:buFont typeface="Arial,Sans-Serif"/>
              <a:buChar char="•"/>
            </a:pPr>
            <a:r>
              <a:rPr lang="en-IN" sz="1400" dirty="0">
                <a:solidFill>
                  <a:srgbClr val="FFFFFF"/>
                </a:solidFill>
                <a:ea typeface="Calibri"/>
                <a:cs typeface="Calibri"/>
              </a:rPr>
              <a:t>Image segmentation or processing and their training: </a:t>
            </a:r>
            <a:r>
              <a:rPr lang="en-IN" sz="1400" b="1" dirty="0">
                <a:solidFill>
                  <a:srgbClr val="FFFFFF"/>
                </a:solidFill>
                <a:ea typeface="Calibri"/>
                <a:cs typeface="Calibri"/>
              </a:rPr>
              <a:t>$100,000</a:t>
            </a:r>
            <a:endParaRPr lang="en-US" sz="1400" dirty="0">
              <a:ea typeface="Calibri"/>
              <a:cs typeface="Calibri"/>
            </a:endParaRPr>
          </a:p>
          <a:p>
            <a:pPr marL="285750" indent="-285750">
              <a:buFont typeface="Arial,Sans-Serif"/>
              <a:buChar char="•"/>
            </a:pPr>
            <a:r>
              <a:rPr lang="en-IN" sz="1400" dirty="0">
                <a:solidFill>
                  <a:srgbClr val="FFFFFF"/>
                </a:solidFill>
                <a:ea typeface="Calibri"/>
                <a:cs typeface="Calibri"/>
              </a:rPr>
              <a:t>Mobile app updates: </a:t>
            </a:r>
            <a:r>
              <a:rPr lang="en-IN" sz="1400" b="1" dirty="0">
                <a:solidFill>
                  <a:srgbClr val="FFFFFF"/>
                </a:solidFill>
                <a:ea typeface="Calibri"/>
                <a:cs typeface="Calibri"/>
              </a:rPr>
              <a:t>$150,000</a:t>
            </a:r>
            <a:endParaRPr lang="en-IN" sz="1400" b="1" dirty="0">
              <a:ea typeface="Calibri"/>
              <a:cs typeface="Calibri"/>
            </a:endParaRPr>
          </a:p>
          <a:p>
            <a:pPr marL="285750" indent="-285750">
              <a:buFont typeface="Arial,Sans-Serif"/>
              <a:buChar char="•"/>
            </a:pPr>
            <a:r>
              <a:rPr lang="en-IN" sz="1400" dirty="0">
                <a:solidFill>
                  <a:srgbClr val="FFFFFF"/>
                </a:solidFill>
                <a:ea typeface="Calibri"/>
                <a:cs typeface="Calibri"/>
              </a:rPr>
              <a:t>Integration with Walmart's existing systems:</a:t>
            </a:r>
            <a:r>
              <a:rPr lang="en-IN" sz="1400" b="1" dirty="0">
                <a:solidFill>
                  <a:srgbClr val="FFFFFF"/>
                </a:solidFill>
                <a:ea typeface="Calibri"/>
                <a:cs typeface="Calibri"/>
              </a:rPr>
              <a:t> $100,000</a:t>
            </a:r>
            <a:endParaRPr lang="en-IN" sz="1400" b="1" dirty="0">
              <a:ea typeface="Calibri"/>
              <a:cs typeface="Calibri"/>
            </a:endParaRPr>
          </a:p>
          <a:p>
            <a:r>
              <a:rPr lang="en-IN" sz="1400" b="1" dirty="0">
                <a:solidFill>
                  <a:srgbClr val="FFFFFF"/>
                </a:solidFill>
                <a:ea typeface="Calibri"/>
                <a:cs typeface="Calibri"/>
              </a:rPr>
              <a:t>Total Development Costs: $350,000</a:t>
            </a:r>
            <a:endParaRPr lang="en-US" b="1" dirty="0">
              <a:ea typeface="Calibri" panose="020F0502020204030204"/>
              <a:cs typeface="Calibri" panose="020F0502020204030204"/>
            </a:endParaRPr>
          </a:p>
        </p:txBody>
      </p:sp>
      <p:sp>
        <p:nvSpPr>
          <p:cNvPr id="27" name="TextBox 26">
            <a:extLst>
              <a:ext uri="{FF2B5EF4-FFF2-40B4-BE49-F238E27FC236}">
                <a16:creationId xmlns:a16="http://schemas.microsoft.com/office/drawing/2014/main" id="{9D531EBD-E477-104B-ECC3-9F4425D20EE2}"/>
              </a:ext>
            </a:extLst>
          </p:cNvPr>
          <p:cNvSpPr txBox="1"/>
          <p:nvPr/>
        </p:nvSpPr>
        <p:spPr>
          <a:xfrm>
            <a:off x="310000" y="2418027"/>
            <a:ext cx="4384605"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solidFill>
                  <a:schemeClr val="bg1"/>
                </a:solidFill>
              </a:rPr>
              <a:t>Personnel Costs:</a:t>
            </a:r>
            <a:endParaRPr lang="en-US" u="sng" dirty="0">
              <a:solidFill>
                <a:schemeClr val="bg1"/>
              </a:solidFill>
              <a:ea typeface="Calibri"/>
              <a:cs typeface="Calibri"/>
            </a:endParaRPr>
          </a:p>
          <a:p>
            <a:pPr marL="285750" indent="-285750">
              <a:buFont typeface="Arial"/>
              <a:buChar char="•"/>
            </a:pPr>
            <a:r>
              <a:rPr lang="en-US" sz="1400" dirty="0">
                <a:solidFill>
                  <a:schemeClr val="bg1"/>
                </a:solidFill>
                <a:ea typeface="+mn-lt"/>
                <a:cs typeface="+mn-lt"/>
              </a:rPr>
              <a:t>Salaries for data scientists, change managers, and project managers: </a:t>
            </a:r>
            <a:r>
              <a:rPr lang="en-US" sz="1400" b="1" dirty="0">
                <a:solidFill>
                  <a:schemeClr val="bg1"/>
                </a:solidFill>
                <a:ea typeface="+mn-lt"/>
                <a:cs typeface="+mn-lt"/>
              </a:rPr>
              <a:t>$100,000</a:t>
            </a:r>
            <a:endParaRPr lang="en-US" sz="1400" b="1" dirty="0">
              <a:solidFill>
                <a:schemeClr val="bg1"/>
              </a:solidFill>
              <a:ea typeface="Calibri"/>
              <a:cs typeface="Calibri"/>
            </a:endParaRPr>
          </a:p>
          <a:p>
            <a:pPr marL="285750" indent="-285750">
              <a:buFont typeface="Arial"/>
              <a:buChar char="•"/>
            </a:pPr>
            <a:r>
              <a:rPr lang="en-US" sz="1400" dirty="0">
                <a:solidFill>
                  <a:schemeClr val="bg1"/>
                </a:solidFill>
                <a:ea typeface="+mn-lt"/>
                <a:cs typeface="+mn-lt"/>
              </a:rPr>
              <a:t>Customer support for app-related issues:</a:t>
            </a:r>
            <a:r>
              <a:rPr lang="en-US" sz="1400" b="1" dirty="0">
                <a:solidFill>
                  <a:schemeClr val="bg1"/>
                </a:solidFill>
                <a:ea typeface="+mn-lt"/>
                <a:cs typeface="+mn-lt"/>
              </a:rPr>
              <a:t> $100,000</a:t>
            </a:r>
            <a:endParaRPr lang="en-US" sz="1400" b="1" dirty="0">
              <a:solidFill>
                <a:schemeClr val="bg1"/>
              </a:solidFill>
              <a:ea typeface="Calibri"/>
              <a:cs typeface="Calibri"/>
            </a:endParaRPr>
          </a:p>
          <a:p>
            <a:r>
              <a:rPr lang="en-US" sz="1400" b="1" dirty="0">
                <a:solidFill>
                  <a:schemeClr val="bg1"/>
                </a:solidFill>
                <a:ea typeface="+mn-lt"/>
                <a:cs typeface="+mn-lt"/>
              </a:rPr>
              <a:t>Total Personnel Costs</a:t>
            </a:r>
            <a:r>
              <a:rPr lang="en-US" sz="1400" dirty="0">
                <a:solidFill>
                  <a:schemeClr val="bg1"/>
                </a:solidFill>
                <a:ea typeface="+mn-lt"/>
                <a:cs typeface="+mn-lt"/>
              </a:rPr>
              <a:t>:</a:t>
            </a:r>
            <a:r>
              <a:rPr lang="en-US" sz="1400" b="1" dirty="0">
                <a:solidFill>
                  <a:schemeClr val="bg1"/>
                </a:solidFill>
                <a:ea typeface="+mn-lt"/>
                <a:cs typeface="+mn-lt"/>
              </a:rPr>
              <a:t> $200,000</a:t>
            </a:r>
            <a:endParaRPr lang="en-US" sz="1400" b="1" dirty="0">
              <a:solidFill>
                <a:schemeClr val="bg1"/>
              </a:solidFill>
              <a:ea typeface="Calibri"/>
              <a:cs typeface="Calibri"/>
            </a:endParaRPr>
          </a:p>
          <a:p>
            <a:pPr algn="l"/>
            <a:endParaRPr lang="en-US" sz="1400" dirty="0">
              <a:solidFill>
                <a:schemeClr val="bg1"/>
              </a:solidFill>
              <a:ea typeface="Calibri"/>
              <a:cs typeface="Calibri"/>
            </a:endParaRPr>
          </a:p>
        </p:txBody>
      </p:sp>
      <p:sp>
        <p:nvSpPr>
          <p:cNvPr id="28" name="TextBox 27">
            <a:extLst>
              <a:ext uri="{FF2B5EF4-FFF2-40B4-BE49-F238E27FC236}">
                <a16:creationId xmlns:a16="http://schemas.microsoft.com/office/drawing/2014/main" id="{5697C625-D473-A4BC-2C4A-2ADD509C8D53}"/>
              </a:ext>
            </a:extLst>
          </p:cNvPr>
          <p:cNvSpPr txBox="1"/>
          <p:nvPr/>
        </p:nvSpPr>
        <p:spPr>
          <a:xfrm>
            <a:off x="7324881" y="2418019"/>
            <a:ext cx="4550733"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chemeClr val="bg1"/>
                </a:solidFill>
              </a:rPr>
              <a:t>Operational Costs:</a:t>
            </a:r>
            <a:endParaRPr lang="en-US" u="sng">
              <a:solidFill>
                <a:schemeClr val="bg1"/>
              </a:solidFill>
              <a:ea typeface="Calibri"/>
              <a:cs typeface="Calibri"/>
            </a:endParaRPr>
          </a:p>
          <a:p>
            <a:pPr marL="285750" indent="-285750">
              <a:buFont typeface="Arial"/>
              <a:buChar char="•"/>
            </a:pPr>
            <a:r>
              <a:rPr lang="en-US" sz="1400">
                <a:solidFill>
                  <a:schemeClr val="bg1"/>
                </a:solidFill>
                <a:ea typeface="+mn-lt"/>
                <a:cs typeface="+mn-lt"/>
              </a:rPr>
              <a:t>Periodic retraining of ML models to adapt to new data: </a:t>
            </a:r>
            <a:r>
              <a:rPr lang="en-US" sz="1400" b="1">
                <a:solidFill>
                  <a:schemeClr val="bg1"/>
                </a:solidFill>
                <a:ea typeface="+mn-lt"/>
                <a:cs typeface="+mn-lt"/>
              </a:rPr>
              <a:t>$60,000</a:t>
            </a:r>
            <a:endParaRPr lang="en-US" sz="1400" b="1">
              <a:solidFill>
                <a:schemeClr val="bg1"/>
              </a:solidFill>
              <a:ea typeface="Calibri"/>
              <a:cs typeface="Calibri"/>
            </a:endParaRPr>
          </a:p>
          <a:p>
            <a:pPr marL="285750" indent="-285750">
              <a:buFont typeface="Arial"/>
              <a:buChar char="•"/>
            </a:pPr>
            <a:r>
              <a:rPr lang="en-US" sz="1400">
                <a:solidFill>
                  <a:schemeClr val="bg1"/>
                </a:solidFill>
                <a:ea typeface="+mn-lt"/>
                <a:cs typeface="+mn-lt"/>
              </a:rPr>
              <a:t>Marketing and user education campaigns: </a:t>
            </a:r>
            <a:r>
              <a:rPr lang="en-US" sz="1400" b="1">
                <a:solidFill>
                  <a:schemeClr val="bg1"/>
                </a:solidFill>
                <a:ea typeface="+mn-lt"/>
                <a:cs typeface="+mn-lt"/>
              </a:rPr>
              <a:t>$40,000</a:t>
            </a:r>
            <a:endParaRPr lang="en-US" sz="1400" b="1">
              <a:solidFill>
                <a:schemeClr val="bg1"/>
              </a:solidFill>
              <a:ea typeface="Calibri"/>
              <a:cs typeface="Calibri"/>
            </a:endParaRPr>
          </a:p>
          <a:p>
            <a:r>
              <a:rPr lang="en-US" sz="1400" b="1">
                <a:solidFill>
                  <a:schemeClr val="bg1"/>
                </a:solidFill>
                <a:ea typeface="+mn-lt"/>
                <a:cs typeface="+mn-lt"/>
              </a:rPr>
              <a:t>Total Operational Costs: $100,000</a:t>
            </a:r>
            <a:endParaRPr lang="en-US" sz="1400" b="1">
              <a:solidFill>
                <a:schemeClr val="bg1"/>
              </a:solidFill>
              <a:ea typeface="Calibri"/>
              <a:cs typeface="Calibri"/>
            </a:endParaRPr>
          </a:p>
          <a:p>
            <a:pPr algn="l"/>
            <a:endParaRPr lang="en-US">
              <a:solidFill>
                <a:schemeClr val="bg1"/>
              </a:solidFill>
              <a:ea typeface="Calibri"/>
              <a:cs typeface="Calibri"/>
            </a:endParaRPr>
          </a:p>
        </p:txBody>
      </p:sp>
      <p:sp>
        <p:nvSpPr>
          <p:cNvPr id="29" name="TextBox 28">
            <a:extLst>
              <a:ext uri="{FF2B5EF4-FFF2-40B4-BE49-F238E27FC236}">
                <a16:creationId xmlns:a16="http://schemas.microsoft.com/office/drawing/2014/main" id="{8D389896-ED0C-1572-0133-38B7FBF90D65}"/>
              </a:ext>
            </a:extLst>
          </p:cNvPr>
          <p:cNvSpPr txBox="1"/>
          <p:nvPr/>
        </p:nvSpPr>
        <p:spPr>
          <a:xfrm>
            <a:off x="190452" y="4778477"/>
            <a:ext cx="646628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400" b="1" i="1" dirty="0">
                <a:ea typeface="Calibri"/>
                <a:cs typeface="Calibri"/>
              </a:rPr>
              <a:t>Total Costs</a:t>
            </a:r>
            <a:r>
              <a:rPr lang="en-IN" sz="1400" dirty="0">
                <a:ea typeface="Calibri"/>
                <a:cs typeface="Calibri"/>
              </a:rPr>
              <a:t> are calculated by summing up all expenditures mentioned above. </a:t>
            </a:r>
            <a:endParaRPr lang="en-IN" sz="1400" b="1" dirty="0">
              <a:ea typeface="Calibri"/>
              <a:cs typeface="Calibri"/>
            </a:endParaRPr>
          </a:p>
        </p:txBody>
      </p:sp>
      <p:sp>
        <p:nvSpPr>
          <p:cNvPr id="30" name="TextBox 29">
            <a:extLst>
              <a:ext uri="{FF2B5EF4-FFF2-40B4-BE49-F238E27FC236}">
                <a16:creationId xmlns:a16="http://schemas.microsoft.com/office/drawing/2014/main" id="{1D8E19F1-2D20-2D31-DC90-248D41F4C814}"/>
              </a:ext>
            </a:extLst>
          </p:cNvPr>
          <p:cNvSpPr txBox="1"/>
          <p:nvPr/>
        </p:nvSpPr>
        <p:spPr>
          <a:xfrm>
            <a:off x="212565" y="5083781"/>
            <a:ext cx="1198466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i="1" dirty="0"/>
              <a:t>Net Gains</a:t>
            </a:r>
            <a:r>
              <a:rPr lang="en-US" sz="1400" i="1" dirty="0">
                <a:ea typeface="+mn-lt"/>
                <a:cs typeface="+mn-lt"/>
              </a:rPr>
              <a:t> </a:t>
            </a:r>
            <a:endParaRPr lang="en-US" sz="1400" i="1" dirty="0">
              <a:ea typeface="Calibri"/>
              <a:cs typeface="Calibri"/>
            </a:endParaRPr>
          </a:p>
          <a:p>
            <a:r>
              <a:rPr lang="en-US" sz="1400" b="1" dirty="0"/>
              <a:t>Cost Savings</a:t>
            </a:r>
            <a:r>
              <a:rPr lang="en-US" sz="1400" dirty="0"/>
              <a:t>:</a:t>
            </a:r>
            <a:endParaRPr lang="en-US" sz="1400" dirty="0">
              <a:ea typeface="Calibri"/>
              <a:cs typeface="Calibri"/>
            </a:endParaRPr>
          </a:p>
          <a:p>
            <a:pPr marL="285750" indent="-285750">
              <a:buFont typeface="Arial"/>
              <a:buChar char="•"/>
            </a:pPr>
            <a:r>
              <a:rPr lang="en-US" sz="1400" b="1" dirty="0">
                <a:ea typeface="+mn-lt"/>
                <a:cs typeface="+mn-lt"/>
              </a:rPr>
              <a:t>Labor Costs</a:t>
            </a:r>
            <a:r>
              <a:rPr lang="en-US" sz="1400" dirty="0">
                <a:ea typeface="+mn-lt"/>
                <a:cs typeface="+mn-lt"/>
              </a:rPr>
              <a:t>: By automating the checkout process, Walmart can reduce the need for cashiers, saving approximately</a:t>
            </a:r>
            <a:r>
              <a:rPr lang="en-US" sz="1400" b="1" dirty="0">
                <a:ea typeface="+mn-lt"/>
                <a:cs typeface="+mn-lt"/>
              </a:rPr>
              <a:t> $400,000</a:t>
            </a:r>
            <a:r>
              <a:rPr lang="en-US" sz="1400" dirty="0">
                <a:ea typeface="+mn-lt"/>
                <a:cs typeface="+mn-lt"/>
              </a:rPr>
              <a:t> annually.</a:t>
            </a:r>
            <a:endParaRPr lang="en-US" sz="1400" dirty="0">
              <a:ea typeface="Calibri"/>
              <a:cs typeface="Calibri"/>
            </a:endParaRPr>
          </a:p>
          <a:p>
            <a:r>
              <a:rPr lang="en-US" sz="1400" b="1" dirty="0"/>
              <a:t>Revenue Growth:</a:t>
            </a:r>
            <a:endParaRPr lang="en-US" sz="1400" dirty="0">
              <a:ea typeface="Calibri"/>
              <a:cs typeface="Calibri"/>
            </a:endParaRPr>
          </a:p>
          <a:p>
            <a:pPr marL="285750" indent="-285750">
              <a:buFont typeface="Arial"/>
              <a:buChar char="•"/>
            </a:pPr>
            <a:r>
              <a:rPr lang="en-US" sz="1400" b="1" dirty="0">
                <a:ea typeface="+mn-lt"/>
                <a:cs typeface="+mn-lt"/>
              </a:rPr>
              <a:t>Increased Sales Through Promotions</a:t>
            </a:r>
            <a:r>
              <a:rPr lang="en-US" sz="1400" dirty="0">
                <a:ea typeface="+mn-lt"/>
                <a:cs typeface="+mn-lt"/>
              </a:rPr>
              <a:t>: ML-powered personalized promotions can increase basket sizes and drive sales. Projected revenue: </a:t>
            </a:r>
            <a:r>
              <a:rPr lang="en-US" sz="1400" b="1" dirty="0">
                <a:ea typeface="+mn-lt"/>
                <a:cs typeface="+mn-lt"/>
              </a:rPr>
              <a:t>$386,000 </a:t>
            </a:r>
            <a:r>
              <a:rPr lang="en-US" sz="1400" dirty="0">
                <a:ea typeface="+mn-lt"/>
                <a:cs typeface="+mn-lt"/>
              </a:rPr>
              <a:t>annually.</a:t>
            </a:r>
          </a:p>
          <a:p>
            <a:pPr marL="285750" indent="-285750">
              <a:buFont typeface="Arial"/>
              <a:buChar char="•"/>
            </a:pPr>
            <a:r>
              <a:rPr lang="en-US" sz="1400" b="1" dirty="0">
                <a:ea typeface="+mn-lt"/>
                <a:cs typeface="+mn-lt"/>
              </a:rPr>
              <a:t>Improved Customer Retention</a:t>
            </a:r>
            <a:r>
              <a:rPr lang="en-US" sz="1400" dirty="0">
                <a:ea typeface="+mn-lt"/>
                <a:cs typeface="+mn-lt"/>
              </a:rPr>
              <a:t>: Faster checkout and better user experience increase repeat visits and loyalty. Projected additional revenue: </a:t>
            </a:r>
            <a:r>
              <a:rPr lang="en-US" sz="1400" b="1" dirty="0">
                <a:ea typeface="+mn-lt"/>
                <a:cs typeface="+mn-lt"/>
              </a:rPr>
              <a:t>$200,000</a:t>
            </a:r>
            <a:r>
              <a:rPr lang="en-US" sz="1400" dirty="0">
                <a:ea typeface="+mn-lt"/>
                <a:cs typeface="+mn-lt"/>
              </a:rPr>
              <a:t> annually.</a:t>
            </a:r>
            <a:endParaRPr lang="en-US" sz="1400" dirty="0">
              <a:ea typeface="Calibri" panose="020F0502020204030204"/>
              <a:cs typeface="Calibri" panose="020F0502020204030204"/>
            </a:endParaRPr>
          </a:p>
          <a:p>
            <a:pPr marL="285750" indent="-285750" algn="l">
              <a:buFont typeface="Arial"/>
              <a:buChar char="•"/>
            </a:pPr>
            <a:endParaRPr lang="en-US" dirty="0">
              <a:ea typeface="Calibri"/>
              <a:cs typeface="Calibri"/>
            </a:endParaRPr>
          </a:p>
          <a:p>
            <a:endParaRPr lang="en-US" dirty="0">
              <a:ea typeface="Calibri"/>
              <a:cs typeface="Calibri"/>
            </a:endParaRPr>
          </a:p>
        </p:txBody>
      </p:sp>
      <p:pic>
        <p:nvPicPr>
          <p:cNvPr id="3" name="Picture 2" descr="A screenshot of a computer screen&#10;&#10;Description automatically generated">
            <a:extLst>
              <a:ext uri="{FF2B5EF4-FFF2-40B4-BE49-F238E27FC236}">
                <a16:creationId xmlns:a16="http://schemas.microsoft.com/office/drawing/2014/main" id="{D8693665-303D-78E3-F89D-DE50062F6582}"/>
              </a:ext>
            </a:extLst>
          </p:cNvPr>
          <p:cNvPicPr>
            <a:picLocks noChangeAspect="1"/>
          </p:cNvPicPr>
          <p:nvPr/>
        </p:nvPicPr>
        <p:blipFill>
          <a:blip r:embed="rId2"/>
          <a:srcRect l="6763" r="9293" b="215"/>
          <a:stretch/>
        </p:blipFill>
        <p:spPr>
          <a:xfrm>
            <a:off x="4537592" y="1991832"/>
            <a:ext cx="2696132" cy="2661699"/>
          </a:xfrm>
          <a:prstGeom prst="ellipse">
            <a:avLst/>
          </a:prstGeom>
          <a:ln>
            <a:noFill/>
          </a:ln>
          <a:effectLst>
            <a:softEdge rad="112500"/>
          </a:effectLst>
        </p:spPr>
      </p:pic>
    </p:spTree>
    <p:extLst>
      <p:ext uri="{BB962C8B-B14F-4D97-AF65-F5344CB8AC3E}">
        <p14:creationId xmlns:p14="http://schemas.microsoft.com/office/powerpoint/2010/main" val="2894528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7FE143E7-09A8-D33F-FFAA-ECF69D4AE325}"/>
              </a:ext>
            </a:extLst>
          </p:cNvPr>
          <p:cNvSpPr/>
          <p:nvPr/>
        </p:nvSpPr>
        <p:spPr>
          <a:xfrm>
            <a:off x="3184770" y="-1"/>
            <a:ext cx="9010162" cy="6857999"/>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a:ea typeface="Calibri"/>
              <a:cs typeface="Calibri"/>
            </a:endParaRPr>
          </a:p>
        </p:txBody>
      </p:sp>
      <p:sp>
        <p:nvSpPr>
          <p:cNvPr id="47" name="Rectangle 46">
            <a:extLst>
              <a:ext uri="{FF2B5EF4-FFF2-40B4-BE49-F238E27FC236}">
                <a16:creationId xmlns:a16="http://schemas.microsoft.com/office/drawing/2014/main" id="{6D35998F-6EB1-ABEA-F513-B9F4D7745DD5}"/>
              </a:ext>
            </a:extLst>
          </p:cNvPr>
          <p:cNvSpPr/>
          <p:nvPr/>
        </p:nvSpPr>
        <p:spPr>
          <a:xfrm>
            <a:off x="-2933" y="0"/>
            <a:ext cx="3187701" cy="6857999"/>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435A2BDD-89C4-A7F7-A3DE-60BCB0A12CFE}"/>
              </a:ext>
            </a:extLst>
          </p:cNvPr>
          <p:cNvSpPr txBox="1"/>
          <p:nvPr/>
        </p:nvSpPr>
        <p:spPr>
          <a:xfrm>
            <a:off x="2064982" y="401130"/>
            <a:ext cx="9539512" cy="1077218"/>
          </a:xfrm>
          <a:prstGeom prst="rect">
            <a:avLst/>
          </a:prstGeom>
          <a:noFill/>
        </p:spPr>
        <p:txBody>
          <a:bodyPr wrap="square" lIns="91440" tIns="45720" rIns="91440" bIns="45720" rtlCol="0" anchor="t">
            <a:spAutoFit/>
          </a:bodyPr>
          <a:lstStyle/>
          <a:p>
            <a:pPr algn="ctr"/>
            <a:r>
              <a:rPr lang="en-US" sz="3200" b="1" i="1" dirty="0">
                <a:solidFill>
                  <a:schemeClr val="bg1"/>
                </a:solidFill>
                <a:ea typeface="+mn-lt"/>
                <a:cs typeface="+mn-lt"/>
              </a:rPr>
              <a:t>Financial Analysis: </a:t>
            </a:r>
          </a:p>
          <a:p>
            <a:pPr algn="ctr"/>
            <a:r>
              <a:rPr lang="en-US" sz="3200" b="1" i="1" dirty="0">
                <a:solidFill>
                  <a:schemeClr val="bg1"/>
                </a:solidFill>
                <a:ea typeface="+mn-lt"/>
                <a:cs typeface="+mn-lt"/>
              </a:rPr>
              <a:t>Costs, Gains, and ROI Projection</a:t>
            </a:r>
            <a:endParaRPr lang="en-US" sz="3200" b="1" i="1" dirty="0">
              <a:solidFill>
                <a:schemeClr val="bg1"/>
              </a:solidFill>
              <a:ea typeface="Calibri"/>
              <a:cs typeface="Calibri"/>
            </a:endParaRPr>
          </a:p>
        </p:txBody>
      </p:sp>
      <p:grpSp>
        <p:nvGrpSpPr>
          <p:cNvPr id="16" name="Group 15">
            <a:extLst>
              <a:ext uri="{FF2B5EF4-FFF2-40B4-BE49-F238E27FC236}">
                <a16:creationId xmlns:a16="http://schemas.microsoft.com/office/drawing/2014/main" id="{A1BB0CFF-BAA0-7F71-7F2F-F318AE7ECFE7}"/>
              </a:ext>
            </a:extLst>
          </p:cNvPr>
          <p:cNvGrpSpPr/>
          <p:nvPr/>
        </p:nvGrpSpPr>
        <p:grpSpPr>
          <a:xfrm>
            <a:off x="-129393" y="-667236"/>
            <a:ext cx="2486172" cy="2780318"/>
            <a:chOff x="4511674" y="1657229"/>
            <a:chExt cx="3168652" cy="3543542"/>
          </a:xfrm>
        </p:grpSpPr>
        <p:grpSp>
          <p:nvGrpSpPr>
            <p:cNvPr id="4" name="Group 3">
              <a:extLst>
                <a:ext uri="{FF2B5EF4-FFF2-40B4-BE49-F238E27FC236}">
                  <a16:creationId xmlns:a16="http://schemas.microsoft.com/office/drawing/2014/main" id="{8C30C3CE-44AB-0B80-BF9F-FF542FB9DD31}"/>
                </a:ext>
              </a:extLst>
            </p:cNvPr>
            <p:cNvGrpSpPr/>
            <p:nvPr/>
          </p:nvGrpSpPr>
          <p:grpSpPr>
            <a:xfrm>
              <a:off x="4511838" y="3622009"/>
              <a:ext cx="3167202" cy="1578762"/>
              <a:chOff x="4511838" y="3622009"/>
              <a:chExt cx="3167202" cy="1578762"/>
            </a:xfrm>
          </p:grpSpPr>
          <p:sp>
            <p:nvSpPr>
              <p:cNvPr id="11" name="Freeform: Shape 10">
                <a:extLst>
                  <a:ext uri="{FF2B5EF4-FFF2-40B4-BE49-F238E27FC236}">
                    <a16:creationId xmlns:a16="http://schemas.microsoft.com/office/drawing/2014/main" id="{7AC8E0AE-E1B7-1D64-55B9-D07CD5920BBE}"/>
                  </a:ext>
                </a:extLst>
              </p:cNvPr>
              <p:cNvSpPr/>
              <p:nvPr/>
            </p:nvSpPr>
            <p:spPr>
              <a:xfrm>
                <a:off x="5851080" y="4005631"/>
                <a:ext cx="488891" cy="1195140"/>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noFill/>
              <a:ln w="19050" cap="flat">
                <a:solidFill>
                  <a:schemeClr val="bg2">
                    <a:lumMod val="25000"/>
                  </a:schemeClr>
                </a:solid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556F566A-4005-F6AF-EE28-90A5E4020391}"/>
                  </a:ext>
                </a:extLst>
              </p:cNvPr>
              <p:cNvSpPr/>
              <p:nvPr/>
            </p:nvSpPr>
            <p:spPr>
              <a:xfrm>
                <a:off x="6566826" y="3623093"/>
                <a:ext cx="1112214" cy="833307"/>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noFill/>
              <a:ln w="19050" cap="flat">
                <a:solidFill>
                  <a:schemeClr val="bg2">
                    <a:lumMod val="25000"/>
                  </a:schemeClr>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D404E5A-C317-D86A-8DCA-15618E54A4B5}"/>
                  </a:ext>
                </a:extLst>
              </p:cNvPr>
              <p:cNvSpPr/>
              <p:nvPr/>
            </p:nvSpPr>
            <p:spPr>
              <a:xfrm>
                <a:off x="4511838" y="3622009"/>
                <a:ext cx="1111476" cy="835315"/>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noFill/>
              <a:ln w="19050" cap="flat">
                <a:solidFill>
                  <a:schemeClr val="bg2">
                    <a:lumMod val="25000"/>
                  </a:schemeClr>
                </a:solidFill>
                <a:prstDash val="solid"/>
                <a:miter/>
              </a:ln>
            </p:spPr>
            <p:txBody>
              <a:bodyPr rtlCol="0" anchor="ctr"/>
              <a:lstStyle/>
              <a:p>
                <a:endParaRPr lang="en-IN"/>
              </a:p>
            </p:txBody>
          </p:sp>
        </p:grpSp>
        <p:grpSp>
          <p:nvGrpSpPr>
            <p:cNvPr id="6" name="Group 5">
              <a:extLst>
                <a:ext uri="{FF2B5EF4-FFF2-40B4-BE49-F238E27FC236}">
                  <a16:creationId xmlns:a16="http://schemas.microsoft.com/office/drawing/2014/main" id="{5B447319-B1BA-1DB4-F2D9-87F460D2A3F7}"/>
                </a:ext>
              </a:extLst>
            </p:cNvPr>
            <p:cNvGrpSpPr/>
            <p:nvPr/>
          </p:nvGrpSpPr>
          <p:grpSpPr>
            <a:xfrm>
              <a:off x="4511674" y="1657229"/>
              <a:ext cx="3168652" cy="1577742"/>
              <a:chOff x="4511674" y="1657229"/>
              <a:chExt cx="3168652" cy="1577742"/>
            </a:xfrm>
          </p:grpSpPr>
          <p:sp>
            <p:nvSpPr>
              <p:cNvPr id="8" name="Freeform: Shape 7">
                <a:extLst>
                  <a:ext uri="{FF2B5EF4-FFF2-40B4-BE49-F238E27FC236}">
                    <a16:creationId xmlns:a16="http://schemas.microsoft.com/office/drawing/2014/main" id="{E744EF6C-3679-0190-1514-21D8DA346DF7}"/>
                  </a:ext>
                </a:extLst>
              </p:cNvPr>
              <p:cNvSpPr/>
              <p:nvPr/>
            </p:nvSpPr>
            <p:spPr>
              <a:xfrm>
                <a:off x="5850944" y="1657229"/>
                <a:ext cx="489059" cy="1195307"/>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noFill/>
              <a:ln w="19050" cap="flat">
                <a:solidFill>
                  <a:schemeClr val="tx1"/>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04F976D1-399A-ABFF-1414-CA6F505D5EF4}"/>
                  </a:ext>
                </a:extLst>
              </p:cNvPr>
              <p:cNvSpPr/>
              <p:nvPr/>
            </p:nvSpPr>
            <p:spPr>
              <a:xfrm>
                <a:off x="6566412" y="2401665"/>
                <a:ext cx="1113914" cy="833232"/>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noFill/>
              <a:ln w="19050" cap="flat">
                <a:solidFill>
                  <a:schemeClr val="tx1"/>
                </a:solid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E95E754E-7684-50A3-F754-9F8D82145557}"/>
                  </a:ext>
                </a:extLst>
              </p:cNvPr>
              <p:cNvSpPr/>
              <p:nvPr/>
            </p:nvSpPr>
            <p:spPr>
              <a:xfrm>
                <a:off x="4511674" y="2401507"/>
                <a:ext cx="1112289" cy="833464"/>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noFill/>
              <a:ln w="19050" cap="flat">
                <a:solidFill>
                  <a:schemeClr val="tx1"/>
                </a:solidFill>
                <a:prstDash val="solid"/>
                <a:miter/>
              </a:ln>
            </p:spPr>
            <p:txBody>
              <a:bodyPr rtlCol="0" anchor="ctr"/>
              <a:lstStyle/>
              <a:p>
                <a:endParaRPr lang="en-IN"/>
              </a:p>
            </p:txBody>
          </p:sp>
        </p:grpSp>
      </p:grpSp>
      <p:pic>
        <p:nvPicPr>
          <p:cNvPr id="3" name="Picture 2" descr="A graph with blue and white bars&#10;&#10;Description automatically generated">
            <a:extLst>
              <a:ext uri="{FF2B5EF4-FFF2-40B4-BE49-F238E27FC236}">
                <a16:creationId xmlns:a16="http://schemas.microsoft.com/office/drawing/2014/main" id="{89A40925-608F-CDDA-42F2-6E6B08B123FA}"/>
              </a:ext>
            </a:extLst>
          </p:cNvPr>
          <p:cNvPicPr>
            <a:picLocks noChangeAspect="1"/>
          </p:cNvPicPr>
          <p:nvPr/>
        </p:nvPicPr>
        <p:blipFill>
          <a:blip r:embed="rId2"/>
          <a:srcRect t="238" b="6495"/>
          <a:stretch/>
        </p:blipFill>
        <p:spPr>
          <a:xfrm>
            <a:off x="513907" y="2230543"/>
            <a:ext cx="6317511" cy="3695137"/>
          </a:xfrm>
          <a:prstGeom prst="rect">
            <a:avLst/>
          </a:prstGeom>
        </p:spPr>
      </p:pic>
      <p:pic>
        <p:nvPicPr>
          <p:cNvPr id="5" name="Picture 4" descr="A pie chart with a yellow triangle and a blue circle&#10;&#10;Description automatically generated">
            <a:extLst>
              <a:ext uri="{FF2B5EF4-FFF2-40B4-BE49-F238E27FC236}">
                <a16:creationId xmlns:a16="http://schemas.microsoft.com/office/drawing/2014/main" id="{8A956E5F-012F-CC88-85BA-9261CBB6BE69}"/>
              </a:ext>
            </a:extLst>
          </p:cNvPr>
          <p:cNvPicPr>
            <a:picLocks noChangeAspect="1"/>
          </p:cNvPicPr>
          <p:nvPr/>
        </p:nvPicPr>
        <p:blipFill>
          <a:blip r:embed="rId3"/>
          <a:stretch>
            <a:fillRect/>
          </a:stretch>
        </p:blipFill>
        <p:spPr>
          <a:xfrm>
            <a:off x="7486243" y="2231065"/>
            <a:ext cx="4121816" cy="3698359"/>
          </a:xfrm>
          <a:prstGeom prst="rect">
            <a:avLst/>
          </a:prstGeom>
        </p:spPr>
      </p:pic>
    </p:spTree>
    <p:extLst>
      <p:ext uri="{BB962C8B-B14F-4D97-AF65-F5344CB8AC3E}">
        <p14:creationId xmlns:p14="http://schemas.microsoft.com/office/powerpoint/2010/main" val="1942875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429936-3E32-9FFC-D13F-769C3DA3B069}"/>
              </a:ext>
            </a:extLst>
          </p:cNvPr>
          <p:cNvSpPr/>
          <p:nvPr/>
        </p:nvSpPr>
        <p:spPr>
          <a:xfrm>
            <a:off x="9654631" y="-1"/>
            <a:ext cx="2537615" cy="6856292"/>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051037DC-71BB-AEE9-DE64-FF07C65AC6B5}"/>
              </a:ext>
            </a:extLst>
          </p:cNvPr>
          <p:cNvGrpSpPr/>
          <p:nvPr/>
        </p:nvGrpSpPr>
        <p:grpSpPr>
          <a:xfrm>
            <a:off x="9936303" y="-765885"/>
            <a:ext cx="3168650" cy="3543541"/>
            <a:chOff x="926333" y="909663"/>
            <a:chExt cx="4509235" cy="5042732"/>
          </a:xfrm>
          <a:noFill/>
        </p:grpSpPr>
        <p:sp>
          <p:nvSpPr>
            <p:cNvPr id="6" name="Freeform: Shape 5">
              <a:extLst>
                <a:ext uri="{FF2B5EF4-FFF2-40B4-BE49-F238E27FC236}">
                  <a16:creationId xmlns:a16="http://schemas.microsoft.com/office/drawing/2014/main" id="{D86F565C-FE78-FADD-7AA3-E0EA60B08828}"/>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tx1">
                  <a:lumMod val="75000"/>
                  <a:lumOff val="25000"/>
                </a:schemeClr>
              </a:solid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B6ECA9BB-1A57-F365-8A2A-6464FE9EAA87}"/>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tx1">
                  <a:lumMod val="75000"/>
                  <a:lumOff val="25000"/>
                </a:schemeClr>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ECB2A714-5BC5-499F-97F8-1CDD67108F50}"/>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tx1">
                  <a:lumMod val="75000"/>
                  <a:lumOff val="25000"/>
                </a:schemeClr>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E81D759-770B-7BDC-A377-2C251A79E8D6}"/>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tx1">
                  <a:lumMod val="75000"/>
                  <a:lumOff val="25000"/>
                </a:schemeClr>
              </a:solid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28EB63C0-8AB4-BDEC-90EF-51C0EDB982AC}"/>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tx1">
                  <a:lumMod val="75000"/>
                  <a:lumOff val="25000"/>
                </a:schemeClr>
              </a:solid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4402D744-09A0-C01F-E541-E334439CA6D7}"/>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tx1">
                  <a:lumMod val="75000"/>
                  <a:lumOff val="25000"/>
                </a:schemeClr>
              </a:solidFill>
              <a:prstDash val="solid"/>
              <a:miter/>
            </a:ln>
          </p:spPr>
          <p:txBody>
            <a:bodyPr rtlCol="0" anchor="ctr"/>
            <a:lstStyle/>
            <a:p>
              <a:endParaRPr lang="en-IN"/>
            </a:p>
          </p:txBody>
        </p:sp>
      </p:grpSp>
      <p:sp>
        <p:nvSpPr>
          <p:cNvPr id="2" name="TextBox 1">
            <a:extLst>
              <a:ext uri="{FF2B5EF4-FFF2-40B4-BE49-F238E27FC236}">
                <a16:creationId xmlns:a16="http://schemas.microsoft.com/office/drawing/2014/main" id="{39123607-DD38-B547-3C74-CB18A5B8879A}"/>
              </a:ext>
            </a:extLst>
          </p:cNvPr>
          <p:cNvSpPr txBox="1"/>
          <p:nvPr/>
        </p:nvSpPr>
        <p:spPr>
          <a:xfrm>
            <a:off x="510451" y="421551"/>
            <a:ext cx="6314337" cy="584775"/>
          </a:xfrm>
          <a:prstGeom prst="rect">
            <a:avLst/>
          </a:prstGeom>
          <a:noFill/>
        </p:spPr>
        <p:txBody>
          <a:bodyPr wrap="square" lIns="91440" tIns="45720" rIns="91440" bIns="45720" rtlCol="0" anchor="t">
            <a:spAutoFit/>
          </a:bodyPr>
          <a:lstStyle/>
          <a:p>
            <a:r>
              <a:rPr lang="en-US" sz="3200" b="1" i="1" dirty="0"/>
              <a:t>Risks and Mitigation</a:t>
            </a:r>
            <a:endParaRPr lang="en-US" dirty="0"/>
          </a:p>
        </p:txBody>
      </p:sp>
      <p:pic>
        <p:nvPicPr>
          <p:cNvPr id="4" name="Picture 3">
            <a:extLst>
              <a:ext uri="{FF2B5EF4-FFF2-40B4-BE49-F238E27FC236}">
                <a16:creationId xmlns:a16="http://schemas.microsoft.com/office/drawing/2014/main" id="{E547598D-80E5-B603-C799-DD4C7856F7E0}"/>
              </a:ext>
            </a:extLst>
          </p:cNvPr>
          <p:cNvPicPr>
            <a:picLocks noChangeAspect="1"/>
          </p:cNvPicPr>
          <p:nvPr/>
        </p:nvPicPr>
        <p:blipFill>
          <a:blip r:embed="rId2"/>
          <a:stretch>
            <a:fillRect/>
          </a:stretch>
        </p:blipFill>
        <p:spPr>
          <a:xfrm>
            <a:off x="386827" y="1330020"/>
            <a:ext cx="9266831" cy="4536818"/>
          </a:xfrm>
          <a:prstGeom prst="rect">
            <a:avLst/>
          </a:prstGeom>
          <a:ln>
            <a:solidFill>
              <a:schemeClr val="bg1"/>
            </a:solidFill>
          </a:ln>
        </p:spPr>
      </p:pic>
      <p:sp>
        <p:nvSpPr>
          <p:cNvPr id="3" name="TextBox 2">
            <a:extLst>
              <a:ext uri="{FF2B5EF4-FFF2-40B4-BE49-F238E27FC236}">
                <a16:creationId xmlns:a16="http://schemas.microsoft.com/office/drawing/2014/main" id="{09CB51BB-A55D-4D41-38DC-807B4014E04C}"/>
              </a:ext>
            </a:extLst>
          </p:cNvPr>
          <p:cNvSpPr txBox="1"/>
          <p:nvPr/>
        </p:nvSpPr>
        <p:spPr>
          <a:xfrm>
            <a:off x="4268495" y="5842141"/>
            <a:ext cx="1209804" cy="369332"/>
          </a:xfrm>
          <a:prstGeom prst="rect">
            <a:avLst/>
          </a:prstGeom>
          <a:noFill/>
        </p:spPr>
        <p:txBody>
          <a:bodyPr wrap="square" lIns="91440" tIns="45720" rIns="91440" bIns="45720" rtlCol="0" anchor="t">
            <a:spAutoFit/>
          </a:bodyPr>
          <a:lstStyle/>
          <a:p>
            <a:r>
              <a:rPr lang="en-US" b="1"/>
              <a:t>Likelihood</a:t>
            </a:r>
            <a:endParaRPr lang="en-US">
              <a:ea typeface="Calibri"/>
              <a:cs typeface="Calibri"/>
            </a:endParaRPr>
          </a:p>
        </p:txBody>
      </p:sp>
      <p:sp>
        <p:nvSpPr>
          <p:cNvPr id="12" name="TextBox 11">
            <a:extLst>
              <a:ext uri="{FF2B5EF4-FFF2-40B4-BE49-F238E27FC236}">
                <a16:creationId xmlns:a16="http://schemas.microsoft.com/office/drawing/2014/main" id="{0EE534B4-B2AE-18BB-1D3F-4F4811D4C12B}"/>
              </a:ext>
            </a:extLst>
          </p:cNvPr>
          <p:cNvSpPr txBox="1"/>
          <p:nvPr/>
        </p:nvSpPr>
        <p:spPr>
          <a:xfrm rot="16200000">
            <a:off x="-489675" y="3110197"/>
            <a:ext cx="1421951" cy="369332"/>
          </a:xfrm>
          <a:prstGeom prst="rect">
            <a:avLst/>
          </a:prstGeom>
          <a:noFill/>
        </p:spPr>
        <p:txBody>
          <a:bodyPr wrap="square" lIns="91440" tIns="45720" rIns="91440" bIns="45720" rtlCol="0" anchor="t">
            <a:spAutoFit/>
          </a:bodyPr>
          <a:lstStyle/>
          <a:p>
            <a:r>
              <a:rPr lang="en-US" b="1" dirty="0"/>
              <a:t>Impact</a:t>
            </a:r>
            <a:endParaRPr lang="en-US" dirty="0">
              <a:ea typeface="Calibri"/>
              <a:cs typeface="Calibri"/>
            </a:endParaRPr>
          </a:p>
        </p:txBody>
      </p:sp>
    </p:spTree>
    <p:extLst>
      <p:ext uri="{BB962C8B-B14F-4D97-AF65-F5344CB8AC3E}">
        <p14:creationId xmlns:p14="http://schemas.microsoft.com/office/powerpoint/2010/main" val="2261407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4D3FF6-29F8-5A22-FF0A-66B1670125C8}"/>
              </a:ext>
            </a:extLst>
          </p:cNvPr>
          <p:cNvSpPr/>
          <p:nvPr/>
        </p:nvSpPr>
        <p:spPr>
          <a:xfrm>
            <a:off x="1733" y="3593522"/>
            <a:ext cx="12195674" cy="3266210"/>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70A71656-E67F-4B9F-3FDB-CFF85155BF9A}"/>
              </a:ext>
            </a:extLst>
          </p:cNvPr>
          <p:cNvGrpSpPr/>
          <p:nvPr/>
        </p:nvGrpSpPr>
        <p:grpSpPr>
          <a:xfrm>
            <a:off x="7354453" y="3837863"/>
            <a:ext cx="2359024" cy="2777212"/>
            <a:chOff x="926333" y="909663"/>
            <a:chExt cx="4509235" cy="5042732"/>
          </a:xfrm>
          <a:noFill/>
        </p:grpSpPr>
        <p:sp>
          <p:nvSpPr>
            <p:cNvPr id="10" name="Freeform: Shape 9">
              <a:extLst>
                <a:ext uri="{FF2B5EF4-FFF2-40B4-BE49-F238E27FC236}">
                  <a16:creationId xmlns:a16="http://schemas.microsoft.com/office/drawing/2014/main" id="{49E8E5F0-BEBC-72D1-5E7E-F90CB3285C78}"/>
                </a:ext>
              </a:extLst>
            </p:cNvPr>
            <p:cNvSpPr/>
            <p:nvPr/>
          </p:nvSpPr>
          <p:spPr>
            <a:xfrm>
              <a:off x="2832217" y="909663"/>
              <a:ext cx="695969" cy="1701014"/>
            </a:xfrm>
            <a:custGeom>
              <a:avLst/>
              <a:gdLst>
                <a:gd name="connsiteX0" fmla="*/ 348656 w 695969"/>
                <a:gd name="connsiteY0" fmla="*/ 164 h 1701014"/>
                <a:gd name="connsiteX1" fmla="*/ 693842 w 695969"/>
                <a:gd name="connsiteY1" fmla="*/ 278485 h 1701014"/>
                <a:gd name="connsiteX2" fmla="*/ 632501 w 695969"/>
                <a:gd name="connsiteY2" fmla="*/ 950950 h 1701014"/>
                <a:gd name="connsiteX3" fmla="*/ 601068 w 695969"/>
                <a:gd name="connsiteY3" fmla="*/ 1316900 h 1701014"/>
                <a:gd name="connsiteX4" fmla="*/ 512676 w 695969"/>
                <a:gd name="connsiteY4" fmla="*/ 1653609 h 1701014"/>
                <a:gd name="connsiteX5" fmla="*/ 176634 w 695969"/>
                <a:gd name="connsiteY5" fmla="*/ 1649418 h 1701014"/>
                <a:gd name="connsiteX6" fmla="*/ 81956 w 695969"/>
                <a:gd name="connsiteY6" fmla="*/ 1170882 h 1701014"/>
                <a:gd name="connsiteX7" fmla="*/ 10804 w 695969"/>
                <a:gd name="connsiteY7" fmla="*/ 365448 h 1701014"/>
                <a:gd name="connsiteX8" fmla="*/ 3089 w 695969"/>
                <a:gd name="connsiteY8" fmla="*/ 279913 h 1701014"/>
                <a:gd name="connsiteX9" fmla="*/ 348656 w 695969"/>
                <a:gd name="connsiteY9" fmla="*/ 164 h 17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5969" h="1701014">
                  <a:moveTo>
                    <a:pt x="348656" y="164"/>
                  </a:moveTo>
                  <a:cubicBezTo>
                    <a:pt x="506676" y="-3360"/>
                    <a:pt x="719560" y="89985"/>
                    <a:pt x="693842" y="278485"/>
                  </a:cubicBezTo>
                  <a:cubicBezTo>
                    <a:pt x="670696" y="502322"/>
                    <a:pt x="653837" y="726922"/>
                    <a:pt x="632501" y="950950"/>
                  </a:cubicBezTo>
                  <a:cubicBezTo>
                    <a:pt x="621738" y="1072870"/>
                    <a:pt x="611546" y="1194885"/>
                    <a:pt x="601068" y="1316900"/>
                  </a:cubicBezTo>
                  <a:cubicBezTo>
                    <a:pt x="578780" y="1428724"/>
                    <a:pt x="619166" y="1579505"/>
                    <a:pt x="512676" y="1653609"/>
                  </a:cubicBezTo>
                  <a:cubicBezTo>
                    <a:pt x="421427" y="1718665"/>
                    <a:pt x="266836" y="1716284"/>
                    <a:pt x="176634" y="1649418"/>
                  </a:cubicBezTo>
                  <a:cubicBezTo>
                    <a:pt x="74431" y="1585981"/>
                    <a:pt x="107673" y="1293373"/>
                    <a:pt x="81956" y="1170882"/>
                  </a:cubicBezTo>
                  <a:cubicBezTo>
                    <a:pt x="57572" y="902467"/>
                    <a:pt x="33093" y="634053"/>
                    <a:pt x="10804" y="365448"/>
                  </a:cubicBezTo>
                  <a:cubicBezTo>
                    <a:pt x="8328" y="336873"/>
                    <a:pt x="8042" y="308012"/>
                    <a:pt x="3089" y="279913"/>
                  </a:cubicBezTo>
                  <a:cubicBezTo>
                    <a:pt x="-28629" y="90366"/>
                    <a:pt x="190731" y="-4503"/>
                    <a:pt x="348656" y="164"/>
                  </a:cubicBezTo>
                  <a:close/>
                </a:path>
              </a:pathLst>
            </a:custGeom>
            <a:grpFill/>
            <a:ln w="12700" cap="flat">
              <a:solidFill>
                <a:schemeClr val="bg2">
                  <a:lumMod val="25000"/>
                </a:schemeClr>
              </a:solidFill>
              <a:prstDash val="solid"/>
              <a:miter/>
            </a:ln>
          </p:spPr>
          <p:txBody>
            <a:bodyPr rtlCol="0" anchor="ctr"/>
            <a:lstStyle/>
            <a:p>
              <a:endParaRPr lang="en-IN">
                <a:solidFill>
                  <a:srgbClr val="FFFF00"/>
                </a:solidFill>
                <a:highlight>
                  <a:srgbClr val="FFFF00"/>
                </a:highlight>
              </a:endParaRPr>
            </a:p>
          </p:txBody>
        </p:sp>
        <p:sp>
          <p:nvSpPr>
            <p:cNvPr id="11" name="Freeform: Shape 10">
              <a:extLst>
                <a:ext uri="{FF2B5EF4-FFF2-40B4-BE49-F238E27FC236}">
                  <a16:creationId xmlns:a16="http://schemas.microsoft.com/office/drawing/2014/main" id="{69353B35-51AF-2A46-F362-EBE704561DBC}"/>
                </a:ext>
              </a:extLst>
            </p:cNvPr>
            <p:cNvSpPr/>
            <p:nvPr/>
          </p:nvSpPr>
          <p:spPr>
            <a:xfrm>
              <a:off x="2832410" y="4251619"/>
              <a:ext cx="695729" cy="1700776"/>
            </a:xfrm>
            <a:custGeom>
              <a:avLst/>
              <a:gdLst>
                <a:gd name="connsiteX0" fmla="*/ 343700 w 695729"/>
                <a:gd name="connsiteY0" fmla="*/ 1700458 h 1700776"/>
                <a:gd name="connsiteX1" fmla="*/ 2229 w 695729"/>
                <a:gd name="connsiteY1" fmla="*/ 1422137 h 1700776"/>
                <a:gd name="connsiteX2" fmla="*/ 62427 w 695729"/>
                <a:gd name="connsiteY2" fmla="*/ 752720 h 1700776"/>
                <a:gd name="connsiteX3" fmla="*/ 87954 w 695729"/>
                <a:gd name="connsiteY3" fmla="*/ 463636 h 1700776"/>
                <a:gd name="connsiteX4" fmla="*/ 177679 w 695729"/>
                <a:gd name="connsiteY4" fmla="*/ 50727 h 1700776"/>
                <a:gd name="connsiteX5" fmla="*/ 542487 w 695729"/>
                <a:gd name="connsiteY5" fmla="*/ 74254 h 1700776"/>
                <a:gd name="connsiteX6" fmla="*/ 619449 w 695729"/>
                <a:gd name="connsiteY6" fmla="*/ 598225 h 1700776"/>
                <a:gd name="connsiteX7" fmla="*/ 695458 w 695729"/>
                <a:gd name="connsiteY7" fmla="*/ 1444711 h 1700776"/>
                <a:gd name="connsiteX8" fmla="*/ 343795 w 695729"/>
                <a:gd name="connsiteY8" fmla="*/ 1700648 h 170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729" h="1700776">
                  <a:moveTo>
                    <a:pt x="343700" y="1700458"/>
                  </a:moveTo>
                  <a:cubicBezTo>
                    <a:pt x="186252" y="1703506"/>
                    <a:pt x="-23965" y="1609399"/>
                    <a:pt x="2229" y="1422137"/>
                  </a:cubicBezTo>
                  <a:cubicBezTo>
                    <a:pt x="25755" y="1199442"/>
                    <a:pt x="40710" y="975605"/>
                    <a:pt x="62427" y="752720"/>
                  </a:cubicBezTo>
                  <a:cubicBezTo>
                    <a:pt x="70999" y="656327"/>
                    <a:pt x="79572" y="560029"/>
                    <a:pt x="87954" y="463636"/>
                  </a:cubicBezTo>
                  <a:cubicBezTo>
                    <a:pt x="113766" y="341430"/>
                    <a:pt x="71666" y="127880"/>
                    <a:pt x="177679" y="50727"/>
                  </a:cubicBezTo>
                  <a:cubicBezTo>
                    <a:pt x="281692" y="-25663"/>
                    <a:pt x="454666" y="-14138"/>
                    <a:pt x="542487" y="74254"/>
                  </a:cubicBezTo>
                  <a:cubicBezTo>
                    <a:pt x="617734" y="165218"/>
                    <a:pt x="593160" y="465160"/>
                    <a:pt x="619449" y="598225"/>
                  </a:cubicBezTo>
                  <a:cubicBezTo>
                    <a:pt x="644404" y="880450"/>
                    <a:pt x="671931" y="1162390"/>
                    <a:pt x="695458" y="1444711"/>
                  </a:cubicBezTo>
                  <a:cubicBezTo>
                    <a:pt x="704316" y="1623686"/>
                    <a:pt x="494766" y="1704458"/>
                    <a:pt x="343795" y="1700648"/>
                  </a:cubicBezTo>
                  <a:close/>
                </a:path>
              </a:pathLst>
            </a:custGeom>
            <a:grpFill/>
            <a:ln w="12700" cap="flat">
              <a:solidFill>
                <a:schemeClr val="bg2">
                  <a:lumMod val="25000"/>
                </a:schemeClr>
              </a:solidFill>
              <a:prstDash val="solid"/>
              <a:miter/>
            </a:ln>
          </p:spPr>
          <p:txBody>
            <a:bodyPr rtlCol="0" anchor="ctr"/>
            <a:lstStyle/>
            <a:p>
              <a:endParaRPr lang="en-IN">
                <a:solidFill>
                  <a:srgbClr val="FFFF00"/>
                </a:solidFill>
                <a:highlight>
                  <a:srgbClr val="FFFF00"/>
                </a:highlight>
              </a:endParaRPr>
            </a:p>
          </p:txBody>
        </p:sp>
        <p:sp>
          <p:nvSpPr>
            <p:cNvPr id="12" name="Freeform: Shape 11">
              <a:extLst>
                <a:ext uri="{FF2B5EF4-FFF2-40B4-BE49-F238E27FC236}">
                  <a16:creationId xmlns:a16="http://schemas.microsoft.com/office/drawing/2014/main" id="{8702E79B-7E39-806F-DCC6-10FDA7365DCA}"/>
                </a:ext>
              </a:extLst>
            </p:cNvPr>
            <p:cNvSpPr/>
            <p:nvPr/>
          </p:nvSpPr>
          <p:spPr>
            <a:xfrm>
              <a:off x="3850972" y="3707238"/>
              <a:ext cx="1582766" cy="1185860"/>
            </a:xfrm>
            <a:custGeom>
              <a:avLst/>
              <a:gdLst>
                <a:gd name="connsiteX0" fmla="*/ 1582658 w 1582766"/>
                <a:gd name="connsiteY0" fmla="*/ 766463 h 1185860"/>
                <a:gd name="connsiteX1" fmla="*/ 1111742 w 1582766"/>
                <a:gd name="connsiteY1" fmla="*/ 1147940 h 1185860"/>
                <a:gd name="connsiteX2" fmla="*/ 83423 w 1582766"/>
                <a:gd name="connsiteY2" fmla="*/ 429755 h 1185860"/>
                <a:gd name="connsiteX3" fmla="*/ 301069 w 1582766"/>
                <a:gd name="connsiteY3" fmla="*/ 14084 h 1185860"/>
                <a:gd name="connsiteX4" fmla="*/ 1441688 w 1582766"/>
                <a:gd name="connsiteY4" fmla="*/ 542531 h 1185860"/>
                <a:gd name="connsiteX5" fmla="*/ 1582753 w 1582766"/>
                <a:gd name="connsiteY5" fmla="*/ 766559 h 118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766" h="1185860">
                  <a:moveTo>
                    <a:pt x="1582658" y="766463"/>
                  </a:moveTo>
                  <a:cubicBezTo>
                    <a:pt x="1585230" y="994587"/>
                    <a:pt x="1337580" y="1292148"/>
                    <a:pt x="1111742" y="1147940"/>
                  </a:cubicBezTo>
                  <a:cubicBezTo>
                    <a:pt x="769128" y="908481"/>
                    <a:pt x="427180" y="667118"/>
                    <a:pt x="83423" y="429755"/>
                  </a:cubicBezTo>
                  <a:cubicBezTo>
                    <a:pt x="-122603" y="308787"/>
                    <a:pt x="92567" y="-78214"/>
                    <a:pt x="301069" y="14084"/>
                  </a:cubicBezTo>
                  <a:cubicBezTo>
                    <a:pt x="681498" y="189629"/>
                    <a:pt x="1059831" y="370319"/>
                    <a:pt x="1441688" y="542531"/>
                  </a:cubicBezTo>
                  <a:cubicBezTo>
                    <a:pt x="1543606" y="584060"/>
                    <a:pt x="1583610" y="661784"/>
                    <a:pt x="1582753" y="766559"/>
                  </a:cubicBezTo>
                  <a:close/>
                </a:path>
              </a:pathLst>
            </a:custGeom>
            <a:grpFill/>
            <a:ln w="12700" cap="flat">
              <a:solidFill>
                <a:schemeClr val="bg2">
                  <a:lumMod val="25000"/>
                </a:schemeClr>
              </a:solidFill>
              <a:prstDash val="solid"/>
              <a:miter/>
            </a:ln>
          </p:spPr>
          <p:txBody>
            <a:bodyPr rtlCol="0" anchor="ctr"/>
            <a:lstStyle/>
            <a:p>
              <a:endParaRPr lang="en-IN">
                <a:solidFill>
                  <a:srgbClr val="FFFF00"/>
                </a:solidFill>
                <a:highlight>
                  <a:srgbClr val="FFFF00"/>
                </a:highlight>
              </a:endParaRPr>
            </a:p>
          </p:txBody>
        </p:sp>
        <p:sp>
          <p:nvSpPr>
            <p:cNvPr id="13" name="Freeform: Shape 12">
              <a:extLst>
                <a:ext uri="{FF2B5EF4-FFF2-40B4-BE49-F238E27FC236}">
                  <a16:creationId xmlns:a16="http://schemas.microsoft.com/office/drawing/2014/main" id="{A57F067D-784A-7D38-E7BC-DB521A1AFF59}"/>
                </a:ext>
              </a:extLst>
            </p:cNvPr>
            <p:cNvSpPr/>
            <p:nvPr/>
          </p:nvSpPr>
          <p:spPr>
            <a:xfrm>
              <a:off x="926566" y="3705695"/>
              <a:ext cx="1581715" cy="1188717"/>
            </a:xfrm>
            <a:custGeom>
              <a:avLst/>
              <a:gdLst>
                <a:gd name="connsiteX0" fmla="*/ 25 w 1581715"/>
                <a:gd name="connsiteY0" fmla="*/ 803248 h 1188717"/>
                <a:gd name="connsiteX1" fmla="*/ 105467 w 1581715"/>
                <a:gd name="connsiteY1" fmla="*/ 562265 h 1188717"/>
                <a:gd name="connsiteX2" fmla="*/ 1183601 w 1581715"/>
                <a:gd name="connsiteY2" fmla="*/ 61441 h 1188717"/>
                <a:gd name="connsiteX3" fmla="*/ 1403438 w 1581715"/>
                <a:gd name="connsiteY3" fmla="*/ 11149 h 1188717"/>
                <a:gd name="connsiteX4" fmla="*/ 1569554 w 1581715"/>
                <a:gd name="connsiteY4" fmla="*/ 349572 h 1188717"/>
                <a:gd name="connsiteX5" fmla="*/ 464178 w 1581715"/>
                <a:gd name="connsiteY5" fmla="*/ 1153578 h 1188717"/>
                <a:gd name="connsiteX6" fmla="*/ 25 w 1581715"/>
                <a:gd name="connsiteY6" fmla="*/ 803248 h 118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1715" h="1188717">
                  <a:moveTo>
                    <a:pt x="25" y="803248"/>
                  </a:moveTo>
                  <a:cubicBezTo>
                    <a:pt x="-832" y="681614"/>
                    <a:pt x="20218" y="610462"/>
                    <a:pt x="105467" y="562265"/>
                  </a:cubicBezTo>
                  <a:cubicBezTo>
                    <a:pt x="464654" y="394911"/>
                    <a:pt x="824318" y="228605"/>
                    <a:pt x="1183601" y="61441"/>
                  </a:cubicBezTo>
                  <a:cubicBezTo>
                    <a:pt x="1254277" y="32295"/>
                    <a:pt x="1324667" y="-23903"/>
                    <a:pt x="1403438" y="11149"/>
                  </a:cubicBezTo>
                  <a:cubicBezTo>
                    <a:pt x="1528121" y="57250"/>
                    <a:pt x="1614798" y="230414"/>
                    <a:pt x="1569554" y="349572"/>
                  </a:cubicBezTo>
                  <a:cubicBezTo>
                    <a:pt x="1246657" y="658944"/>
                    <a:pt x="822223" y="877162"/>
                    <a:pt x="464178" y="1153578"/>
                  </a:cubicBezTo>
                  <a:cubicBezTo>
                    <a:pt x="243960" y="1292833"/>
                    <a:pt x="2882" y="985461"/>
                    <a:pt x="25" y="803248"/>
                  </a:cubicBezTo>
                  <a:close/>
                </a:path>
              </a:pathLst>
            </a:custGeom>
            <a:grpFill/>
            <a:ln w="12700" cap="flat">
              <a:solidFill>
                <a:schemeClr val="bg2">
                  <a:lumMod val="25000"/>
                </a:schemeClr>
              </a:solidFill>
              <a:prstDash val="solid"/>
              <a:miter/>
            </a:ln>
          </p:spPr>
          <p:txBody>
            <a:bodyPr rtlCol="0" anchor="ctr"/>
            <a:lstStyle/>
            <a:p>
              <a:endParaRPr lang="en-IN">
                <a:solidFill>
                  <a:srgbClr val="FFFF00"/>
                </a:solidFill>
                <a:highlight>
                  <a:srgbClr val="FFFF00"/>
                </a:highlight>
              </a:endParaRPr>
            </a:p>
          </p:txBody>
        </p:sp>
        <p:sp>
          <p:nvSpPr>
            <p:cNvPr id="15" name="Freeform: Shape 14">
              <a:extLst>
                <a:ext uri="{FF2B5EF4-FFF2-40B4-BE49-F238E27FC236}">
                  <a16:creationId xmlns:a16="http://schemas.microsoft.com/office/drawing/2014/main" id="{FCC921D7-D2A6-6837-A8FF-B2C0C61DF416}"/>
                </a:ext>
              </a:extLst>
            </p:cNvPr>
            <p:cNvSpPr/>
            <p:nvPr/>
          </p:nvSpPr>
          <p:spPr>
            <a:xfrm>
              <a:off x="926333" y="1968827"/>
              <a:ext cx="1582872" cy="1186083"/>
            </a:xfrm>
            <a:custGeom>
              <a:avLst/>
              <a:gdLst>
                <a:gd name="connsiteX0" fmla="*/ 68 w 1582872"/>
                <a:gd name="connsiteY0" fmla="*/ 416613 h 1186083"/>
                <a:gd name="connsiteX1" fmla="*/ 467555 w 1582872"/>
                <a:gd name="connsiteY1" fmla="*/ 36661 h 1186083"/>
                <a:gd name="connsiteX2" fmla="*/ 1503018 w 1582872"/>
                <a:gd name="connsiteY2" fmla="*/ 759894 h 1186083"/>
                <a:gd name="connsiteX3" fmla="*/ 1284419 w 1582872"/>
                <a:gd name="connsiteY3" fmla="*/ 1173279 h 1186083"/>
                <a:gd name="connsiteX4" fmla="*/ 125512 w 1582872"/>
                <a:gd name="connsiteY4" fmla="*/ 635498 h 1186083"/>
                <a:gd name="connsiteX5" fmla="*/ 68 w 1582872"/>
                <a:gd name="connsiteY5" fmla="*/ 416613 h 118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872" h="1186083">
                  <a:moveTo>
                    <a:pt x="68" y="416613"/>
                  </a:moveTo>
                  <a:cubicBezTo>
                    <a:pt x="-2123" y="192395"/>
                    <a:pt x="243717" y="-104595"/>
                    <a:pt x="467555" y="36661"/>
                  </a:cubicBezTo>
                  <a:cubicBezTo>
                    <a:pt x="812265" y="278215"/>
                    <a:pt x="1157355" y="519959"/>
                    <a:pt x="1503018" y="759894"/>
                  </a:cubicBezTo>
                  <a:cubicBezTo>
                    <a:pt x="1703043" y="880957"/>
                    <a:pt x="1488540" y="1260147"/>
                    <a:pt x="1284419" y="1173279"/>
                  </a:cubicBezTo>
                  <a:cubicBezTo>
                    <a:pt x="898085" y="994114"/>
                    <a:pt x="512703" y="812758"/>
                    <a:pt x="125512" y="635498"/>
                  </a:cubicBezTo>
                  <a:cubicBezTo>
                    <a:pt x="32453" y="595112"/>
                    <a:pt x="-1742" y="512149"/>
                    <a:pt x="68" y="416613"/>
                  </a:cubicBezTo>
                  <a:close/>
                </a:path>
              </a:pathLst>
            </a:custGeom>
            <a:grpFill/>
            <a:ln w="12700" cap="flat">
              <a:solidFill>
                <a:schemeClr val="bg2">
                  <a:lumMod val="25000"/>
                </a:schemeClr>
              </a:solidFill>
              <a:prstDash val="solid"/>
              <a:miter/>
            </a:ln>
          </p:spPr>
          <p:txBody>
            <a:bodyPr rtlCol="0" anchor="ctr"/>
            <a:lstStyle/>
            <a:p>
              <a:endParaRPr lang="en-IN">
                <a:solidFill>
                  <a:srgbClr val="FFFF00"/>
                </a:solidFill>
                <a:highlight>
                  <a:srgbClr val="FFFF00"/>
                </a:highlight>
              </a:endParaRPr>
            </a:p>
          </p:txBody>
        </p:sp>
        <p:sp>
          <p:nvSpPr>
            <p:cNvPr id="14" name="Freeform: Shape 13">
              <a:extLst>
                <a:ext uri="{FF2B5EF4-FFF2-40B4-BE49-F238E27FC236}">
                  <a16:creationId xmlns:a16="http://schemas.microsoft.com/office/drawing/2014/main" id="{4EE9B93A-D858-78EE-0D52-6D0961315C7D}"/>
                </a:ext>
              </a:extLst>
            </p:cNvPr>
            <p:cNvSpPr/>
            <p:nvPr/>
          </p:nvSpPr>
          <p:spPr>
            <a:xfrm>
              <a:off x="3850383" y="1969052"/>
              <a:ext cx="1585185" cy="1185753"/>
            </a:xfrm>
            <a:custGeom>
              <a:avLst/>
              <a:gdLst>
                <a:gd name="connsiteX0" fmla="*/ 1584867 w 1585185"/>
                <a:gd name="connsiteY0" fmla="*/ 419626 h 1185753"/>
                <a:gd name="connsiteX1" fmla="*/ 1432181 w 1585185"/>
                <a:gd name="connsiteY1" fmla="*/ 646893 h 1185753"/>
                <a:gd name="connsiteX2" fmla="*/ 294801 w 1585185"/>
                <a:gd name="connsiteY2" fmla="*/ 1174769 h 1185753"/>
                <a:gd name="connsiteX3" fmla="*/ 68773 w 1585185"/>
                <a:gd name="connsiteY3" fmla="*/ 767194 h 1185753"/>
                <a:gd name="connsiteX4" fmla="*/ 1106521 w 1585185"/>
                <a:gd name="connsiteY4" fmla="*/ 41960 h 1185753"/>
                <a:gd name="connsiteX5" fmla="*/ 1584867 w 1585185"/>
                <a:gd name="connsiteY5" fmla="*/ 419626 h 11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5185" h="1185753">
                  <a:moveTo>
                    <a:pt x="1584867" y="419626"/>
                  </a:moveTo>
                  <a:cubicBezTo>
                    <a:pt x="1590106" y="524497"/>
                    <a:pt x="1530384" y="611936"/>
                    <a:pt x="1432181" y="646893"/>
                  </a:cubicBezTo>
                  <a:cubicBezTo>
                    <a:pt x="1053372" y="823486"/>
                    <a:pt x="673896" y="998651"/>
                    <a:pt x="294801" y="1174769"/>
                  </a:cubicBezTo>
                  <a:cubicBezTo>
                    <a:pt x="91728" y="1252302"/>
                    <a:pt x="-109345" y="898544"/>
                    <a:pt x="68773" y="767194"/>
                  </a:cubicBezTo>
                  <a:cubicBezTo>
                    <a:pt x="414530" y="525354"/>
                    <a:pt x="762669" y="286467"/>
                    <a:pt x="1106521" y="41960"/>
                  </a:cubicBezTo>
                  <a:cubicBezTo>
                    <a:pt x="1344932" y="-113107"/>
                    <a:pt x="1580485" y="195218"/>
                    <a:pt x="1584867" y="419626"/>
                  </a:cubicBezTo>
                  <a:close/>
                </a:path>
              </a:pathLst>
            </a:custGeom>
            <a:grpFill/>
            <a:ln w="12700" cap="flat">
              <a:solidFill>
                <a:schemeClr val="bg2">
                  <a:lumMod val="25000"/>
                </a:schemeClr>
              </a:solidFill>
              <a:prstDash val="solid"/>
              <a:miter/>
            </a:ln>
          </p:spPr>
          <p:txBody>
            <a:bodyPr lIns="91440" tIns="45720" rIns="91440" bIns="45720" rtlCol="0" anchor="ctr"/>
            <a:lstStyle/>
            <a:p>
              <a:endParaRPr lang="en-IN">
                <a:solidFill>
                  <a:srgbClr val="FFFF00"/>
                </a:solidFill>
                <a:highlight>
                  <a:srgbClr val="FFFF00"/>
                </a:highlight>
              </a:endParaRPr>
            </a:p>
          </p:txBody>
        </p:sp>
      </p:grpSp>
      <p:sp>
        <p:nvSpPr>
          <p:cNvPr id="37" name="TextBox 36">
            <a:extLst>
              <a:ext uri="{FF2B5EF4-FFF2-40B4-BE49-F238E27FC236}">
                <a16:creationId xmlns:a16="http://schemas.microsoft.com/office/drawing/2014/main" id="{D22EF77B-7061-A3B8-303D-3C2A3D8BB90C}"/>
              </a:ext>
            </a:extLst>
          </p:cNvPr>
          <p:cNvSpPr txBox="1"/>
          <p:nvPr/>
        </p:nvSpPr>
        <p:spPr>
          <a:xfrm>
            <a:off x="566445" y="408929"/>
            <a:ext cx="6104382" cy="584775"/>
          </a:xfrm>
          <a:prstGeom prst="rect">
            <a:avLst/>
          </a:prstGeom>
          <a:noFill/>
        </p:spPr>
        <p:txBody>
          <a:bodyPr wrap="square" lIns="91440" tIns="45720" rIns="91440" bIns="45720" rtlCol="0" anchor="t">
            <a:spAutoFit/>
          </a:bodyPr>
          <a:lstStyle/>
          <a:p>
            <a:r>
              <a:rPr lang="en-US" sz="3200" b="1" i="1" dirty="0">
                <a:solidFill>
                  <a:srgbClr val="FFBB29"/>
                </a:solidFill>
              </a:rPr>
              <a:t>Conclusion</a:t>
            </a:r>
            <a:endParaRPr lang="en-US" sz="3200" b="1" i="1" dirty="0">
              <a:solidFill>
                <a:srgbClr val="FFBB29"/>
              </a:solidFill>
              <a:ea typeface="Calibri"/>
              <a:cs typeface="Calibri"/>
            </a:endParaRPr>
          </a:p>
        </p:txBody>
      </p:sp>
      <p:sp>
        <p:nvSpPr>
          <p:cNvPr id="16" name="Content Placeholder 15">
            <a:extLst>
              <a:ext uri="{FF2B5EF4-FFF2-40B4-BE49-F238E27FC236}">
                <a16:creationId xmlns:a16="http://schemas.microsoft.com/office/drawing/2014/main" id="{AB620E90-00F2-3D89-20ED-191EDC3F6A0E}"/>
              </a:ext>
            </a:extLst>
          </p:cNvPr>
          <p:cNvSpPr>
            <a:spLocks noGrp="1"/>
          </p:cNvSpPr>
          <p:nvPr>
            <p:ph idx="1"/>
          </p:nvPr>
        </p:nvSpPr>
        <p:spPr>
          <a:xfrm>
            <a:off x="452871" y="1163205"/>
            <a:ext cx="6536748" cy="2091315"/>
          </a:xfrm>
        </p:spPr>
        <p:txBody>
          <a:bodyPr vert="horz" lIns="91440" tIns="45720" rIns="91440" bIns="45720" rtlCol="0" anchor="t">
            <a:normAutofit/>
          </a:bodyPr>
          <a:lstStyle/>
          <a:p>
            <a:pPr marL="0" indent="0">
              <a:buNone/>
            </a:pPr>
            <a:r>
              <a:rPr lang="en-US" sz="2400" dirty="0">
                <a:ea typeface="+mn-lt"/>
                <a:cs typeface="+mn-lt"/>
              </a:rPr>
              <a:t>Revolutionizing the in-store shopping experience:</a:t>
            </a:r>
          </a:p>
          <a:p>
            <a:r>
              <a:rPr lang="en-US" sz="2400" dirty="0">
                <a:ea typeface="+mn-lt"/>
                <a:cs typeface="+mn-lt"/>
              </a:rPr>
              <a:t>Enhanced Customer Experience</a:t>
            </a:r>
            <a:endParaRPr lang="en-US" sz="2400" dirty="0">
              <a:ea typeface="Calibri" panose="020F0502020204030204"/>
              <a:cs typeface="Calibri" panose="020F0502020204030204"/>
            </a:endParaRPr>
          </a:p>
          <a:p>
            <a:r>
              <a:rPr lang="en-US" sz="2400" dirty="0">
                <a:ea typeface="+mn-lt"/>
                <a:cs typeface="+mn-lt"/>
              </a:rPr>
              <a:t>Operational Efficiency</a:t>
            </a:r>
          </a:p>
          <a:p>
            <a:r>
              <a:rPr lang="en-US" sz="2400" dirty="0">
                <a:ea typeface="+mn-lt"/>
                <a:cs typeface="+mn-lt"/>
              </a:rPr>
              <a:t>Revenue Growth &amp; Return on Investment</a:t>
            </a:r>
            <a:endParaRPr lang="en-US" sz="2400" dirty="0">
              <a:ea typeface="Calibri"/>
              <a:cs typeface="Calibri"/>
            </a:endParaRPr>
          </a:p>
        </p:txBody>
      </p:sp>
      <p:pic>
        <p:nvPicPr>
          <p:cNvPr id="22" name="Picture 21" descr="Walmart (WMT) Takes On Amazon With E-Commerce Site for Small Businesses ...">
            <a:extLst>
              <a:ext uri="{FF2B5EF4-FFF2-40B4-BE49-F238E27FC236}">
                <a16:creationId xmlns:a16="http://schemas.microsoft.com/office/drawing/2014/main" id="{1C8A5AFB-A796-01C2-FEE2-3E6E761C5863}"/>
              </a:ext>
            </a:extLst>
          </p:cNvPr>
          <p:cNvPicPr>
            <a:picLocks noChangeAspect="1"/>
          </p:cNvPicPr>
          <p:nvPr/>
        </p:nvPicPr>
        <p:blipFill>
          <a:blip r:embed="rId2"/>
          <a:stretch>
            <a:fillRect/>
          </a:stretch>
        </p:blipFill>
        <p:spPr>
          <a:xfrm>
            <a:off x="866" y="3594514"/>
            <a:ext cx="5586118" cy="3258165"/>
          </a:xfrm>
          <a:prstGeom prst="rect">
            <a:avLst/>
          </a:prstGeom>
        </p:spPr>
      </p:pic>
      <p:pic>
        <p:nvPicPr>
          <p:cNvPr id="23" name="Picture 22" descr="Walmart Grocery Aisle">
            <a:extLst>
              <a:ext uri="{FF2B5EF4-FFF2-40B4-BE49-F238E27FC236}">
                <a16:creationId xmlns:a16="http://schemas.microsoft.com/office/drawing/2014/main" id="{C5EC586F-433E-1A19-FEFF-015BFABBA924}"/>
              </a:ext>
            </a:extLst>
          </p:cNvPr>
          <p:cNvPicPr>
            <a:picLocks noChangeAspect="1"/>
          </p:cNvPicPr>
          <p:nvPr/>
        </p:nvPicPr>
        <p:blipFill>
          <a:blip r:embed="rId3"/>
          <a:srcRect r="8349" b="95"/>
          <a:stretch/>
        </p:blipFill>
        <p:spPr>
          <a:xfrm>
            <a:off x="7235539" y="-636"/>
            <a:ext cx="4958524" cy="3600039"/>
          </a:xfrm>
          <a:prstGeom prst="rect">
            <a:avLst/>
          </a:prstGeom>
        </p:spPr>
      </p:pic>
    </p:spTree>
    <p:extLst>
      <p:ext uri="{BB962C8B-B14F-4D97-AF65-F5344CB8AC3E}">
        <p14:creationId xmlns:p14="http://schemas.microsoft.com/office/powerpoint/2010/main" val="102548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6E489-3D39-6621-41B6-4D4C8F9B839A}"/>
              </a:ext>
            </a:extLst>
          </p:cNvPr>
          <p:cNvSpPr/>
          <p:nvPr/>
        </p:nvSpPr>
        <p:spPr>
          <a:xfrm>
            <a:off x="-3276" y="-44302"/>
            <a:ext cx="9838638" cy="6900593"/>
          </a:xfrm>
          <a:prstGeom prst="rect">
            <a:avLst/>
          </a:prstGeom>
          <a:solidFill>
            <a:srgbClr val="FFB7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E28367B-EB2B-16CA-E5EC-2175E46D25F3}"/>
              </a:ext>
            </a:extLst>
          </p:cNvPr>
          <p:cNvSpPr txBox="1"/>
          <p:nvPr/>
        </p:nvSpPr>
        <p:spPr>
          <a:xfrm>
            <a:off x="384139" y="303169"/>
            <a:ext cx="5713238" cy="646331"/>
          </a:xfrm>
          <a:prstGeom prst="rect">
            <a:avLst/>
          </a:prstGeom>
          <a:noFill/>
        </p:spPr>
        <p:txBody>
          <a:bodyPr wrap="square" lIns="91440" tIns="45720" rIns="91440" bIns="45720" rtlCol="0" anchor="t">
            <a:spAutoFit/>
          </a:bodyPr>
          <a:lstStyle/>
          <a:p>
            <a:r>
              <a:rPr lang="en-US" sz="3600" b="1" i="1" dirty="0">
                <a:ea typeface="+mn-lt"/>
                <a:cs typeface="+mn-lt"/>
              </a:rPr>
              <a:t>Your Questions, Our Vision</a:t>
            </a:r>
            <a:endParaRPr lang="en-US" b="1" i="1" dirty="0"/>
          </a:p>
        </p:txBody>
      </p:sp>
      <p:sp>
        <p:nvSpPr>
          <p:cNvPr id="5" name="TextBox 4">
            <a:extLst>
              <a:ext uri="{FF2B5EF4-FFF2-40B4-BE49-F238E27FC236}">
                <a16:creationId xmlns:a16="http://schemas.microsoft.com/office/drawing/2014/main" id="{71012F84-FCB3-A9A1-03FF-8B11482EB738}"/>
              </a:ext>
            </a:extLst>
          </p:cNvPr>
          <p:cNvSpPr txBox="1"/>
          <p:nvPr/>
        </p:nvSpPr>
        <p:spPr>
          <a:xfrm>
            <a:off x="1934720" y="2310005"/>
            <a:ext cx="5539562" cy="2265300"/>
          </a:xfrm>
          <a:prstGeom prst="rect">
            <a:avLst/>
          </a:prstGeom>
          <a:noFill/>
        </p:spPr>
        <p:txBody>
          <a:bodyPr wrap="square" lIns="91440" tIns="45720" rIns="91440" bIns="45720" rtlCol="0" anchor="t">
            <a:spAutoFit/>
          </a:bodyPr>
          <a:lstStyle/>
          <a:p>
            <a:pPr algn="ctr">
              <a:lnSpc>
                <a:spcPct val="130000"/>
              </a:lnSpc>
            </a:pPr>
            <a:r>
              <a:rPr lang="en-IN" sz="7200" b="1" dirty="0">
                <a:latin typeface="Open Sans"/>
                <a:ea typeface="Open Sans"/>
                <a:cs typeface="Open Sans"/>
              </a:rPr>
              <a:t>Q/A</a:t>
            </a:r>
            <a:endParaRPr lang="en-US" dirty="0"/>
          </a:p>
          <a:p>
            <a:pPr algn="ctr">
              <a:lnSpc>
                <a:spcPct val="130000"/>
              </a:lnSpc>
            </a:pPr>
            <a:r>
              <a:rPr lang="en-IN" sz="4000" b="1" dirty="0">
                <a:latin typeface="Open Sans"/>
                <a:ea typeface="Open Sans"/>
                <a:cs typeface="Open Sans"/>
              </a:rPr>
              <a:t>  Thank You !</a:t>
            </a:r>
          </a:p>
        </p:txBody>
      </p:sp>
      <p:sp>
        <p:nvSpPr>
          <p:cNvPr id="37" name="Rectangle 36">
            <a:extLst>
              <a:ext uri="{FF2B5EF4-FFF2-40B4-BE49-F238E27FC236}">
                <a16:creationId xmlns:a16="http://schemas.microsoft.com/office/drawing/2014/main" id="{D74759BB-B426-B954-EEED-1C0028F1DB02}"/>
              </a:ext>
            </a:extLst>
          </p:cNvPr>
          <p:cNvSpPr/>
          <p:nvPr/>
        </p:nvSpPr>
        <p:spPr>
          <a:xfrm>
            <a:off x="9689603" y="-25400"/>
            <a:ext cx="2588122" cy="6924675"/>
          </a:xfrm>
          <a:prstGeom prst="rect">
            <a:avLst/>
          </a:prstGeom>
          <a:solidFill>
            <a:srgbClr val="1A7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036AD612-B195-E91A-6ED3-9B488A0F967B}"/>
              </a:ext>
            </a:extLst>
          </p:cNvPr>
          <p:cNvSpPr txBox="1"/>
          <p:nvPr/>
        </p:nvSpPr>
        <p:spPr>
          <a:xfrm rot="5400000">
            <a:off x="7454177" y="2662590"/>
            <a:ext cx="7050109" cy="1323439"/>
          </a:xfrm>
          <a:prstGeom prst="rect">
            <a:avLst/>
          </a:prstGeom>
          <a:noFill/>
        </p:spPr>
        <p:txBody>
          <a:bodyPr wrap="square" lIns="91440" tIns="45720" rIns="91440" bIns="45720" rtlCol="0" anchor="t">
            <a:spAutoFit/>
          </a:bodyPr>
          <a:lstStyle/>
          <a:p>
            <a:r>
              <a:rPr lang="en-US" sz="8000" dirty="0">
                <a:ln>
                  <a:solidFill>
                    <a:schemeClr val="bg1"/>
                  </a:solidFill>
                </a:ln>
                <a:noFill/>
                <a:latin typeface="Noto Sans SemiBold"/>
                <a:ea typeface="Noto Sans SemiBold"/>
                <a:cs typeface="Noto Sans SemiBold"/>
              </a:rPr>
              <a:t>W A L M A R T</a:t>
            </a:r>
            <a:endParaRPr lang="en-IN" sz="8000" dirty="0">
              <a:ln>
                <a:solidFill>
                  <a:prstClr val="white"/>
                </a:solidFill>
              </a:ln>
              <a:latin typeface="Noto Sans SemiBold"/>
              <a:ea typeface="Noto Sans SemiBold"/>
              <a:cs typeface="Noto Sans SemiBold"/>
            </a:endParaRPr>
          </a:p>
        </p:txBody>
      </p:sp>
    </p:spTree>
    <p:extLst>
      <p:ext uri="{BB962C8B-B14F-4D97-AF65-F5344CB8AC3E}">
        <p14:creationId xmlns:p14="http://schemas.microsoft.com/office/powerpoint/2010/main" val="9098404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2340</Words>
  <Application>Microsoft Office PowerPoint</Application>
  <PresentationFormat>Widescreen</PresentationFormat>
  <Paragraphs>286</Paragraphs>
  <Slides>16</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Noto Sans SemiBold</vt:lpstr>
      <vt:lpstr>等线</vt:lpstr>
      <vt:lpstr>Wingdings</vt:lpstr>
      <vt:lpstr>Open Sans</vt:lpstr>
      <vt:lpstr>Calibri Light</vt:lpstr>
      <vt:lpstr>Noto Sans</vt:lpstr>
      <vt:lpstr>Courier New</vt:lpstr>
      <vt:lpstr>Calibri</vt:lpstr>
      <vt:lpstr>Arial,Sans-Serif</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Sapling Creations</dc:creator>
  <cp:lastModifiedBy>Muskan Sekhri</cp:lastModifiedBy>
  <cp:revision>9</cp:revision>
  <dcterms:created xsi:type="dcterms:W3CDTF">2021-11-17T09:33:18Z</dcterms:created>
  <dcterms:modified xsi:type="dcterms:W3CDTF">2024-12-05T01:19:21Z</dcterms:modified>
</cp:coreProperties>
</file>